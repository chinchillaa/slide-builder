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手作業工数</c:v>
                </c:pt>
              </c:strCache>
            </c:strRef>
          </c:tx>
          <c:spPr>
            <a:solidFill>
              <a:srgbClr val="001F5F"/>
            </a:solidFill>
          </c:spPr>
          <c:dPt>
            <c:idx val="0"/>
            <c:spPr>
              <a:solidFill>
                <a:srgbClr val="8EB4E3"/>
              </a:solidFill>
            </c:spPr>
          </c:dPt>
          <c:dPt>
            <c:idx val="1"/>
            <c:spPr>
              <a:solidFill>
                <a:srgbClr val="8EB4E3"/>
              </a:solidFill>
            </c:spPr>
          </c:dPt>
          <c:dPt>
            <c:idx val="2"/>
            <c:spPr>
              <a:solidFill>
                <a:srgbClr val="8EB4E3"/>
              </a:solidFill>
            </c:spPr>
          </c:dPt>
          <c:dPt>
            <c:idx val="3"/>
            <c:spPr>
              <a:solidFill>
                <a:srgbClr val="001F5F"/>
              </a:solidFill>
            </c:spPr>
          </c:dPt>
          <c:cat>
            <c:strRef>
              <c:f>Sheet1!$A$2:$A$5</c:f>
              <c:strCache>
                <c:ptCount val="4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  <c:pt idx="3">
                  <c:v>2026年度(見込)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81</c:v>
                </c:pt>
                <c:pt idx="2">
                  <c:v>92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</c:v>
                </c:pt>
              </c:strCache>
            </c:strRef>
          </c:tx>
          <c:dPt>
            <c:idx val="0"/>
            <c:spPr>
              <a:solidFill>
                <a:srgbClr val="001F5F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76CC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EB4E3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EBFBE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売上集計</c:v>
                </c:pt>
                <c:pt idx="1">
                  <c:v>請求書発行</c:v>
                </c:pt>
                <c:pt idx="2">
                  <c:v>在庫照合</c:v>
                </c:pt>
                <c:pt idx="3">
                  <c:v>その他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24</c:v>
                </c:pt>
                <c:pt idx="2">
                  <c:v>16</c:v>
                </c:pt>
                <c:pt idx="3">
                  <c:v>20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recipient"/>
          <p:cNvSpPr txBox="1"/>
          <p:nvPr/>
        </p:nvSpPr>
        <p:spPr>
          <a:xfrm>
            <a:off x="635000" y="508000"/>
            <a:ext cx="76200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経営企画部 御中</a:t>
            </a:r>
          </a:p>
        </p:txBody>
      </p:sp>
      <p:sp>
        <p:nvSpPr>
          <p:cNvPr id="3" name="chrome:cover_title"/>
          <p:cNvSpPr txBox="1"/>
          <p:nvPr/>
        </p:nvSpPr>
        <p:spPr>
          <a:xfrm>
            <a:off x="635000" y="1778000"/>
            <a:ext cx="10922000" cy="13970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令和8年度 業務システム刷新に向けた</a:t>
            </a:r>
            <a:br/>
            <a:r>
              <a:rPr sz="28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現状調査および方針検討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635000" y="3276600"/>
            <a:ext cx="1092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ubtitle"/>
          <p:cNvSpPr txBox="1"/>
          <p:nvPr/>
        </p:nvSpPr>
        <p:spPr>
          <a:xfrm>
            <a:off x="635000" y="3378200"/>
            <a:ext cx="10922000" cy="457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2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検討報告書</a:t>
            </a:r>
          </a:p>
        </p:txBody>
      </p:sp>
      <p:sp>
        <p:nvSpPr>
          <p:cNvPr id="6" name="chrome:meta"/>
          <p:cNvSpPr txBox="1"/>
          <p:nvPr/>
        </p:nvSpPr>
        <p:spPr>
          <a:xfrm>
            <a:off x="635000" y="5080000"/>
            <a:ext cx="7620000" cy="762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2026年10月20日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目次</a:t>
            </a:r>
          </a:p>
        </p:txBody>
      </p:sp>
      <p:cxnSp>
        <p:nvCxnSpPr>
          <p:cNvPr id="3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5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00" y="11430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本検討の概要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7200" y="11430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4478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1.1. 背景・目的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7200" y="14478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17526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1.2. 実施スケジュール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7200" y="17526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0574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現状分析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7200" y="20574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3622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2.1. 課題と対応方針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7200" y="23622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6670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2.2. 定量分析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7200" y="26670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29718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今後の進め方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7200" y="29718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section_title"/>
          <p:cNvSpPr txBox="1"/>
          <p:nvPr/>
        </p:nvSpPr>
        <p:spPr>
          <a:xfrm>
            <a:off x="889000" y="2413000"/>
            <a:ext cx="10414000" cy="711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 本検討の概要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889000" y="3200400"/>
            <a:ext cx="1041400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ection_items"/>
          <p:cNvSpPr txBox="1"/>
          <p:nvPr/>
        </p:nvSpPr>
        <p:spPr>
          <a:xfrm>
            <a:off x="1143000" y="3327400"/>
            <a:ext cx="10160000" cy="279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1.1. 背景・目的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1.2. 実施スケジュール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本検討の概要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1.1. 背景・目的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現行システムの老朽化と業務の属人化を背景に、</a:t>
            </a:r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刷新方針の策定</a:t>
            </a:r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を目的として現状調査を実施した。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5448300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背景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879600"/>
            <a:ext cx="54483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11900" y="1498600"/>
            <a:ext cx="5448300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本検討の目的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11900" y="1879600"/>
            <a:ext cx="54483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row"/>
          <p:cNvSpPr/>
          <p:nvPr/>
        </p:nvSpPr>
        <p:spPr>
          <a:xfrm>
            <a:off x="5981700" y="3251200"/>
            <a:ext cx="228600" cy="1778000"/>
          </a:xfrm>
          <a:custGeom>
            <a:avLst/>
            <a:gdLst/>
            <a:ahLst/>
            <a:cxnLst/>
            <a:rect l="l" t="t" r="r" b="b"/>
            <a:pathLst>
              <a:path w="228600" h="1778000">
                <a:moveTo>
                  <a:pt x="0" y="0"/>
                </a:moveTo>
                <a:lnTo>
                  <a:pt x="228600" y="889000"/>
                </a:lnTo>
                <a:lnTo>
                  <a:pt x="0" y="1778000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800" y="1981200"/>
            <a:ext cx="54483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2057400"/>
            <a:ext cx="5295900" cy="4165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現行システムは稼働から15年が経過し、保守期限が2028年3月に到来する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業務手順が担当者ごとに異なり、引継ぎに時間がかかっている</a:t>
            </a:r>
          </a:p>
          <a:p>
            <a:pPr algn="l" marL="373380" indent="-177800">
              <a:spcBef>
                <a:spcPts val="420"/>
              </a:spcBef>
              <a:buFont typeface="Arial"/>
              <a:buChar char="–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月次処理の約4割が手作業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データが部署ごとに分散し、横断的な分析ができない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1900" y="1981200"/>
            <a:ext cx="5448300" cy="1016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刷新方針（To-Be）の策定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1900" y="3149600"/>
            <a:ext cx="5448300" cy="10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移行ロードマップの策定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1900" y="4318000"/>
            <a:ext cx="5448300" cy="10160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概算費用と体制の見積り</a:t>
            </a:r>
          </a:p>
        </p:txBody>
      </p:sp>
      <p:sp>
        <p:nvSpPr>
          <p:cNvPr id="18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出所：情報システム部 現行システム資産台帳（2026年4月時点）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本検討の概要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1.2. 実施スケジュール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2026年9月から12月までの4か月で、現状調査・方針策定・ロードマップ策定を行う。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3000" y="1498600"/>
            <a:ext cx="9347200" cy="254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3000" y="1498600"/>
            <a:ext cx="2298491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9月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1491" y="1498600"/>
            <a:ext cx="237510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10月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98600"/>
            <a:ext cx="2298491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11月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5091" y="1498600"/>
            <a:ext cx="237510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12月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3000" y="1752600"/>
            <a:ext cx="9347200" cy="2286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3000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9/1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2698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9013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9/14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327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9/21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642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9/28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7957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4272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0586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10/19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6901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3216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531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11/9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5845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11/16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2160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11/23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475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11/30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4790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1104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12/14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7419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12/21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3734" y="1752600"/>
            <a:ext cx="431800" cy="2286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12/28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11491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86600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85091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31800" y="2032000"/>
            <a:ext cx="1905000" cy="13123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現状調査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13000" y="3369733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31800" y="3395133"/>
            <a:ext cx="1905000" cy="13123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方針策定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13000" y="4732866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31800" y="4758266"/>
            <a:ext cx="1905000" cy="13123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ロードマップ策定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13000" y="6095999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entagon 40"/>
          <p:cNvSpPr/>
          <p:nvPr/>
        </p:nvSpPr>
        <p:spPr>
          <a:xfrm>
            <a:off x="2413000" y="2207683"/>
            <a:ext cx="2298491" cy="304800"/>
          </a:xfrm>
          <a:prstGeom prst="homePlat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業務ヒアリング</a:t>
            </a:r>
          </a:p>
        </p:txBody>
      </p:sp>
      <p:sp>
        <p:nvSpPr>
          <p:cNvPr id="42" name="Pentagon 41"/>
          <p:cNvSpPr/>
          <p:nvPr/>
        </p:nvSpPr>
        <p:spPr>
          <a:xfrm>
            <a:off x="3409013" y="2863850"/>
            <a:ext cx="2528340" cy="304800"/>
          </a:xfrm>
          <a:prstGeom prst="homePlat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システム棚卸</a:t>
            </a:r>
          </a:p>
        </p:txBody>
      </p:sp>
      <p:sp>
        <p:nvSpPr>
          <p:cNvPr id="43" name="Pentagon 42"/>
          <p:cNvSpPr/>
          <p:nvPr/>
        </p:nvSpPr>
        <p:spPr>
          <a:xfrm>
            <a:off x="5554272" y="3898900"/>
            <a:ext cx="3064655" cy="304800"/>
          </a:xfrm>
          <a:prstGeom prst="homePlat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To-Be業務・機能の検討</a:t>
            </a:r>
          </a:p>
        </p:txBody>
      </p:sp>
      <p:sp>
        <p:nvSpPr>
          <p:cNvPr id="44" name="Pentagon 43"/>
          <p:cNvSpPr/>
          <p:nvPr/>
        </p:nvSpPr>
        <p:spPr>
          <a:xfrm>
            <a:off x="8235845" y="5262033"/>
            <a:ext cx="3064655" cy="304800"/>
          </a:xfrm>
          <a:prstGeom prst="homePlat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移行計画・概算費用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33367" y="1981200"/>
            <a:ext cx="0" cy="40894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17367" y="60706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▲中間報告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223885" y="1981200"/>
            <a:ext cx="0" cy="40894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728200" y="60706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▲最終報告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nav"/>
          <p:cNvSpPr/>
          <p:nvPr/>
        </p:nvSpPr>
        <p:spPr>
          <a:xfrm>
            <a:off x="9601200" y="63500"/>
            <a:ext cx="1270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現状調査</a:t>
            </a:r>
          </a:p>
        </p:txBody>
      </p:sp>
      <p:sp>
        <p:nvSpPr>
          <p:cNvPr id="3" name="chrome:nav"/>
          <p:cNvSpPr/>
          <p:nvPr/>
        </p:nvSpPr>
        <p:spPr>
          <a:xfrm>
            <a:off x="10871200" y="63500"/>
            <a:ext cx="1270000" cy="304800"/>
          </a:xfrm>
          <a:prstGeom prst="rect">
            <a:avLst/>
          </a:prstGeom>
          <a:solidFill>
            <a:srgbClr val="D5E2FF"/>
          </a:solidFill>
          <a:ln w="19050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>
            <a:noAutofit/>
          </a:bodyPr>
          <a:lstStyle/>
          <a:p>
            <a:pPr algn="ctr"/>
            <a:r>
              <a:rPr sz="900" b="1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課題・方針</a:t>
            </a:r>
          </a:p>
        </p:txBody>
      </p:sp>
      <p:sp>
        <p:nvSpPr>
          <p:cNvPr id="4" name="chrome:breadcrumb"/>
          <p:cNvSpPr txBox="1"/>
          <p:nvPr/>
        </p:nvSpPr>
        <p:spPr>
          <a:xfrm>
            <a:off x="431800" y="63500"/>
            <a:ext cx="85852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現状分析</a:t>
            </a:r>
          </a:p>
        </p:txBody>
      </p:sp>
      <p:sp>
        <p:nvSpPr>
          <p:cNvPr id="5" name="chrome:title"/>
          <p:cNvSpPr txBox="1"/>
          <p:nvPr/>
        </p:nvSpPr>
        <p:spPr>
          <a:xfrm>
            <a:off x="431800" y="279400"/>
            <a:ext cx="85852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2.1. 課題と対応方針</a:t>
            </a:r>
          </a:p>
        </p:txBody>
      </p:sp>
      <p:cxnSp>
        <p:nvCxnSpPr>
          <p:cNvPr id="6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ヒアリング結果から主に3つの課題が見つかったため、それぞれに対応方針を定めた。</a:t>
            </a:r>
          </a:p>
        </p:txBody>
      </p:sp>
      <p:sp>
        <p:nvSpPr>
          <p:cNvPr id="8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9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1498600"/>
            <a:ext cx="1383974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分類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" y="1879600"/>
            <a:ext cx="1383974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91974" y="1498600"/>
            <a:ext cx="2491153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91974" y="1879600"/>
            <a:ext cx="2491154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59328" y="1498600"/>
            <a:ext cx="3598333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課題の内容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9328" y="1879600"/>
            <a:ext cx="3598333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38661" y="1498600"/>
            <a:ext cx="3321538" cy="330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対応方針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38661" y="1879600"/>
            <a:ext cx="3321539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31800" y="1981200"/>
            <a:ext cx="1383974" cy="28532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4910666"/>
            <a:ext cx="1383974" cy="1388533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91974" y="1981200"/>
            <a:ext cx="2491153" cy="1388533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【課題1】</a:t>
            </a:r>
            <a:br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手作業が多い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1974" y="3445933"/>
            <a:ext cx="2491153" cy="1388533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【課題2】</a:t>
            </a:r>
            <a:br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手順が属人化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1974" y="4910666"/>
            <a:ext cx="2491153" cy="1388533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【課題3】</a:t>
            </a:r>
            <a:br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保守期限が近い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9328" y="1981200"/>
            <a:ext cx="3598333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月次集計の約4割が手作業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転記ミスが月平均3件発生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9328" y="3445933"/>
            <a:ext cx="3598333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担当者ごとに手順が異なる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9328" y="4910666"/>
            <a:ext cx="3598333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2028年3月に保守が終了する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8661" y="1981200"/>
            <a:ext cx="3321538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集計処理をシステム化し、転記を廃止する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8661" y="3445933"/>
            <a:ext cx="3321538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標準手順書を整備し、To-Be業務に反映する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8661" y="4910666"/>
            <a:ext cx="3321538" cy="1388533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2027年度中にクラウド移行を完了する</a:t>
            </a:r>
          </a:p>
        </p:txBody>
      </p:sp>
      <p:sp>
        <p:nvSpPr>
          <p:cNvPr id="29" name="arrow"/>
          <p:cNvSpPr/>
          <p:nvPr/>
        </p:nvSpPr>
        <p:spPr>
          <a:xfrm>
            <a:off x="8133861" y="2032000"/>
            <a:ext cx="228600" cy="1286933"/>
          </a:xfrm>
          <a:custGeom>
            <a:avLst/>
            <a:gdLst/>
            <a:ahLst/>
            <a:cxnLst/>
            <a:rect l="l" t="t" r="r" b="b"/>
            <a:pathLst>
              <a:path w="228600" h="1286933">
                <a:moveTo>
                  <a:pt x="0" y="0"/>
                </a:moveTo>
                <a:lnTo>
                  <a:pt x="228600" y="643466"/>
                </a:lnTo>
                <a:lnTo>
                  <a:pt x="0" y="1286933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row"/>
          <p:cNvSpPr/>
          <p:nvPr/>
        </p:nvSpPr>
        <p:spPr>
          <a:xfrm>
            <a:off x="8133861" y="3496733"/>
            <a:ext cx="228600" cy="1286933"/>
          </a:xfrm>
          <a:custGeom>
            <a:avLst/>
            <a:gdLst/>
            <a:ahLst/>
            <a:cxnLst/>
            <a:rect l="l" t="t" r="r" b="b"/>
            <a:pathLst>
              <a:path w="228600" h="1286933">
                <a:moveTo>
                  <a:pt x="0" y="0"/>
                </a:moveTo>
                <a:lnTo>
                  <a:pt x="228600" y="643467"/>
                </a:lnTo>
                <a:lnTo>
                  <a:pt x="0" y="1286933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row"/>
          <p:cNvSpPr/>
          <p:nvPr/>
        </p:nvSpPr>
        <p:spPr>
          <a:xfrm>
            <a:off x="8133861" y="4961466"/>
            <a:ext cx="228600" cy="1286933"/>
          </a:xfrm>
          <a:custGeom>
            <a:avLst/>
            <a:gdLst/>
            <a:ahLst/>
            <a:cxnLst/>
            <a:rect l="l" t="t" r="r" b="b"/>
            <a:pathLst>
              <a:path w="228600" h="1286933">
                <a:moveTo>
                  <a:pt x="0" y="0"/>
                </a:moveTo>
                <a:lnTo>
                  <a:pt x="228600" y="643467"/>
                </a:lnTo>
                <a:lnTo>
                  <a:pt x="0" y="1286933"/>
                </a:lnTo>
                <a:close/>
              </a:path>
            </a:pathLst>
          </a:cu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現状分析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2.1. 課題と対応方針（詳細）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対象業務の一覧と、月あたり工数・システム化の優先度は以下のとおり。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396" cy="2052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51057"/>
                <a:gridCol w="2604229"/>
                <a:gridCol w="5208459"/>
                <a:gridCol w="1562537"/>
                <a:gridCol w="1302114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No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業務名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現状の課題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月間工数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優先度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売上集計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Excelへの手転記</a:t>
                      </a:r>
                    </a:p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締め日に作業が集中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40h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請求書発行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発行漏れのチェックを目視で実施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24h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在庫照合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倉庫と台帳の差異の調査に時間がかかる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16h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経費精算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紙の領収書の回付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12h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マスタ管理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152400" indent="-152400">
                        <a:buFont typeface="Arial"/>
                        <a:buChar char="•"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部署ごとにマスタが重複している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8h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低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現状分析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2.2. 定量分析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手作業工数は3年で</a:t>
            </a:r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1.4倍</a:t>
            </a:r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に増えており、売上集計が全体の約4割を占める。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6316869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手作業工数の推移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6669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（単位：h/月）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1800" y="2006600"/>
          <a:ext cx="6316869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01069" y="1498600"/>
            <a:ext cx="485913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業務別の内訳（2026年度）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01069" y="2006600"/>
          <a:ext cx="4859130" cy="4292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出所：各部署の業務日報から集計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今後の進め方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今後の進め方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次年度は3つのステップで進め、2027年度末までに新システムへ移行する。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サンプル部署</a:t>
            </a:r>
          </a:p>
        </p:txBody>
      </p:sp>
      <p:sp>
        <p:nvSpPr>
          <p:cNvPr id="8" name="Pentagon 7"/>
          <p:cNvSpPr/>
          <p:nvPr/>
        </p:nvSpPr>
        <p:spPr>
          <a:xfrm>
            <a:off x="431800" y="1498600"/>
            <a:ext cx="3784600" cy="508000"/>
          </a:xfrm>
          <a:prstGeom prst="homePlat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Step1：要件定義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2108200"/>
            <a:ext cx="3708400" cy="2565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To-Be業務を確定する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機能・非機能要件を定義する</a:t>
            </a:r>
          </a:p>
        </p:txBody>
      </p:sp>
      <p:sp>
        <p:nvSpPr>
          <p:cNvPr id="10" name="Chevron 9"/>
          <p:cNvSpPr/>
          <p:nvPr/>
        </p:nvSpPr>
        <p:spPr>
          <a:xfrm>
            <a:off x="4241800" y="1498600"/>
            <a:ext cx="3784600" cy="508000"/>
          </a:xfrm>
          <a:prstGeom prst="chevron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" bIns="254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Step2：設計・開発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1800" y="2108200"/>
            <a:ext cx="3708400" cy="25654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パッケージを選定する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アドオン開発は最小限にする</a:t>
            </a:r>
          </a:p>
        </p:txBody>
      </p:sp>
      <p:sp>
        <p:nvSpPr>
          <p:cNvPr id="12" name="Chevron 11"/>
          <p:cNvSpPr/>
          <p:nvPr/>
        </p:nvSpPr>
        <p:spPr>
          <a:xfrm>
            <a:off x="8051800" y="1498600"/>
            <a:ext cx="3708400" cy="508000"/>
          </a:xfrm>
          <a:prstGeom prst="chevron">
            <a:avLst/>
          </a:prstGeom>
          <a:solidFill>
            <a:srgbClr val="BEB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" bIns="254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Step3：移行・展開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1800" y="2108200"/>
            <a:ext cx="3708400" cy="25654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データを移行する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部署ごとに順次展開する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" y="4826000"/>
            <a:ext cx="3674533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4902200"/>
            <a:ext cx="3522133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手作業工数の削減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5232400"/>
            <a:ext cx="3522133" cy="584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285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842000"/>
            <a:ext cx="3522133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h/月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8733" y="4826000"/>
            <a:ext cx="3674533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933" y="4902200"/>
            <a:ext cx="3522133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転記ミス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933" y="5232400"/>
            <a:ext cx="3522133" cy="584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285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933" y="5842000"/>
            <a:ext cx="3522133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件/月 を目標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5666" y="4826000"/>
            <a:ext cx="3674533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1866" y="4902200"/>
            <a:ext cx="3522133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移行完了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6" y="5232400"/>
            <a:ext cx="3522133" cy="584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285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2028.3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6" y="5842000"/>
            <a:ext cx="3522133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保守期限まで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