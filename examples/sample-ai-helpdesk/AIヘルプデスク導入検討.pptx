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定型</c:v>
                </c:pt>
              </c:strCache>
            </c:strRef>
          </c:tx>
          <c:spPr>
            <a:solidFill>
              <a:srgbClr val="001F5F"/>
            </a:solidFill>
          </c:spPr>
          <c:cat>
            <c:strRef>
              <c:f>Sheet1!$A$2:$A$7</c:f>
              <c:strCache>
                <c:ptCount val="6"/>
                <c:pt idx="0">
                  <c:v>2024上</c:v>
                </c:pt>
                <c:pt idx="1">
                  <c:v>2024下</c:v>
                </c:pt>
                <c:pt idx="2">
                  <c:v>2025上</c:v>
                </c:pt>
                <c:pt idx="3">
                  <c:v>2025下</c:v>
                </c:pt>
                <c:pt idx="4">
                  <c:v>2026上</c:v>
                </c:pt>
                <c:pt idx="5">
                  <c:v>2026下
（見込）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1800</c:v>
                </c:pt>
                <c:pt idx="1">
                  <c:v>1950</c:v>
                </c:pt>
                <c:pt idx="2">
                  <c:v>2130</c:v>
                </c:pt>
                <c:pt idx="3">
                  <c:v>2280</c:v>
                </c:pt>
                <c:pt idx="4">
                  <c:v>2460</c:v>
                </c:pt>
                <c:pt idx="5">
                  <c:v>2580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非定型</c:v>
                </c:pt>
              </c:strCache>
            </c:strRef>
          </c:tx>
          <c:spPr>
            <a:solidFill>
              <a:srgbClr val="276CCC"/>
            </a:solidFill>
          </c:spPr>
          <c:cat>
            <c:strRef>
              <c:f>Sheet1!$A$2:$A$7</c:f>
              <c:strCache>
                <c:ptCount val="6"/>
                <c:pt idx="0">
                  <c:v>2024上</c:v>
                </c:pt>
                <c:pt idx="1">
                  <c:v>2024下</c:v>
                </c:pt>
                <c:pt idx="2">
                  <c:v>2025上</c:v>
                </c:pt>
                <c:pt idx="3">
                  <c:v>2025下</c:v>
                </c:pt>
                <c:pt idx="4">
                  <c:v>2026上</c:v>
                </c:pt>
                <c:pt idx="5">
                  <c:v>2026下
（見込）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1200</c:v>
                </c:pt>
                <c:pt idx="1">
                  <c:v>1300</c:v>
                </c:pt>
                <c:pt idx="2">
                  <c:v>1420</c:v>
                </c:pt>
                <c:pt idx="3">
                  <c:v>1520</c:v>
                </c:pt>
                <c:pt idx="4">
                  <c:v>1640</c:v>
                </c:pt>
                <c:pt idx="5">
                  <c:v>1720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E7F7E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rgbClr val="D8D9D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000000"/>
          </a:solidFill>
          <a:latin typeface="Meiryo UI"/>
          <a:ea typeface="Meiryo UI"/>
          <a:cs typeface="Meiryo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累計投資</c:v>
                </c:pt>
              </c:strCache>
            </c:strRef>
          </c:tx>
          <c:spPr>
            <a:ln w="28575">
              <a:solidFill>
                <a:srgbClr val="001F5F"/>
              </a:solidFill>
            </a:ln>
          </c:spPr>
          <c:marker>
            <c:spPr>
              <a:solidFill>
                <a:srgbClr val="001F5F"/>
              </a:solidFill>
              <a:ln>
                <a:solidFill>
                  <a:srgbClr val="001F5F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2027年</c:v>
                </c:pt>
                <c:pt idx="1">
                  <c:v>2028年</c:v>
                </c:pt>
                <c:pt idx="2">
                  <c:v>2029年</c:v>
                </c:pt>
                <c:pt idx="3">
                  <c:v>2030年</c:v>
                </c:pt>
                <c:pt idx="4">
                  <c:v>2031年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1140</c:v>
                </c:pt>
                <c:pt idx="1">
                  <c:v>1620</c:v>
                </c:pt>
                <c:pt idx="2">
                  <c:v>2100</c:v>
                </c:pt>
                <c:pt idx="3">
                  <c:v>2580</c:v>
                </c:pt>
                <c:pt idx="4">
                  <c:v>3060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累計効果</c:v>
                </c:pt>
              </c:strCache>
            </c:strRef>
          </c:tx>
          <c:spPr>
            <a:ln w="28575">
              <a:solidFill>
                <a:srgbClr val="276CCC"/>
              </a:solidFill>
            </a:ln>
          </c:spPr>
          <c:marker>
            <c:spPr>
              <a:solidFill>
                <a:srgbClr val="276CCC"/>
              </a:solidFill>
              <a:ln>
                <a:solidFill>
                  <a:srgbClr val="276CCC"/>
                </a:solidFill>
              </a:ln>
            </c:spPr>
          </c:marker>
          <c:cat>
            <c:strRef>
              <c:f>Sheet1!$A$2:$A$6</c:f>
              <c:strCache>
                <c:ptCount val="5"/>
                <c:pt idx="0">
                  <c:v>2027年</c:v>
                </c:pt>
                <c:pt idx="1">
                  <c:v>2028年</c:v>
                </c:pt>
                <c:pt idx="2">
                  <c:v>2029年</c:v>
                </c:pt>
                <c:pt idx="3">
                  <c:v>2030年</c:v>
                </c:pt>
                <c:pt idx="4">
                  <c:v>2031年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850</c:v>
                </c:pt>
                <c:pt idx="1">
                  <c:v>2550</c:v>
                </c:pt>
                <c:pt idx="2">
                  <c:v>4250</c:v>
                </c:pt>
                <c:pt idx="3">
                  <c:v>5950</c:v>
                </c:pt>
                <c:pt idx="4">
                  <c:v>7650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E7F7E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D8D9D8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000000"/>
          </a:solidFill>
          <a:latin typeface="Meiryo UI"/>
          <a:ea typeface="Meiryo UI"/>
          <a:cs typeface="Meiryo U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recipient"/>
          <p:cNvSpPr txBox="1"/>
          <p:nvPr/>
        </p:nvSpPr>
        <p:spPr>
          <a:xfrm>
            <a:off x="635000" y="508000"/>
            <a:ext cx="7620000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情報システム部長 殿</a:t>
            </a:r>
          </a:p>
        </p:txBody>
      </p:sp>
      <p:sp>
        <p:nvSpPr>
          <p:cNvPr id="3" name="chrome:cover_title"/>
          <p:cNvSpPr txBox="1"/>
          <p:nvPr/>
        </p:nvSpPr>
        <p:spPr>
          <a:xfrm>
            <a:off x="635000" y="1778000"/>
            <a:ext cx="10922000" cy="139700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社内ヘルプデスクへの</a:t>
            </a:r>
            <a:br/>
            <a:r>
              <a:rPr sz="28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生成AIチャットボット導入検討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635000" y="3276600"/>
            <a:ext cx="1092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subtitle"/>
          <p:cNvSpPr txBox="1"/>
          <p:nvPr/>
        </p:nvSpPr>
        <p:spPr>
          <a:xfrm>
            <a:off x="635000" y="3378200"/>
            <a:ext cx="10922000" cy="457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20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PoC 着手のご判断について</a:t>
            </a:r>
          </a:p>
        </p:txBody>
      </p:sp>
      <p:sp>
        <p:nvSpPr>
          <p:cNvPr id="6" name="chrome:meta"/>
          <p:cNvSpPr txBox="1"/>
          <p:nvPr/>
        </p:nvSpPr>
        <p:spPr>
          <a:xfrm>
            <a:off x="635000" y="5080000"/>
            <a:ext cx="7620000" cy="762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2026年10月</a:t>
            </a:r>
          </a:p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情報システム部 企画グループ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目次</a:t>
            </a:r>
          </a:p>
        </p:txBody>
      </p:sp>
      <p:cxnSp>
        <p:nvCxnSpPr>
          <p:cNvPr id="3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</a:t>
            </a:r>
          </a:p>
        </p:txBody>
      </p:sp>
      <p:sp>
        <p:nvSpPr>
          <p:cNvPr id="5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©2026 情報システム部（サンプル）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9800" y="1143000"/>
            <a:ext cx="96774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エグゼクティブサマリー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7200" y="1143000"/>
            <a:ext cx="889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4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9800" y="1447800"/>
            <a:ext cx="96774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1. 現状と課題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17200" y="1447800"/>
            <a:ext cx="889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4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1752600"/>
            <a:ext cx="9398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1.1 問い合わせ件数の推移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17200" y="1752600"/>
            <a:ext cx="889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200" y="2057400"/>
            <a:ext cx="9398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1.2 対応業務の工程別の課題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17200" y="2057400"/>
            <a:ext cx="889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9800" y="2362200"/>
            <a:ext cx="96774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 導入方針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17200" y="2362200"/>
            <a:ext cx="889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4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9200" y="2667000"/>
            <a:ext cx="9398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2.1 導入方式の比較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17200" y="2667000"/>
            <a:ext cx="889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9200" y="2971800"/>
            <a:ext cx="9398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2.2 システム構成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17200" y="2971800"/>
            <a:ext cx="889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9200" y="3276600"/>
            <a:ext cx="9398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2.3 導入効果の試算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17200" y="3276600"/>
            <a:ext cx="889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9200" y="3581400"/>
            <a:ext cx="9398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2.4 投資額と試算の前提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17200" y="3581400"/>
            <a:ext cx="889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9800" y="3886200"/>
            <a:ext cx="96774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3. 進め方とご判断事項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17200" y="3886200"/>
            <a:ext cx="889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4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9200" y="4191000"/>
            <a:ext cx="9398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3.1 導入スケジュール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17200" y="4191000"/>
            <a:ext cx="889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9200" y="4495800"/>
            <a:ext cx="9398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3.2 リスクと対策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17200" y="4495800"/>
            <a:ext cx="889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9200" y="4800600"/>
            <a:ext cx="9398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3.3 ご判断いただきたい事項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17200" y="4800600"/>
            <a:ext cx="889000" cy="3048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エグゼクティブサマリー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エグゼクティブサマリー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問い合わせの6割は定型で自動化の余地が大きい。SaaS型で段階導入するため、PoC着手と予算320万円の承認をお願いしたい。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©2026 情報システム部（サンプル）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498600"/>
            <a:ext cx="457200" cy="892175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1498600"/>
            <a:ext cx="10744200" cy="892175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現状：問い合わせは月約4,200件、2年で1.4倍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増加分を担当者の残業で吸収しており、回答までの待ち時間も延びている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16000" y="2428875"/>
            <a:ext cx="10744200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431800" y="2466975"/>
            <a:ext cx="457200" cy="892175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6000" y="2466975"/>
            <a:ext cx="10744200" cy="892175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課題：一次回答と記録が工数の58%を占める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パスワード再設定・申請方法など、同じ質問への回答に人手を使っている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16000" y="3397250"/>
            <a:ext cx="10744200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31800" y="3435350"/>
            <a:ext cx="457200" cy="892175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000" y="3435350"/>
            <a:ext cx="10744200" cy="892175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方針：SaaS型チャットボットを段階導入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Teamsを入口にして社内FAQとマニュアルを検索し、未解決分だけを担当者へ引き継ぐ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6000" y="4365625"/>
            <a:ext cx="10744200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31800" y="4403725"/>
            <a:ext cx="457200" cy="892175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6000" y="4403725"/>
            <a:ext cx="10744200" cy="892175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効果：年間約1,700万円の工数削減</a:t>
            </a:r>
          </a:p>
          <a:p>
            <a:pPr algn="l"/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自動解決率45%を前提に試算。5年間の総投資約3,100万円は2年目に回収できる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16000" y="5334000"/>
            <a:ext cx="10744200" cy="0"/>
          </a:xfrm>
          <a:prstGeom prst="line">
            <a:avLst/>
          </a:prstGeom>
          <a:ln w="9525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431800" y="5473700"/>
            <a:ext cx="1143000" cy="8255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依頼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574800" y="5473700"/>
            <a:ext cx="10185400" cy="825500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50800" bIns="50800">
            <a:noAutofit/>
          </a:bodyPr>
          <a:lstStyle/>
          <a:p>
            <a:pPr algn="l"/>
            <a:r>
              <a:rPr sz="16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2027年1月の</a:t>
            </a:r>
            <a:r>
              <a:rPr sz="16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PoC着手</a:t>
            </a:r>
            <a:r>
              <a:rPr sz="16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と</a:t>
            </a:r>
            <a:r>
              <a:rPr sz="16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予算320万円</a:t>
            </a:r>
            <a:r>
              <a:rPr sz="16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をご承認いただきたい</a:t>
            </a:r>
          </a:p>
        </p:txBody>
      </p:sp>
      <p:sp>
        <p:nvSpPr>
          <p:cNvPr id="22" name="chrome:source"/>
          <p:cNvSpPr txBox="1"/>
          <p:nvPr/>
        </p:nvSpPr>
        <p:spPr>
          <a:xfrm>
            <a:off x="431800" y="6311900"/>
            <a:ext cx="90424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出所：架空データ（サンプル）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section_title"/>
          <p:cNvSpPr txBox="1"/>
          <p:nvPr/>
        </p:nvSpPr>
        <p:spPr>
          <a:xfrm>
            <a:off x="889000" y="2413000"/>
            <a:ext cx="10414000" cy="71120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1. 現状と課題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889000" y="3200400"/>
            <a:ext cx="10414000" cy="0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section_items"/>
          <p:cNvSpPr txBox="1"/>
          <p:nvPr/>
        </p:nvSpPr>
        <p:spPr>
          <a:xfrm>
            <a:off x="1143000" y="3327400"/>
            <a:ext cx="10160000" cy="2794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1.1 問い合わせ件数の推移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1.2 対応業務の工程別の課題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D5E2FF"/>
                </a:solidFill>
                <a:latin typeface="Meiryo UI"/>
                <a:ea typeface="Meiryo UI"/>
                <a:cs typeface="Meiryo UI"/>
              </a:rPr>
              <a:t>3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D5E2FF"/>
                </a:solidFill>
                <a:latin typeface="Meiryo UI"/>
                <a:ea typeface="Meiryo UI"/>
                <a:cs typeface="Meiryo UI"/>
              </a:rPr>
              <a:t>©2026 情報システム部（サンプル）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1. 現状と課題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1.1 問い合わせ件数の推移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問い合わせは2年で約1.4倍に増え、うち定型の質問が約6割を占め続けている。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4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©2026 情報システム部（サンプル）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800" y="1498600"/>
            <a:ext cx="6866128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月平均の問い合わせ件数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65928" y="1778000"/>
            <a:ext cx="2032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（単位：件/月）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31800" y="2006600"/>
          <a:ext cx="6866128" cy="4292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ectangle 10"/>
          <p:cNvSpPr/>
          <p:nvPr/>
        </p:nvSpPr>
        <p:spPr>
          <a:xfrm>
            <a:off x="7551928" y="1498600"/>
            <a:ext cx="4208272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示唆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51928" y="1879600"/>
            <a:ext cx="4208272" cy="4419600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件数は2年で約1.4倍に増加</a:t>
            </a:r>
          </a:p>
          <a:p>
            <a:pPr algn="l" marL="177800" indent="-177800">
              <a:spcBef>
                <a:spcPts val="42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定型の比率は約60%で変わらない</a:t>
            </a:r>
          </a:p>
          <a:p>
            <a:pPr algn="l" marL="177800" indent="-177800">
              <a:spcBef>
                <a:spcPts val="42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人員は据え置きで、1人あたりの負荷が増加</a:t>
            </a:r>
          </a:p>
          <a:p>
            <a:pPr algn="l" marL="177800" indent="-177800">
              <a:spcBef>
                <a:spcPts val="42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定型の質問は自動化で減らせる余地が大きい</a:t>
            </a:r>
          </a:p>
        </p:txBody>
      </p:sp>
      <p:sp>
        <p:nvSpPr>
          <p:cNvPr id="13" name="chrome:source"/>
          <p:cNvSpPr txBox="1"/>
          <p:nvPr/>
        </p:nvSpPr>
        <p:spPr>
          <a:xfrm>
            <a:off x="431800" y="6311900"/>
            <a:ext cx="90424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出所：架空データ（サンプル）。年度の上期・下期ごとの月平均。2026年度下期は見込み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1. 現状と課題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1.2 対応業務の工程別の課題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すべての工程が人手に依存し、一次回答と記録だけで工数の約6割を占めている。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5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©2026 情報システム部（サンプル）</a:t>
            </a:r>
          </a:p>
        </p:txBody>
      </p:sp>
      <p:sp>
        <p:nvSpPr>
          <p:cNvPr id="8" name="Pentagon 7"/>
          <p:cNvSpPr/>
          <p:nvPr/>
        </p:nvSpPr>
        <p:spPr>
          <a:xfrm>
            <a:off x="1905000" y="1498600"/>
            <a:ext cx="2059939" cy="431800"/>
          </a:xfrm>
          <a:prstGeom prst="homePlate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12700" bIns="127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受付</a:t>
            </a:r>
          </a:p>
        </p:txBody>
      </p:sp>
      <p:sp>
        <p:nvSpPr>
          <p:cNvPr id="9" name="Chevron 8"/>
          <p:cNvSpPr/>
          <p:nvPr/>
        </p:nvSpPr>
        <p:spPr>
          <a:xfrm>
            <a:off x="3886200" y="1498600"/>
            <a:ext cx="2059939" cy="431800"/>
          </a:xfrm>
          <a:prstGeom prst="chevron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1129" rIns="151129" tIns="12700" bIns="127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切り分け</a:t>
            </a:r>
          </a:p>
        </p:txBody>
      </p:sp>
      <p:sp>
        <p:nvSpPr>
          <p:cNvPr id="10" name="Chevron 9"/>
          <p:cNvSpPr/>
          <p:nvPr/>
        </p:nvSpPr>
        <p:spPr>
          <a:xfrm>
            <a:off x="5867400" y="1498600"/>
            <a:ext cx="2059939" cy="431800"/>
          </a:xfrm>
          <a:prstGeom prst="chevron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1129" rIns="151129" tIns="12700" bIns="127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一次回答</a:t>
            </a:r>
          </a:p>
        </p:txBody>
      </p:sp>
      <p:sp>
        <p:nvSpPr>
          <p:cNvPr id="11" name="Chevron 10"/>
          <p:cNvSpPr/>
          <p:nvPr/>
        </p:nvSpPr>
        <p:spPr>
          <a:xfrm>
            <a:off x="7848600" y="1498600"/>
            <a:ext cx="2059939" cy="431800"/>
          </a:xfrm>
          <a:prstGeom prst="chevron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1129" rIns="151129" tIns="12700" bIns="127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エスカレーション</a:t>
            </a:r>
          </a:p>
        </p:txBody>
      </p:sp>
      <p:sp>
        <p:nvSpPr>
          <p:cNvPr id="12" name="Chevron 11"/>
          <p:cNvSpPr/>
          <p:nvPr/>
        </p:nvSpPr>
        <p:spPr>
          <a:xfrm>
            <a:off x="9829800" y="1498600"/>
            <a:ext cx="1930400" cy="431800"/>
          </a:xfrm>
          <a:prstGeom prst="chevron">
            <a:avLst>
              <a:gd name="adj" fmla="val 30000"/>
            </a:avLst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1129" rIns="151129" tIns="12700" bIns="127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記録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800" y="2032000"/>
            <a:ext cx="1397000" cy="13462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現状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05000" y="2032000"/>
            <a:ext cx="1930400" cy="13462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電話・メール等で個別に受付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86200" y="2032000"/>
            <a:ext cx="1930400" cy="13462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担当者が内容を読んで判断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67400" y="2032000"/>
            <a:ext cx="1930400" cy="13462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FAQを探して手作業で回答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48600" y="2032000"/>
            <a:ext cx="1930400" cy="13462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専門チームへ転送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29800" y="2032000"/>
            <a:ext cx="1930400" cy="13462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対応履歴を手入力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800" y="3429000"/>
            <a:ext cx="1397000" cy="13462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工数比率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05000" y="3429000"/>
            <a:ext cx="1930400" cy="13462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3429000"/>
            <a:ext cx="1930400" cy="13462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67400" y="3429000"/>
            <a:ext cx="1930400" cy="13462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40%（最大）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48600" y="3429000"/>
            <a:ext cx="1930400" cy="13462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9800" y="3429000"/>
            <a:ext cx="1930400" cy="13462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18%（2番目）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1800" y="4826000"/>
            <a:ext cx="1397000" cy="13462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課題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05000" y="4826000"/>
            <a:ext cx="1930400" cy="13462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窓口が分散し全体を追えない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886200" y="4826000"/>
            <a:ext cx="1930400" cy="13462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担当者により判断がばらつく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67400" y="4826000"/>
            <a:ext cx="1930400" cy="13462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同じ質問への回答を繰り返している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48600" y="4826000"/>
            <a:ext cx="1930400" cy="13462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転送時に経緯の説明が必要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829800" y="4826000"/>
            <a:ext cx="1930400" cy="13462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入力が後回しになり、ナレッジが残らない</a:t>
            </a:r>
          </a:p>
        </p:txBody>
      </p:sp>
      <p:sp>
        <p:nvSpPr>
          <p:cNvPr id="31" name="chrome:source"/>
          <p:cNvSpPr txBox="1"/>
          <p:nvPr/>
        </p:nvSpPr>
        <p:spPr>
          <a:xfrm>
            <a:off x="431800" y="6311900"/>
            <a:ext cx="90424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出所：架空データ（サンプル）。工数比率は2026年度上期の作業記録より（残り10%はその他）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section_title"/>
          <p:cNvSpPr txBox="1"/>
          <p:nvPr/>
        </p:nvSpPr>
        <p:spPr>
          <a:xfrm>
            <a:off x="889000" y="2413000"/>
            <a:ext cx="10414000" cy="71120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2. 導入方針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889000" y="3200400"/>
            <a:ext cx="10414000" cy="0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section_items"/>
          <p:cNvSpPr txBox="1"/>
          <p:nvPr/>
        </p:nvSpPr>
        <p:spPr>
          <a:xfrm>
            <a:off x="1143000" y="3327400"/>
            <a:ext cx="10160000" cy="2794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2.1 導入方式の比較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2.2 システム構成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2.3 導入効果の試算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2.4 投資額と試算の前提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D5E2FF"/>
                </a:solidFill>
                <a:latin typeface="Meiryo UI"/>
                <a:ea typeface="Meiryo UI"/>
                <a:cs typeface="Meiryo UI"/>
              </a:rPr>
              <a:t>6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D5E2FF"/>
                </a:solidFill>
                <a:latin typeface="Meiryo UI"/>
                <a:ea typeface="Meiryo UI"/>
                <a:cs typeface="Meiryo UI"/>
              </a:rPr>
              <a:t>©2026 情報システム部（サンプル）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 導入方針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2.1 導入方式の比較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SaaS型は自社開発より初期費用を抑えつつ約3か月で導入でき、保守負担も小さいため、4案のうち最も適している。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7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©2026 情報システム部（サンプル）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1800" y="1498600"/>
          <a:ext cx="11328398" cy="385233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14246"/>
                <a:gridCol w="2178538"/>
                <a:gridCol w="2178538"/>
                <a:gridCol w="2178538"/>
                <a:gridCol w="2178538"/>
              </a:tblGrid>
              <a:tr h="64205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評価項目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現行体制＋FAQ拡充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自社開発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SaaS型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276C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外部委託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6420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初期費用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◎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100万円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E7F7E"/>
                          </a:solidFill>
                          <a:latin typeface="Meiryo UI"/>
                          <a:ea typeface="Meiryo UI"/>
                          <a:cs typeface="Meiryo UI"/>
                        </a:rPr>
                        <a:t>△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4,500万円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○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900万円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◎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0円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0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月額費用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◎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0円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○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20万円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○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40万円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×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250万円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0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導入期間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◎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1か月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×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12か月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◎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3か月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○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2か月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0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自動化の効果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×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小さい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◎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大きい（個別最適）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○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大きい（汎用）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7E7F7E"/>
                          </a:solidFill>
                          <a:latin typeface="Meiryo UI"/>
                          <a:ea typeface="Meiryo UI"/>
                          <a:cs typeface="Meiryo UI"/>
                        </a:rPr>
                        <a:t>△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委託範囲のみ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05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保守負担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1F2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○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FAQの更新のみ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×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専任が必要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◎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ベンダーが対応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○</a:t>
                      </a:r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 契約管理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31800" y="5528733"/>
            <a:ext cx="1143000" cy="770466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推奨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74800" y="5528733"/>
            <a:ext cx="10185400" cy="770466"/>
          </a:xfrm>
          <a:prstGeom prst="rect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50800" bIns="50800">
            <a:noAutofit/>
          </a:bodyPr>
          <a:lstStyle/>
          <a:p>
            <a:pPr algn="l"/>
            <a:r>
              <a:rPr sz="16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SaaS型を推奨（初期費用は自社開発の約1/5、導入期間は1/4）</a:t>
            </a:r>
          </a:p>
        </p:txBody>
      </p:sp>
      <p:sp>
        <p:nvSpPr>
          <p:cNvPr id="11" name="chrome:source"/>
          <p:cNvSpPr txBox="1"/>
          <p:nvPr/>
        </p:nvSpPr>
        <p:spPr>
          <a:xfrm>
            <a:off x="431800" y="6311900"/>
            <a:ext cx="90424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出所：架空データ（サンプル）。費用は税抜の概算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 導入方針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2.2 システム構成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既存のTeamsを入口にし、解決しない質問だけを担当者に引き継ぐため、社員の使い方を変えずに導入できる。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8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©2026 情報システム部（サンプル）</a:t>
            </a:r>
          </a:p>
        </p:txBody>
      </p:sp>
      <p:sp>
        <p:nvSpPr>
          <p:cNvPr id="8" name="zone"/>
          <p:cNvSpPr/>
          <p:nvPr/>
        </p:nvSpPr>
        <p:spPr>
          <a:xfrm>
            <a:off x="431800" y="1498600"/>
            <a:ext cx="4015153" cy="3852333"/>
          </a:xfrm>
          <a:prstGeom prst="rect">
            <a:avLst/>
          </a:prstGeom>
          <a:solidFill>
            <a:srgbClr val="F1F2F1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3400" y="1574800"/>
            <a:ext cx="482600" cy="254000"/>
          </a:xfrm>
          <a:prstGeom prst="round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社内</a:t>
            </a:r>
          </a:p>
        </p:txBody>
      </p:sp>
      <p:grpSp>
        <p:nvGrpSpPr>
          <p:cNvPr id="10" name="icon:pc"/>
          <p:cNvGrpSpPr/>
          <p:nvPr/>
        </p:nvGrpSpPr>
        <p:grpSpPr>
          <a:xfrm>
            <a:off x="2083776" y="2088895"/>
            <a:ext cx="711200" cy="597409"/>
            <a:chOff x="2083776" y="2088895"/>
            <a:chExt cx="711200" cy="597409"/>
          </a:xfrm>
        </p:grpSpPr>
        <p:sp>
          <p:nvSpPr>
            <p:cNvPr id="11" name="Rectangle 10"/>
            <p:cNvSpPr/>
            <p:nvPr/>
          </p:nvSpPr>
          <p:spPr>
            <a:xfrm>
              <a:off x="2083776" y="2088895"/>
              <a:ext cx="711200" cy="440944"/>
            </a:xfrm>
            <a:prstGeom prst="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133560" y="2131568"/>
              <a:ext cx="611632" cy="34137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382480" y="2529840"/>
              <a:ext cx="113792" cy="99568"/>
            </a:xfrm>
            <a:prstGeom prst="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254464" y="2629408"/>
              <a:ext cx="369824" cy="56896"/>
            </a:xfrm>
            <a:prstGeom prst="rect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1740876" y="2781300"/>
            <a:ext cx="1397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社員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0876" y="3035300"/>
            <a:ext cx="1397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Teamsで質問</a:t>
            </a:r>
          </a:p>
        </p:txBody>
      </p:sp>
      <p:grpSp>
        <p:nvGrpSpPr>
          <p:cNvPr id="17" name="icon:people"/>
          <p:cNvGrpSpPr/>
          <p:nvPr/>
        </p:nvGrpSpPr>
        <p:grpSpPr>
          <a:xfrm>
            <a:off x="2074734" y="3864738"/>
            <a:ext cx="747704" cy="912357"/>
            <a:chOff x="2074734" y="3864738"/>
            <a:chExt cx="747704" cy="912357"/>
          </a:xfrm>
        </p:grpSpPr>
        <p:sp>
          <p:nvSpPr>
            <p:cNvPr id="18" name="Oval 17"/>
            <p:cNvSpPr/>
            <p:nvPr/>
          </p:nvSpPr>
          <p:spPr>
            <a:xfrm>
              <a:off x="2481292" y="3864738"/>
              <a:ext cx="235701" cy="235701"/>
            </a:xfrm>
            <a:prstGeom prst="ellipse">
              <a:avLst/>
            </a:prstGeom>
            <a:solidFill>
              <a:srgbClr val="8EB4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 Same Side Corner Rectangle 18"/>
            <p:cNvSpPr/>
            <p:nvPr/>
          </p:nvSpPr>
          <p:spPr>
            <a:xfrm>
              <a:off x="2375846" y="4137656"/>
              <a:ext cx="446592" cy="322539"/>
            </a:xfrm>
            <a:prstGeom prst="round2SameRect">
              <a:avLst>
                <a:gd name="adj1" fmla="val 45000"/>
                <a:gd name="adj2" fmla="val 0"/>
              </a:avLst>
            </a:prstGeom>
            <a:solidFill>
              <a:srgbClr val="8EB4E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2202547" y="4055330"/>
              <a:ext cx="285699" cy="285699"/>
            </a:xfrm>
            <a:prstGeom prst="ellipse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Round Same Side Corner Rectangle 20"/>
            <p:cNvSpPr/>
            <p:nvPr/>
          </p:nvSpPr>
          <p:spPr>
            <a:xfrm>
              <a:off x="2074734" y="4386139"/>
              <a:ext cx="541324" cy="390956"/>
            </a:xfrm>
            <a:prstGeom prst="round2SameRect">
              <a:avLst>
                <a:gd name="adj1" fmla="val 45000"/>
                <a:gd name="adj2" fmla="val 0"/>
              </a:avLst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1740876" y="4830233"/>
            <a:ext cx="1397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ヘルプデスク担当</a:t>
            </a:r>
          </a:p>
        </p:txBody>
      </p:sp>
      <p:sp>
        <p:nvSpPr>
          <p:cNvPr id="23" name="zone"/>
          <p:cNvSpPr/>
          <p:nvPr/>
        </p:nvSpPr>
        <p:spPr>
          <a:xfrm>
            <a:off x="5335953" y="1498600"/>
            <a:ext cx="6424246" cy="3852333"/>
          </a:xfrm>
          <a:prstGeom prst="rect">
            <a:avLst/>
          </a:prstGeom>
          <a:noFill/>
          <a:ln w="9525">
            <a:solidFill>
              <a:srgbClr val="7E7F7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37553" y="1574800"/>
            <a:ext cx="1376680" cy="254000"/>
          </a:xfrm>
          <a:prstGeom prst="round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クラウド（SaaS）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91553" y="3132666"/>
            <a:ext cx="2159000" cy="889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AIチャットボット</a:t>
            </a:r>
          </a:p>
        </p:txBody>
      </p:sp>
      <p:grpSp>
        <p:nvGrpSpPr>
          <p:cNvPr id="26" name="icon:database"/>
          <p:cNvGrpSpPr/>
          <p:nvPr/>
        </p:nvGrpSpPr>
        <p:grpSpPr>
          <a:xfrm>
            <a:off x="10367772" y="2032000"/>
            <a:ext cx="676656" cy="939800"/>
            <a:chOff x="10367772" y="2032000"/>
            <a:chExt cx="676656" cy="939800"/>
          </a:xfrm>
        </p:grpSpPr>
        <p:sp>
          <p:nvSpPr>
            <p:cNvPr id="27" name="Can 26"/>
            <p:cNvSpPr/>
            <p:nvPr/>
          </p:nvSpPr>
          <p:spPr>
            <a:xfrm>
              <a:off x="10367772" y="2032000"/>
              <a:ext cx="676656" cy="939800"/>
            </a:xfrm>
            <a:prstGeom prst="can">
              <a:avLst/>
            </a:prstGeom>
            <a:solidFill>
              <a:srgbClr val="001F5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10007600" y="3009900"/>
            <a:ext cx="1397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社内FAQ</a:t>
            </a:r>
          </a:p>
        </p:txBody>
      </p:sp>
      <p:grpSp>
        <p:nvGrpSpPr>
          <p:cNvPr id="29" name="icon:document"/>
          <p:cNvGrpSpPr/>
          <p:nvPr/>
        </p:nvGrpSpPr>
        <p:grpSpPr>
          <a:xfrm>
            <a:off x="10386568" y="3871129"/>
            <a:ext cx="639064" cy="902207"/>
            <a:chOff x="10386568" y="3871129"/>
            <a:chExt cx="639064" cy="902207"/>
          </a:xfrm>
        </p:grpSpPr>
        <p:sp>
          <p:nvSpPr>
            <p:cNvPr id="30" name="Folded Corner 29"/>
            <p:cNvSpPr/>
            <p:nvPr/>
          </p:nvSpPr>
          <p:spPr>
            <a:xfrm>
              <a:off x="10386568" y="3871129"/>
              <a:ext cx="639064" cy="902207"/>
            </a:xfrm>
            <a:prstGeom prst="foldedCorner">
              <a:avLst/>
            </a:prstGeom>
            <a:solidFill>
              <a:srgbClr val="FFFFFF"/>
            </a:solidFill>
            <a:ln w="46990">
              <a:solidFill>
                <a:srgbClr val="001F5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1" name="Connector 30"/>
            <p:cNvCxnSpPr/>
            <p:nvPr/>
          </p:nvCxnSpPr>
          <p:spPr>
            <a:xfrm>
              <a:off x="10499344" y="4115477"/>
              <a:ext cx="413512" cy="0"/>
            </a:xfrm>
            <a:prstGeom prst="line">
              <a:avLst/>
            </a:prstGeom>
            <a:ln w="37592">
              <a:solidFill>
                <a:srgbClr val="001F5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10499344" y="4284641"/>
              <a:ext cx="413512" cy="0"/>
            </a:xfrm>
            <a:prstGeom prst="line">
              <a:avLst/>
            </a:prstGeom>
            <a:ln w="37592">
              <a:solidFill>
                <a:srgbClr val="001F5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>
              <a:off x="10499344" y="4453805"/>
              <a:ext cx="413512" cy="0"/>
            </a:xfrm>
            <a:prstGeom prst="line">
              <a:avLst/>
            </a:prstGeom>
            <a:ln w="37592">
              <a:solidFill>
                <a:srgbClr val="001F5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/>
          <p:cNvSpPr txBox="1"/>
          <p:nvPr/>
        </p:nvSpPr>
        <p:spPr>
          <a:xfrm>
            <a:off x="10007600" y="4830233"/>
            <a:ext cx="13970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業務マニュアル</a:t>
            </a:r>
          </a:p>
        </p:txBody>
      </p:sp>
      <p:cxnSp>
        <p:nvCxnSpPr>
          <p:cNvPr id="35" name="arrow"/>
          <p:cNvCxnSpPr/>
          <p:nvPr/>
        </p:nvCxnSpPr>
        <p:spPr>
          <a:xfrm>
            <a:off x="3137876" y="2813767"/>
            <a:ext cx="2553677" cy="536576"/>
          </a:xfrm>
          <a:prstGeom prst="line">
            <a:avLst/>
          </a:prstGeom>
          <a:ln w="19050">
            <a:solidFill>
              <a:srgbClr val="001F5F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deco:edge_label"/>
          <p:cNvSpPr txBox="1"/>
          <p:nvPr/>
        </p:nvSpPr>
        <p:spPr>
          <a:xfrm>
            <a:off x="4008315" y="2955055"/>
            <a:ext cx="812800" cy="254000"/>
          </a:xfrm>
          <a:prstGeom prst="rect">
            <a:avLst/>
          </a:prstGeom>
          <a:solidFill>
            <a:srgbClr val="FFFFFF"/>
          </a:solidFill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000" b="0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質問・回答</a:t>
            </a:r>
          </a:p>
        </p:txBody>
      </p:sp>
      <p:cxnSp>
        <p:nvCxnSpPr>
          <p:cNvPr id="37" name="arrow"/>
          <p:cNvCxnSpPr/>
          <p:nvPr/>
        </p:nvCxnSpPr>
        <p:spPr>
          <a:xfrm flipH="1">
            <a:off x="3137876" y="3803989"/>
            <a:ext cx="2553677" cy="536576"/>
          </a:xfrm>
          <a:prstGeom prst="line">
            <a:avLst/>
          </a:prstGeom>
          <a:ln w="19050">
            <a:solidFill>
              <a:srgbClr val="276CCC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deco:edge_label"/>
          <p:cNvSpPr txBox="1"/>
          <p:nvPr/>
        </p:nvSpPr>
        <p:spPr>
          <a:xfrm>
            <a:off x="3817815" y="3945277"/>
            <a:ext cx="1193800" cy="254000"/>
          </a:xfrm>
          <a:prstGeom prst="rect">
            <a:avLst/>
          </a:prstGeom>
          <a:solidFill>
            <a:srgbClr val="FFFFFF"/>
          </a:solidFill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000" b="0">
                <a:solidFill>
                  <a:srgbClr val="276CCC"/>
                </a:solidFill>
                <a:latin typeface="Meiryo UI"/>
                <a:ea typeface="Meiryo UI"/>
                <a:cs typeface="Meiryo UI"/>
              </a:rPr>
              <a:t>未解決のみ引継ぎ</a:t>
            </a:r>
          </a:p>
        </p:txBody>
      </p:sp>
      <p:cxnSp>
        <p:nvCxnSpPr>
          <p:cNvPr id="39" name="arrow"/>
          <p:cNvCxnSpPr/>
          <p:nvPr/>
        </p:nvCxnSpPr>
        <p:spPr>
          <a:xfrm flipV="1">
            <a:off x="7850553" y="2828561"/>
            <a:ext cx="2157047" cy="498919"/>
          </a:xfrm>
          <a:prstGeom prst="line">
            <a:avLst/>
          </a:prstGeom>
          <a:ln w="15875">
            <a:solidFill>
              <a:srgbClr val="7E7F7E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deco:edge_label"/>
          <p:cNvSpPr txBox="1"/>
          <p:nvPr/>
        </p:nvSpPr>
        <p:spPr>
          <a:xfrm>
            <a:off x="8713176" y="2951021"/>
            <a:ext cx="431800" cy="254000"/>
          </a:xfrm>
          <a:prstGeom prst="rect">
            <a:avLst/>
          </a:prstGeom>
          <a:solidFill>
            <a:srgbClr val="FFFFFF"/>
          </a:solidFill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000" b="0">
                <a:solidFill>
                  <a:srgbClr val="7E7F7E"/>
                </a:solidFill>
                <a:latin typeface="Meiryo UI"/>
                <a:ea typeface="Meiryo UI"/>
                <a:cs typeface="Meiryo UI"/>
              </a:rPr>
              <a:t>検索</a:t>
            </a:r>
          </a:p>
        </p:txBody>
      </p:sp>
      <p:cxnSp>
        <p:nvCxnSpPr>
          <p:cNvPr id="41" name="arrow"/>
          <p:cNvCxnSpPr/>
          <p:nvPr/>
        </p:nvCxnSpPr>
        <p:spPr>
          <a:xfrm>
            <a:off x="7850553" y="3826852"/>
            <a:ext cx="2157047" cy="498919"/>
          </a:xfrm>
          <a:prstGeom prst="line">
            <a:avLst/>
          </a:prstGeom>
          <a:ln w="15875">
            <a:solidFill>
              <a:srgbClr val="7E7F7E"/>
            </a:solidFill>
            <a:prstDash val="sysDot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deco:edge_label"/>
          <p:cNvSpPr txBox="1"/>
          <p:nvPr/>
        </p:nvSpPr>
        <p:spPr>
          <a:xfrm>
            <a:off x="8713176" y="3949312"/>
            <a:ext cx="431800" cy="254000"/>
          </a:xfrm>
          <a:prstGeom prst="rect">
            <a:avLst/>
          </a:prstGeom>
          <a:solidFill>
            <a:srgbClr val="FFFFFF"/>
          </a:solidFill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1000" b="0">
                <a:solidFill>
                  <a:srgbClr val="7E7F7E"/>
                </a:solidFill>
                <a:latin typeface="Meiryo UI"/>
                <a:ea typeface="Meiryo UI"/>
                <a:cs typeface="Meiryo UI"/>
              </a:rPr>
              <a:t>検索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1800" y="5528733"/>
            <a:ext cx="11328400" cy="770466"/>
          </a:xfrm>
          <a:prstGeom prst="rect">
            <a:avLst/>
          </a:prstGeom>
          <a:solidFill>
            <a:srgbClr val="F1F2F1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33400" y="5630333"/>
            <a:ext cx="482600" cy="254000"/>
          </a:xfrm>
          <a:prstGeom prst="round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注記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3400" y="5935133"/>
            <a:ext cx="11125200" cy="287866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参照するのは社内FAQと業務マニュアルのみ。入力内容はAIの学習に使わない契約とする（3.2 の情報漏えい対策）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 導入方針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2.3 導入効果の試算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一次回答の自動化で年間約1,700万円の工数を削減でき、2年目に投資を回収できる見込み。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9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©2026 情報システム部（サンプル）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1800" y="1498600"/>
            <a:ext cx="6940785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投資と効果の累計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40585" y="1778000"/>
            <a:ext cx="2032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（単位：万円）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31800" y="2006600"/>
          <a:ext cx="6940785" cy="4292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08000" y="1524000"/>
            <a:ext cx="1483360" cy="279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200" b="1">
                <a:solidFill>
                  <a:srgbClr val="C00000"/>
                </a:solidFill>
                <a:latin typeface="Meiryo UI"/>
                <a:ea typeface="Meiryo UI"/>
                <a:cs typeface="Meiryo UI"/>
              </a:rPr>
              <a:t>投資回収：2028年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77385" y="1498600"/>
            <a:ext cx="4082814" cy="14986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53585" y="1574800"/>
            <a:ext cx="3930414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自動解決率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53585" y="1905000"/>
            <a:ext cx="3930414" cy="609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3428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45%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53585" y="2540000"/>
            <a:ext cx="3930414" cy="381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PoCで検証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77385" y="3149600"/>
            <a:ext cx="4082814" cy="14986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53585" y="3225800"/>
            <a:ext cx="3930414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削減工数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53585" y="3556000"/>
            <a:ext cx="3930414" cy="609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3428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3,400h/年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53585" y="4191000"/>
            <a:ext cx="3930414" cy="381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約1,700万円/年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77385" y="4800600"/>
            <a:ext cx="4082814" cy="1498600"/>
          </a:xfrm>
          <a:prstGeom prst="rect">
            <a:avLst/>
          </a:prstGeom>
          <a:solidFill>
            <a:srgbClr val="FFFFFF"/>
          </a:solidFill>
          <a:ln w="9525">
            <a:solidFill>
              <a:srgbClr val="7E7F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53585" y="4876800"/>
            <a:ext cx="3930414" cy="3048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投資回収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53585" y="5207000"/>
            <a:ext cx="3930414" cy="609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3428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2年目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3585" y="5842000"/>
            <a:ext cx="3930414" cy="381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2028年</a:t>
            </a:r>
          </a:p>
        </p:txBody>
      </p:sp>
      <p:sp>
        <p:nvSpPr>
          <p:cNvPr id="24" name="chrome:source"/>
          <p:cNvSpPr txBox="1"/>
          <p:nvPr/>
        </p:nvSpPr>
        <p:spPr>
          <a:xfrm>
            <a:off x="431800" y="6311900"/>
            <a:ext cx="90424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出所：架空データ（サンプル）。2027年は7月の全社展開以降の半年分の効果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 導入方針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2.4 投資額と試算の前提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5年間の総投資は約3,100万円で、うちPoCは320万円。効果は時間単価5,000円・自動解決率45%を前提に算出した。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10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©2026 情報システム部（サンプル）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04672" y="1498600"/>
            <a:ext cx="254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10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（単位：万円）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31800" y="1752600"/>
          <a:ext cx="6012871" cy="1539875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008581"/>
                <a:gridCol w="2004290"/>
              </a:tblGrid>
              <a:tr h="307975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費目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金額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PoC（2027年1〜3月）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320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本番構築（2027年5〜6月）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580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利用料（月額40万円×54か月）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2,160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797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合計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200" b="1">
                          <a:solidFill>
                            <a:srgbClr val="001F5F"/>
                          </a:solidFill>
                          <a:latin typeface="Meiryo UI"/>
                          <a:ea typeface="Meiryo UI"/>
                          <a:cs typeface="Meiryo UI"/>
                        </a:rPr>
                        <a:t>3,060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D5E2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749472" y="1498600"/>
            <a:ext cx="5010727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試算の前提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49472" y="1879600"/>
            <a:ext cx="5010727" cy="3141133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77800" indent="-177800"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時間単価：</a:t>
            </a:r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5,000円</a:t>
            </a: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（人件費＋間接費）</a:t>
            </a:r>
          </a:p>
          <a:p>
            <a:pPr algn="l" marL="177800" indent="-177800">
              <a:spcBef>
                <a:spcPts val="42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1件あたりの対応時間：</a:t>
            </a:r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15分</a:t>
            </a:r>
          </a:p>
          <a:p>
            <a:pPr algn="l" marL="177800" indent="-177800">
              <a:spcBef>
                <a:spcPts val="42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自動解決率：</a:t>
            </a:r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45%</a:t>
            </a:r>
          </a:p>
          <a:p>
            <a:pPr algn="l" marL="373380" indent="-177800">
              <a:spcBef>
                <a:spcPts val="420"/>
              </a:spcBef>
              <a:buFont typeface="Arial"/>
              <a:buChar char="–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他社事例5件の中央値。PoCで検証する</a:t>
            </a:r>
          </a:p>
          <a:p>
            <a:pPr algn="l" marL="177800" indent="-177800">
              <a:spcBef>
                <a:spcPts val="420"/>
              </a:spcBef>
              <a:buFont typeface="Arial"/>
              <a:buChar char="•"/>
            </a:pP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削減工数：月約4,200件 × 定型6割 × 45% × 15分 × 12か月 ≒ </a:t>
            </a:r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3,400h/年</a:t>
            </a:r>
            <a:r>
              <a:rPr sz="14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（約1,700万円）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1800" y="5198533"/>
            <a:ext cx="11328400" cy="1100666"/>
          </a:xfrm>
          <a:prstGeom prst="rect">
            <a:avLst/>
          </a:prstGeom>
          <a:solidFill>
            <a:srgbClr val="F1F2F1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33400" y="5300133"/>
            <a:ext cx="622300" cy="254000"/>
          </a:xfrm>
          <a:prstGeom prst="round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撤退時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5604933"/>
            <a:ext cx="11125200" cy="618066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PoCで判定基準（自動解決率40%以上・誤回答率5%未満）を満たさない場合は全社展開せず、投資はPoCの320万円にとどまる</a:t>
            </a:r>
          </a:p>
        </p:txBody>
      </p:sp>
      <p:sp>
        <p:nvSpPr>
          <p:cNvPr id="15" name="chrome:source"/>
          <p:cNvSpPr txBox="1"/>
          <p:nvPr/>
        </p:nvSpPr>
        <p:spPr>
          <a:xfrm>
            <a:off x="431800" y="6311900"/>
            <a:ext cx="90424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出所：架空データ（サンプル）。金額は税抜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g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rome:section_title"/>
          <p:cNvSpPr txBox="1"/>
          <p:nvPr/>
        </p:nvSpPr>
        <p:spPr>
          <a:xfrm>
            <a:off x="889000" y="2413000"/>
            <a:ext cx="10414000" cy="711200"/>
          </a:xfrm>
          <a:prstGeom prst="rect">
            <a:avLst/>
          </a:prstGeom>
          <a:noFill/>
        </p:spPr>
        <p:txBody>
          <a:bodyPr wrap="square" lIns="38100" rIns="38100" tIns="25400" bIns="25400" anchor="b">
            <a:no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3. 進め方とご判断事項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889000" y="3200400"/>
            <a:ext cx="10414000" cy="0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section_items"/>
          <p:cNvSpPr txBox="1"/>
          <p:nvPr/>
        </p:nvSpPr>
        <p:spPr>
          <a:xfrm>
            <a:off x="1143000" y="3327400"/>
            <a:ext cx="10160000" cy="2794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3.1 導入スケジュール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3.2 リスクと対策</a:t>
            </a:r>
          </a:p>
          <a:p>
            <a:pPr algn="l"/>
            <a:r>
              <a:rPr sz="16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3.3 ご判断いただきたい事項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D5E2FF"/>
                </a:solidFill>
                <a:latin typeface="Meiryo UI"/>
                <a:ea typeface="Meiryo UI"/>
                <a:cs typeface="Meiryo UI"/>
              </a:rPr>
              <a:t>11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D5E2FF"/>
                </a:solidFill>
                <a:latin typeface="Meiryo UI"/>
                <a:ea typeface="Meiryo UI"/>
                <a:cs typeface="Meiryo UI"/>
              </a:rPr>
              <a:t>©2026 情報システム部（サンプル）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3. 進め方とご判断事項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3.1 導入スケジュール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2027年1月にPoCを始め、4月の判定で基準を満たせば7月に全社展開する。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12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©2026 情報システム部（サンプル）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413000" y="1498600"/>
            <a:ext cx="9347200" cy="254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13000" y="1498600"/>
            <a:ext cx="839568" cy="2540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11月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2568" y="1498600"/>
            <a:ext cx="867554" cy="2540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12月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20123" y="1498600"/>
            <a:ext cx="867554" cy="2540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1月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7677" y="1498600"/>
            <a:ext cx="783597" cy="2540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71275" y="1498600"/>
            <a:ext cx="867554" cy="2540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3月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829" y="1498600"/>
            <a:ext cx="839568" cy="2540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4月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8398" y="1498600"/>
            <a:ext cx="867554" cy="2540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5月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5953" y="1498600"/>
            <a:ext cx="839568" cy="2540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6月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5522" y="1498600"/>
            <a:ext cx="867554" cy="2540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7月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3076" y="1498600"/>
            <a:ext cx="867554" cy="2540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8月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20631" y="1498600"/>
            <a:ext cx="839568" cy="254000"/>
          </a:xfrm>
          <a:prstGeom prst="rect">
            <a:avLst/>
          </a:prstGeom>
          <a:noFill/>
        </p:spPr>
        <p:txBody>
          <a:bodyPr wrap="square" lIns="12700" rIns="12700" tIns="0" bIns="0" anchor="ctr">
            <a:no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9月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252568" y="1752600"/>
            <a:ext cx="0" cy="4318000"/>
          </a:xfrm>
          <a:prstGeom prst="line">
            <a:avLst/>
          </a:prstGeom>
          <a:ln w="6350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120123" y="1752600"/>
            <a:ext cx="0" cy="4318000"/>
          </a:xfrm>
          <a:prstGeom prst="line">
            <a:avLst/>
          </a:prstGeom>
          <a:ln w="6350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87677" y="1752600"/>
            <a:ext cx="0" cy="4318000"/>
          </a:xfrm>
          <a:prstGeom prst="line">
            <a:avLst/>
          </a:prstGeom>
          <a:ln w="6350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771275" y="1752600"/>
            <a:ext cx="0" cy="4318000"/>
          </a:xfrm>
          <a:prstGeom prst="line">
            <a:avLst/>
          </a:prstGeom>
          <a:ln w="6350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638829" y="1752600"/>
            <a:ext cx="0" cy="4318000"/>
          </a:xfrm>
          <a:prstGeom prst="line">
            <a:avLst/>
          </a:prstGeom>
          <a:ln w="6350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478398" y="1752600"/>
            <a:ext cx="0" cy="4318000"/>
          </a:xfrm>
          <a:prstGeom prst="line">
            <a:avLst/>
          </a:prstGeom>
          <a:ln w="6350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345953" y="1752600"/>
            <a:ext cx="0" cy="4318000"/>
          </a:xfrm>
          <a:prstGeom prst="line">
            <a:avLst/>
          </a:prstGeom>
          <a:ln w="6350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185522" y="1752600"/>
            <a:ext cx="0" cy="4318000"/>
          </a:xfrm>
          <a:prstGeom prst="line">
            <a:avLst/>
          </a:prstGeom>
          <a:ln w="6350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0053076" y="1752600"/>
            <a:ext cx="0" cy="4318000"/>
          </a:xfrm>
          <a:prstGeom prst="line">
            <a:avLst/>
          </a:prstGeom>
          <a:ln w="6350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0920631" y="1752600"/>
            <a:ext cx="0" cy="4318000"/>
          </a:xfrm>
          <a:prstGeom prst="line">
            <a:avLst/>
          </a:prstGeom>
          <a:ln w="6350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431800" y="1803400"/>
            <a:ext cx="1905000" cy="8128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PoC準備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413000" y="2641600"/>
            <a:ext cx="9347200" cy="0"/>
          </a:xfrm>
          <a:prstGeom prst="line">
            <a:avLst/>
          </a:prstGeom>
          <a:ln w="6350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31800" y="2667000"/>
            <a:ext cx="1905000" cy="8128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PoC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413000" y="3505200"/>
            <a:ext cx="9347200" cy="0"/>
          </a:xfrm>
          <a:prstGeom prst="line">
            <a:avLst/>
          </a:prstGeom>
          <a:ln w="6350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431800" y="3530600"/>
            <a:ext cx="1905000" cy="8128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評価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413000" y="4368800"/>
            <a:ext cx="9347200" cy="0"/>
          </a:xfrm>
          <a:prstGeom prst="line">
            <a:avLst/>
          </a:prstGeom>
          <a:ln w="6350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431800" y="4394200"/>
            <a:ext cx="1905000" cy="8128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本番構築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413000" y="5232400"/>
            <a:ext cx="9347200" cy="0"/>
          </a:xfrm>
          <a:prstGeom prst="line">
            <a:avLst/>
          </a:prstGeom>
          <a:ln w="6350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31800" y="5257800"/>
            <a:ext cx="1905000" cy="8128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全社展開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413000" y="6096000"/>
            <a:ext cx="9347200" cy="0"/>
          </a:xfrm>
          <a:prstGeom prst="line">
            <a:avLst/>
          </a:prstGeom>
          <a:ln w="6350">
            <a:solidFill>
              <a:srgbClr val="D8D9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Pentagon 39"/>
          <p:cNvSpPr/>
          <p:nvPr/>
        </p:nvSpPr>
        <p:spPr>
          <a:xfrm>
            <a:off x="2413000" y="2057400"/>
            <a:ext cx="1539209" cy="304800"/>
          </a:xfrm>
          <a:prstGeom prst="homePlate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FAQ整備・契約</a:t>
            </a:r>
          </a:p>
        </p:txBody>
      </p:sp>
      <p:sp>
        <p:nvSpPr>
          <p:cNvPr id="41" name="Pentagon 40"/>
          <p:cNvSpPr/>
          <p:nvPr/>
        </p:nvSpPr>
        <p:spPr>
          <a:xfrm>
            <a:off x="4232065" y="2921000"/>
            <a:ext cx="2406764" cy="304800"/>
          </a:xfrm>
          <a:prstGeom prst="homePlat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情シス部門で試行</a:t>
            </a:r>
          </a:p>
        </p:txBody>
      </p:sp>
      <p:sp>
        <p:nvSpPr>
          <p:cNvPr id="42" name="Pentagon 41"/>
          <p:cNvSpPr/>
          <p:nvPr/>
        </p:nvSpPr>
        <p:spPr>
          <a:xfrm>
            <a:off x="6638829" y="3784600"/>
            <a:ext cx="839568" cy="304800"/>
          </a:xfrm>
          <a:prstGeom prst="homePlate">
            <a:avLst/>
          </a:prstGeom>
          <a:solidFill>
            <a:srgbClr val="D5E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>
            <a:noAutofit/>
          </a:bodyPr>
          <a:lstStyle/>
          <a:p>
            <a:pPr algn="l"/>
            <a:r>
              <a:rPr sz="11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効果測定</a:t>
            </a:r>
          </a:p>
        </p:txBody>
      </p:sp>
      <p:sp>
        <p:nvSpPr>
          <p:cNvPr id="43" name="Pentagon 42"/>
          <p:cNvSpPr/>
          <p:nvPr/>
        </p:nvSpPr>
        <p:spPr>
          <a:xfrm>
            <a:off x="7618326" y="4648200"/>
            <a:ext cx="1567195" cy="304800"/>
          </a:xfrm>
          <a:prstGeom prst="homePlate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全社FAQ連携</a:t>
            </a:r>
          </a:p>
        </p:txBody>
      </p:sp>
      <p:sp>
        <p:nvSpPr>
          <p:cNvPr id="44" name="Pentagon 43"/>
          <p:cNvSpPr/>
          <p:nvPr/>
        </p:nvSpPr>
        <p:spPr>
          <a:xfrm>
            <a:off x="9185522" y="5511800"/>
            <a:ext cx="2574677" cy="304800"/>
          </a:xfrm>
          <a:prstGeom prst="homePlate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0" bIns="0">
            <a:no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展開・定着支援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450413" y="1752600"/>
            <a:ext cx="0" cy="431800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434413" y="6070600"/>
            <a:ext cx="2032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eiryo UI"/>
                <a:ea typeface="Meiryo UI"/>
                <a:cs typeface="Meiryo UI"/>
              </a:rPr>
              <a:t>▲PoC判定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185522" y="1752600"/>
            <a:ext cx="0" cy="431800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169522" y="6070600"/>
            <a:ext cx="2032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00" b="1">
                <a:solidFill>
                  <a:srgbClr val="C00000"/>
                </a:solidFill>
                <a:latin typeface="Meiryo UI"/>
                <a:ea typeface="Meiryo UI"/>
                <a:cs typeface="Meiryo UI"/>
              </a:rPr>
              <a:t>▲全社展開</a:t>
            </a:r>
          </a:p>
        </p:txBody>
      </p:sp>
      <p:sp>
        <p:nvSpPr>
          <p:cNvPr id="49" name="chrome:source"/>
          <p:cNvSpPr txBox="1"/>
          <p:nvPr/>
        </p:nvSpPr>
        <p:spPr>
          <a:xfrm>
            <a:off x="431800" y="6311900"/>
            <a:ext cx="90424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注：期間は2026年11月〜2027年9月。PoC判定の基準：自動解決率40%以上かつ誤回答率5%未満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3. 進め方とご判断事項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3.2 リスクと対策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4件のリスクのうち影響が大きい誤回答と情報漏えいは、回答範囲の限定と利用ルールの整備で抑える。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13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©2026 情報システム部（サンプル）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31800" y="1498600"/>
          <a:ext cx="11328400" cy="48005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15310"/>
                <a:gridCol w="1132840"/>
                <a:gridCol w="1416050"/>
                <a:gridCol w="4248150"/>
                <a:gridCol w="1416050"/>
              </a:tblGrid>
              <a:tr h="918844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リスク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影響度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発生可能性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対策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担当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001F5F"/>
                    </a:solidFill>
                  </a:tcPr>
                </a:tc>
              </a:tr>
              <a:tr h="11252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誤回答による業務の混乱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高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中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回答範囲を社内FAQに限定し、根拠のリンクを必ず表示する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情シス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884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機密情報の入力・漏えい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高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7E7F7E"/>
                          </a:solidFill>
                          <a:latin typeface="Meiryo UI"/>
                          <a:ea typeface="Meiryo UI"/>
                          <a:cs typeface="Meiryo UI"/>
                        </a:rPr>
                        <a:t>低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利用ルールを定め、学習に使わない契約とする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情シス・法務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884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社員が使わず定着しない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中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中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Teamsに組み込み、部門ごとに説明会を開く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ヘルプデスク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1884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FAQが古くなり精度が落ちる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276CCC"/>
                          </a:solidFill>
                          <a:latin typeface="Meiryo UI"/>
                          <a:ea typeface="Meiryo UI"/>
                          <a:cs typeface="Meiryo UI"/>
                        </a:rPr>
                        <a:t>中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C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高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未解決の質問を月次で見直し、FAQに追加する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Meiryo UI"/>
                          <a:ea typeface="Meiryo UI"/>
                          <a:cs typeface="Meiryo UI"/>
                        </a:rPr>
                        <a:t>ヘルプデスク</a:t>
                      </a: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7E7F7E"/>
                      </a:solidFill>
                      <a:prstDash val="solid"/>
                    </a:lnL>
                    <a:lnR w="6350" cap="flat" cmpd="sng" algn="ctr">
                      <a:solidFill>
                        <a:srgbClr val="7E7F7E"/>
                      </a:solidFill>
                      <a:prstDash val="solid"/>
                    </a:lnR>
                    <a:lnT w="6350" cap="flat" cmpd="sng" algn="ctr">
                      <a:solidFill>
                        <a:srgbClr val="7E7F7E"/>
                      </a:solidFill>
                      <a:prstDash val="solid"/>
                    </a:lnT>
                    <a:lnB w="6350" cap="flat" cmpd="sng" algn="ctr">
                      <a:solidFill>
                        <a:srgbClr val="7E7F7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breadcrumb"/>
          <p:cNvSpPr txBox="1"/>
          <p:nvPr/>
        </p:nvSpPr>
        <p:spPr>
          <a:xfrm>
            <a:off x="431800" y="63500"/>
            <a:ext cx="11328400" cy="2794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3. 進め方とご判断事項</a:t>
            </a:r>
          </a:p>
        </p:txBody>
      </p:sp>
      <p:sp>
        <p:nvSpPr>
          <p:cNvPr id="3" name="chrome:title"/>
          <p:cNvSpPr txBox="1"/>
          <p:nvPr/>
        </p:nvSpPr>
        <p:spPr>
          <a:xfrm>
            <a:off x="431800" y="279400"/>
            <a:ext cx="11328400" cy="4826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l"/>
            <a:r>
              <a:rPr sz="2400" b="1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3.3 ご判断いただきたい事項</a:t>
            </a:r>
          </a:p>
        </p:txBody>
      </p:sp>
      <p:cxnSp>
        <p:nvCxnSpPr>
          <p:cNvPr id="4" name="chrome:rule"/>
          <p:cNvCxnSpPr/>
          <p:nvPr/>
        </p:nvCxnSpPr>
        <p:spPr>
          <a:xfrm>
            <a:off x="0" y="762000"/>
            <a:ext cx="12192000" cy="0"/>
          </a:xfrm>
          <a:prstGeom prst="line">
            <a:avLst/>
          </a:prstGeom>
          <a:ln w="28575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hrome:lead"/>
          <p:cNvSpPr txBox="1"/>
          <p:nvPr/>
        </p:nvSpPr>
        <p:spPr>
          <a:xfrm>
            <a:off x="431800" y="787400"/>
            <a:ext cx="11328400" cy="635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PoC予算320万円、推進体制（情シス2名＋ヘルプデスク1名）、2027年1月着手の3点をご承認いただきたい。</a:t>
            </a:r>
          </a:p>
        </p:txBody>
      </p:sp>
      <p:sp>
        <p:nvSpPr>
          <p:cNvPr id="6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14</a:t>
            </a:r>
          </a:p>
        </p:txBody>
      </p:sp>
      <p:sp>
        <p:nvSpPr>
          <p:cNvPr id="7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©2026 情報システム部（サンプル）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800" y="1625600"/>
            <a:ext cx="3674533" cy="1927577"/>
          </a:xfrm>
          <a:prstGeom prst="rect">
            <a:avLst/>
          </a:prstGeom>
          <a:solidFill>
            <a:srgbClr val="D5E2FF"/>
          </a:solidFill>
          <a:ln w="2857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8800" y="1498600"/>
            <a:ext cx="482600" cy="254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>
            <a:noAutofit/>
          </a:bodyPr>
          <a:lstStyle/>
          <a:p>
            <a:pPr algn="ctr"/>
            <a:r>
              <a:rPr sz="1100" b="1">
                <a:solidFill>
                  <a:srgbClr val="C00000"/>
                </a:solidFill>
                <a:latin typeface="Meiryo UI"/>
                <a:ea typeface="Meiryo UI"/>
                <a:cs typeface="Meiryo UI"/>
              </a:rPr>
              <a:t>推奨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1803400"/>
            <a:ext cx="3420533" cy="330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A案：PoCから段階導入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8800" y="2159000"/>
            <a:ext cx="3420533" cy="1317977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効果を確かめてから全社に広げる</a:t>
            </a:r>
            <a:br/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初期投資 320万円／判定 2027年4月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8733" y="1625600"/>
            <a:ext cx="3674533" cy="1927577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5733" y="1803400"/>
            <a:ext cx="3420533" cy="330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B案：一括で全社導入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5733" y="2159000"/>
            <a:ext cx="3420533" cy="1317977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早いが、誤回答のリスクが大きい</a:t>
            </a:r>
            <a:br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初期投資 900万円／展開 2027年4月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85666" y="1625600"/>
            <a:ext cx="3674533" cy="1927577"/>
          </a:xfrm>
          <a:prstGeom prst="rect">
            <a:avLst/>
          </a:prstGeom>
          <a:solidFill>
            <a:srgbClr val="FFFFFF"/>
          </a:solidFill>
          <a:ln w="9525">
            <a:solidFill>
              <a:srgbClr val="BEB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2666" y="1803400"/>
            <a:ext cx="3420533" cy="330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1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C案：見送り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2666" y="2159000"/>
            <a:ext cx="3420533" cy="1317977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現行体制で対応し、負荷は増え続ける</a:t>
            </a:r>
            <a:br/>
            <a:r>
              <a:rPr sz="12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投資 0円／工数は年5%増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1800" y="3730977"/>
            <a:ext cx="5562600" cy="381000"/>
          </a:xfrm>
          <a:prstGeom prst="rect">
            <a:avLst/>
          </a:prstGeom>
          <a:solidFill>
            <a:srgbClr val="001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推奨する理由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1800" y="4111977"/>
            <a:ext cx="5562600" cy="2187222"/>
          </a:xfrm>
          <a:prstGeom prst="rect">
            <a:avLst/>
          </a:prstGeom>
          <a:solidFill>
            <a:srgbClr val="FFFFFF"/>
          </a:solidFill>
          <a:ln w="9525">
            <a:solidFill>
              <a:srgbClr val="001F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投資を320万円に抑えて効果を確かめられる</a:t>
            </a:r>
          </a:p>
          <a:p>
            <a:pPr algn="l" marL="152400" indent="-152400">
              <a:spcBef>
                <a:spcPts val="359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判定基準を満たさなければ撤退できる</a:t>
            </a:r>
          </a:p>
          <a:p>
            <a:pPr algn="l" marL="152400" indent="-152400">
              <a:spcBef>
                <a:spcPts val="359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全社展開は2027年7月に間に合う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7600" y="3730977"/>
            <a:ext cx="5562600" cy="381000"/>
          </a:xfrm>
          <a:prstGeom prst="rect">
            <a:avLst/>
          </a:prstGeom>
          <a:solidFill>
            <a:srgbClr val="276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>
            <a:no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次のアクション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7600" y="4111977"/>
            <a:ext cx="5562600" cy="2187222"/>
          </a:xfrm>
          <a:prstGeom prst="rect">
            <a:avLst/>
          </a:prstGeom>
          <a:solidFill>
            <a:srgbClr val="FFFFFF"/>
          </a:solidFill>
          <a:ln w="9525">
            <a:solidFill>
              <a:srgbClr val="276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76200" bIns="76200">
            <a:noAutofit/>
          </a:bodyPr>
          <a:lstStyle/>
          <a:p>
            <a:pPr algn="l" marL="152400" indent="-152400"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本日：予算320万円・体制（情シス2名＋ヘルプデスク1名）・2027年1月着手のご承認</a:t>
            </a:r>
          </a:p>
          <a:p>
            <a:pPr algn="l" marL="152400" indent="-152400">
              <a:spcBef>
                <a:spcPts val="359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2026年12月：ベンダーと契約する</a:t>
            </a:r>
          </a:p>
          <a:p>
            <a:pPr algn="l" marL="152400" indent="-152400">
              <a:spcBef>
                <a:spcPts val="359"/>
              </a:spcBef>
              <a:buFont typeface="Arial"/>
              <a:buChar char="•"/>
            </a:pPr>
            <a:r>
              <a:rPr sz="1200" b="0">
                <a:solidFill>
                  <a:srgbClr val="000000"/>
                </a:solidFill>
                <a:latin typeface="Meiryo UI"/>
                <a:ea typeface="Meiryo UI"/>
                <a:cs typeface="Meiryo UI"/>
              </a:rPr>
              <a:t>2027年4月：PoC判定会議で全社展開の可否を判断</a:t>
            </a:r>
          </a:p>
        </p:txBody>
      </p:sp>
      <p:sp>
        <p:nvSpPr>
          <p:cNvPr id="22" name="chrome:source"/>
          <p:cNvSpPr txBox="1"/>
          <p:nvPr/>
        </p:nvSpPr>
        <p:spPr>
          <a:xfrm>
            <a:off x="431800" y="6311900"/>
            <a:ext cx="90424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l"/>
            <a:r>
              <a:rPr sz="9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出所：架空データ（サンプル）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hrome:closing"/>
          <p:cNvSpPr txBox="1"/>
          <p:nvPr/>
        </p:nvSpPr>
        <p:spPr>
          <a:xfrm>
            <a:off x="0" y="2540000"/>
            <a:ext cx="12192000" cy="762000"/>
          </a:xfrm>
          <a:prstGeom prst="rect">
            <a:avLst/>
          </a:prstGeom>
          <a:noFill/>
        </p:spPr>
        <p:txBody>
          <a:bodyPr wrap="square" lIns="38100" rIns="38100" tIns="25400" bIns="25400" anchor="ctr">
            <a:noAutofit/>
          </a:bodyPr>
          <a:lstStyle/>
          <a:p>
            <a:pPr algn="ctr"/>
            <a:r>
              <a:rPr sz="2800" b="1">
                <a:solidFill>
                  <a:srgbClr val="001F5F"/>
                </a:solidFill>
                <a:latin typeface="Meiryo UI"/>
                <a:ea typeface="Meiryo UI"/>
                <a:cs typeface="Meiryo UI"/>
              </a:rPr>
              <a:t>以上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0" y="3403600"/>
            <a:ext cx="3048000" cy="0"/>
          </a:xfrm>
          <a:prstGeom prst="line">
            <a:avLst/>
          </a:prstGeom>
          <a:ln w="19050">
            <a:solidFill>
              <a:srgbClr val="001F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286000" y="3683000"/>
            <a:ext cx="7620000" cy="10160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4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お問い合わせ：情報システム部 企画グループ（内線 1234）</a:t>
            </a:r>
          </a:p>
        </p:txBody>
      </p:sp>
      <p:sp>
        <p:nvSpPr>
          <p:cNvPr id="5" name="chrome:page"/>
          <p:cNvSpPr txBox="1"/>
          <p:nvPr/>
        </p:nvSpPr>
        <p:spPr>
          <a:xfrm>
            <a:off x="5461000" y="6527800"/>
            <a:ext cx="1270000" cy="2286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ctr"/>
            <a:r>
              <a:rPr sz="105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15</a:t>
            </a:r>
          </a:p>
        </p:txBody>
      </p:sp>
      <p:sp>
        <p:nvSpPr>
          <p:cNvPr id="6" name="chrome:footer"/>
          <p:cNvSpPr txBox="1"/>
          <p:nvPr/>
        </p:nvSpPr>
        <p:spPr>
          <a:xfrm>
            <a:off x="8128000" y="6553200"/>
            <a:ext cx="3810000" cy="203200"/>
          </a:xfrm>
          <a:prstGeom prst="rect">
            <a:avLst/>
          </a:prstGeom>
          <a:noFill/>
        </p:spPr>
        <p:txBody>
          <a:bodyPr wrap="square" lIns="38100" rIns="38100" tIns="25400" bIns="25400" anchor="t">
            <a:noAutofit/>
          </a:bodyPr>
          <a:lstStyle/>
          <a:p>
            <a:pPr algn="r"/>
            <a:r>
              <a:rPr sz="800" b="0">
                <a:solidFill>
                  <a:srgbClr val="404040"/>
                </a:solidFill>
                <a:latin typeface="Meiryo UI"/>
                <a:ea typeface="Meiryo UI"/>
                <a:cs typeface="Meiryo UI"/>
              </a:rPr>
              <a:t>©2026 情報システム部（サンプル）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Meiryo UI"/>
        <a:ea typeface="Meiryo U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eiryo UI"/>
        <a:ea typeface="Meiryo UI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