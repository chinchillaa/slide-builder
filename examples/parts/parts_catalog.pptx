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率</c:v>
                </c:pt>
              </c:strCache>
            </c:strRef>
          </c:tx>
          <c:dPt>
            <c:idx val="0"/>
            <c:spPr>
              <a:solidFill>
                <a:srgbClr val="276CCC"/>
              </a:solidFill>
              <a:ln>
                <a:noFill/>
              </a:ln>
            </c:spPr>
          </c:dPt>
          <c:dPt>
            <c:idx val="1"/>
            <c:spPr>
              <a:solidFill>
                <a:srgbClr val="F1F2F1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達成</c:v>
                </c:pt>
                <c:pt idx="1">
                  <c:v>残り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率</c:v>
                </c:pt>
              </c:strCache>
            </c:strRef>
          </c:tx>
          <c:dPt>
            <c:idx val="0"/>
            <c:spPr>
              <a:solidFill>
                <a:srgbClr val="276CCC"/>
              </a:solidFill>
              <a:ln>
                <a:noFill/>
              </a:ln>
            </c:spPr>
          </c:dPt>
          <c:dPt>
            <c:idx val="1"/>
            <c:spPr>
              <a:solidFill>
                <a:srgbClr val="F1F2F1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達成</c:v>
                </c:pt>
                <c:pt idx="1">
                  <c:v>残り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2025年度</c:v>
                </c:pt>
                <c:pt idx="1">
                  <c:v>値上げ</c:v>
                </c:pt>
                <c:pt idx="2">
                  <c:v>数量減</c:v>
                </c:pt>
                <c:pt idx="3">
                  <c:v>新商品</c:v>
                </c:pt>
                <c:pt idx="4">
                  <c:v>為替</c:v>
                </c:pt>
                <c:pt idx="5">
                  <c:v>2026年度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105</c:v>
                </c:pt>
                <c:pt idx="3">
                  <c:v>105</c:v>
                </c:pt>
                <c:pt idx="4">
                  <c:v>110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合計</c:v>
                </c:pt>
              </c:strCache>
            </c:strRef>
          </c:tx>
          <c:spPr>
            <a:solidFill>
              <a:srgbClr val="001F5F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2025年度</c:v>
                </c:pt>
                <c:pt idx="1">
                  <c:v>値上げ</c:v>
                </c:pt>
                <c:pt idx="2">
                  <c:v>数量減</c:v>
                </c:pt>
                <c:pt idx="3">
                  <c:v>新商品</c:v>
                </c:pt>
                <c:pt idx="4">
                  <c:v>為替</c:v>
                </c:pt>
                <c:pt idx="5">
                  <c:v>2026年度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rgbClr val="276CCC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2025年度</c:v>
                </c:pt>
                <c:pt idx="1">
                  <c:v>値上げ</c:v>
                </c:pt>
                <c:pt idx="2">
                  <c:v>数量減</c:v>
                </c:pt>
                <c:pt idx="3">
                  <c:v>新商品</c:v>
                </c:pt>
                <c:pt idx="4">
                  <c:v>為替</c:v>
                </c:pt>
                <c:pt idx="5">
                  <c:v>2026年度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0</c:v>
                </c:pt>
                <c:pt idx="3">
                  <c:v>12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rgbClr val="BEBFBE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1200" b="1">
                    <a:solidFill>
                      <a:srgbClr val="000000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2025年度</c:v>
                </c:pt>
                <c:pt idx="1">
                  <c:v>値上げ</c:v>
                </c:pt>
                <c:pt idx="2">
                  <c:v>数量減</c:v>
                </c:pt>
                <c:pt idx="3">
                  <c:v>新商品</c:v>
                </c:pt>
                <c:pt idx="4">
                  <c:v>為替</c:v>
                </c:pt>
                <c:pt idx="5">
                  <c:v>2026年度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15</c:v>
                </c:pt>
                <c:pt idx="3">
                  <c:v>0</c:v>
                </c:pt>
                <c:pt idx="4">
                  <c:v>7</c:v>
                </c:pt>
                <c:pt idx="5">
                  <c:v>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店舗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01F5F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10</c:v>
                </c:pt>
                <c:pt idx="1">
                  <c:v>15</c:v>
                </c:pt>
                <c:pt idx="2">
                  <c:v>22</c:v>
                </c:pt>
                <c:pt idx="3">
                  <c:v>30</c:v>
                </c:pt>
                <c:pt idx="4">
                  <c:v>35</c:v>
                </c:pt>
                <c:pt idx="5">
                  <c:v>42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28</c:v>
                </c:pt>
                <c:pt idx="2">
                  <c:v>35</c:v>
                </c:pt>
                <c:pt idx="3">
                  <c:v>41</c:v>
                </c:pt>
                <c:pt idx="4">
                  <c:v>39</c:v>
                </c:pt>
                <c:pt idx="5">
                  <c:v>55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latin typeface="Meiryo UI"/>
                    <a:ea typeface="Meiryo UI"/>
                    <a:cs typeface="Meiryo UI"/>
                  </a:rPr>
                  <a:t>広告費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latin typeface="Meiryo UI"/>
                    <a:ea typeface="Meiryo UI"/>
                    <a:cs typeface="Meiryo UI"/>
                  </a:rPr>
                  <a:t>売上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事業A</c:v>
                </c:pt>
              </c:strCache>
            </c:strRef>
          </c:tx>
          <c:spPr>
            <a:solidFill>
              <a:srgbClr val="001F5F"/>
            </a:solidFill>
          </c:spPr>
          <c:invertIfNegative val="0"/>
          <c:xVal>
            <c:numRef>
              <c:f>Sheet1!$A$2:$A$2</c:f>
              <c:numCache>
                <c:formatCode>General</c:formatCode>
                <c:ptCount val="1"/>
                <c:pt idx="0">
                  <c:v>10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60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30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事業B</c:v>
                </c:pt>
              </c:strCache>
            </c:strRef>
          </c:tx>
          <c:spPr>
            <a:solidFill>
              <a:srgbClr val="276CCC"/>
            </a:solidFill>
          </c:spPr>
          <c:invertIfNegative val="0"/>
          <c:xVal>
            <c:numRef>
              <c:f>Sheet1!$A$5:$A$5</c:f>
              <c:numCache>
                <c:formatCode>General</c:formatCode>
                <c:ptCount val="1"/>
                <c:pt idx="0">
                  <c:v>40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30</c:v>
                </c:pt>
              </c:numCache>
            </c:numRef>
          </c:yVal>
          <c:bubbleSize>
            <c:numRef>
              <c:f>Sheet1!$C$5:$C$5</c:f>
              <c:numCache>
                <c:formatCode>General</c:formatCode>
                <c:ptCount val="1"/>
                <c:pt idx="0">
                  <c:v>50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事業C</c:v>
                </c:pt>
              </c:strCache>
            </c:strRef>
          </c:tx>
          <c:spPr>
            <a:solidFill>
              <a:srgbClr val="8EB4E3"/>
            </a:solidFill>
          </c:spPr>
          <c:invertIfNegative val="0"/>
          <c:xVal>
            <c:numRef>
              <c:f>Sheet1!$A$8:$A$8</c:f>
              <c:numCache>
                <c:formatCode>General</c:formatCode>
                <c:ptCount val="1"/>
                <c:pt idx="0">
                  <c:v>70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75</c:v>
                </c:pt>
              </c:numCache>
            </c:numRef>
          </c:yVal>
          <c:bubbleSize>
            <c:numRef>
              <c:f>Sheet1!$C$8:$C$8</c:f>
              <c:numCache>
                <c:formatCode>General</c:formatCode>
                <c:ptCount val="1"/>
                <c:pt idx="0">
                  <c:v>20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latin typeface="Meiryo UI"/>
                    <a:ea typeface="Meiryo UI"/>
                    <a:cs typeface="Meiryo UI"/>
                  </a:rPr>
                  <a:t>成長率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latin typeface="Meiryo UI"/>
                    <a:ea typeface="Meiryo UI"/>
                    <a:cs typeface="Meiryo UI"/>
                  </a:rPr>
                  <a:t>利益率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57200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今年</c:v>
                </c:pt>
              </c:strCache>
            </c:strRef>
          </c:tx>
          <c:spPr>
            <a:ln w="28575">
              <a:solidFill>
                <a:srgbClr val="001F5F"/>
              </a:solidFill>
            </a:ln>
          </c:spPr>
          <c:marker>
            <c:spPr>
              <a:solidFill>
                <a:srgbClr val="001F5F"/>
              </a:solidFill>
              <a:ln>
                <a:solidFill>
                  <a:srgbClr val="001F5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92</c:v>
                </c:pt>
                <c:pt idx="2">
                  <c:v>88</c:v>
                </c:pt>
                <c:pt idx="3">
                  <c:v>105</c:v>
                </c:pt>
                <c:pt idx="4">
                  <c:v>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昨年</c:v>
                </c:pt>
              </c:strCache>
            </c:strRef>
          </c:tx>
          <c:spPr>
            <a:ln w="28575">
              <a:solidFill>
                <a:srgbClr val="276CCC"/>
              </a:solidFill>
            </a:ln>
          </c:spPr>
          <c:marker>
            <c:spPr>
              <a:solidFill>
                <a:srgbClr val="276CCC"/>
              </a:solidFill>
              <a:ln>
                <a:solidFill>
                  <a:srgbClr val="276CC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78</c:v>
                </c:pt>
                <c:pt idx="2">
                  <c:v>82</c:v>
                </c:pt>
                <c:pt idx="3">
                  <c:v>85</c:v>
                </c:pt>
                <c:pt idx="4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利用者数</c:v>
                </c:pt>
              </c:strCache>
            </c:strRef>
          </c:tx>
          <c:spPr>
            <a:solidFill>
              <a:srgbClr val="001F5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260</c:v>
                </c:pt>
                <c:pt idx="3">
                  <c:v>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紙</c:v>
                </c:pt>
              </c:strCache>
            </c:strRef>
          </c:tx>
          <c:spPr>
            <a:solidFill>
              <a:srgbClr val="001F5F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40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電子</c:v>
                </c:pt>
              </c:strCache>
            </c:strRef>
          </c:tx>
          <c:spPr>
            <a:solidFill>
              <a:srgbClr val="276CCC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60</c:v>
                </c:pt>
                <c:pt idx="2">
                  <c:v>85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A案</c:v>
                </c:pt>
              </c:strCache>
            </c:strRef>
          </c:tx>
          <c:spPr>
            <a:ln w="28575">
              <a:solidFill>
                <a:srgbClr val="001F5F"/>
              </a:solidFill>
            </a:ln>
          </c:spPr>
          <c:marker>
            <c:spPr>
              <a:solidFill>
                <a:srgbClr val="001F5F"/>
              </a:solidFill>
              <a:ln>
                <a:solidFill>
                  <a:srgbClr val="001F5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費用</c:v>
                </c:pt>
                <c:pt idx="1">
                  <c:v>品質</c:v>
                </c:pt>
                <c:pt idx="2">
                  <c:v>速度</c:v>
                </c:pt>
                <c:pt idx="3">
                  <c:v>拡張性</c:v>
                </c:pt>
                <c:pt idx="4">
                  <c:v>保守性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</c:v>
                </c:pt>
              </c:strCache>
            </c:strRef>
          </c:tx>
          <c:spPr>
            <a:ln w="28575">
              <a:solidFill>
                <a:srgbClr val="276CCC"/>
              </a:solidFill>
            </a:ln>
          </c:spPr>
          <c:marker>
            <c:spPr>
              <a:solidFill>
                <a:srgbClr val="276CCC"/>
              </a:solidFill>
              <a:ln>
                <a:solidFill>
                  <a:srgbClr val="276CC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費用</c:v>
                </c:pt>
                <c:pt idx="1">
                  <c:v>品質</c:v>
                </c:pt>
                <c:pt idx="2">
                  <c:v>速度</c:v>
                </c:pt>
                <c:pt idx="3">
                  <c:v>拡張性</c:v>
                </c:pt>
                <c:pt idx="4">
                  <c:v>保守性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cross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月間利用者</c:v>
                </c:pt>
              </c:strCache>
            </c:strRef>
          </c:tx>
          <c:spPr>
            <a:ln w="28575">
              <a:solidFill>
                <a:srgbClr val="276CC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72</c:v>
                </c:pt>
                <c:pt idx="2">
                  <c:v>80</c:v>
                </c:pt>
                <c:pt idx="3">
                  <c:v>95</c:v>
                </c:pt>
                <c:pt idx="4">
                  <c:v>110</c:v>
                </c:pt>
                <c:pt idx="5">
                  <c:v>120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平均処理日数</c:v>
                </c:pt>
              </c:strCache>
            </c:strRef>
          </c:tx>
          <c:spPr>
            <a:ln w="28575">
              <a:solidFill>
                <a:srgbClr val="276CC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</c:v>
                </c:pt>
                <c:pt idx="1">
                  <c:v>4.8</c:v>
                </c:pt>
                <c:pt idx="2">
                  <c:v>4.0</c:v>
                </c:pt>
                <c:pt idx="3">
                  <c:v>3.6</c:v>
                </c:pt>
                <c:pt idx="4">
                  <c:v>3.4</c:v>
                </c:pt>
                <c:pt idx="5">
                  <c:v>3.2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累計投資</c:v>
                </c:pt>
              </c:strCache>
            </c:strRef>
          </c:tx>
          <c:spPr>
            <a:ln w="28575">
              <a:solidFill>
                <a:srgbClr val="001F5F"/>
              </a:solidFill>
            </a:ln>
          </c:spPr>
          <c:marker>
            <c:spPr>
              <a:solidFill>
                <a:srgbClr val="001F5F"/>
              </a:solidFill>
              <a:ln>
                <a:solidFill>
                  <a:srgbClr val="001F5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1500</c:v>
                </c:pt>
                <c:pt idx="1">
                  <c:v>2000</c:v>
                </c:pt>
                <c:pt idx="2">
                  <c:v>2300</c:v>
                </c:pt>
                <c:pt idx="3">
                  <c:v>2600</c:v>
                </c:pt>
                <c:pt idx="4">
                  <c:v>2900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累計効果</c:v>
                </c:pt>
              </c:strCache>
            </c:strRef>
          </c:tx>
          <c:spPr>
            <a:ln w="28575">
              <a:solidFill>
                <a:srgbClr val="276CCC"/>
              </a:solidFill>
            </a:ln>
          </c:spPr>
          <c:marker>
            <c:spPr>
              <a:solidFill>
                <a:srgbClr val="276CCC"/>
              </a:solidFill>
              <a:ln>
                <a:solidFill>
                  <a:srgbClr val="276CC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200</c:v>
                </c:pt>
                <c:pt idx="1">
                  <c:v>1000</c:v>
                </c:pt>
                <c:pt idx="2">
                  <c:v>1900</c:v>
                </c:pt>
                <c:pt idx="3">
                  <c:v>2800</c:v>
                </c:pt>
                <c:pt idx="4">
                  <c:v>3700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そう思う</c:v>
                </c:pt>
              </c:strCache>
            </c:strRef>
          </c:tx>
          <c:spPr>
            <a:solidFill>
              <a:srgbClr val="001F5F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操作は分かりやすい</c:v>
                </c:pt>
                <c:pt idx="1">
                  <c:v>処理が速い</c:v>
                </c:pt>
                <c:pt idx="2">
                  <c:v>また使いたい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ややそう思う</c:v>
                </c:pt>
              </c:strCache>
            </c:strRef>
          </c:tx>
          <c:spPr>
            <a:solidFill>
              <a:srgbClr val="276CCC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操作は分かりやすい</c:v>
                </c:pt>
                <c:pt idx="1">
                  <c:v>処理が速い</c:v>
                </c:pt>
                <c:pt idx="2">
                  <c:v>また使いたい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どちらでもない</c:v>
                </c:pt>
              </c:strCache>
            </c:strRef>
          </c:tx>
          <c:spPr>
            <a:solidFill>
              <a:srgbClr val="D8D9D8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操作は分かりやすい</c:v>
                </c:pt>
                <c:pt idx="1">
                  <c:v>処理が速い</c:v>
                </c:pt>
                <c:pt idx="2">
                  <c:v>また使いたい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あまりそう思わない</c:v>
                </c:pt>
              </c:strCache>
            </c:strRef>
          </c:tx>
          <c:spPr>
            <a:solidFill>
              <a:srgbClr val="BEBFBE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操作は分かりやすい</c:v>
                </c:pt>
                <c:pt idx="1">
                  <c:v>処理が速い</c:v>
                </c:pt>
                <c:pt idx="2">
                  <c:v>また使いたい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そう思わない</c:v>
                </c:pt>
              </c:strCache>
            </c:strRef>
          </c:tx>
          <c:spPr>
            <a:solidFill>
              <a:srgbClr val="7E7F7E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操作は分かりやすい</c:v>
                </c:pt>
                <c:pt idx="1">
                  <c:v>処理が速い</c:v>
                </c:pt>
                <c:pt idx="2">
                  <c:v>また使いたい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8D9D8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部品カタログ：テキスト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テキスト部品①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numbered_list / callout / note_box / quote_box / tag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Oval 7"/>
          <p:cNvSpPr/>
          <p:nvPr/>
        </p:nvSpPr>
        <p:spPr>
          <a:xfrm>
            <a:off x="431800" y="1697566"/>
            <a:ext cx="381000" cy="3810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498600"/>
            <a:ext cx="5003800" cy="7789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現状把握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業務ヒアリングと資料調査を行う</a:t>
            </a:r>
          </a:p>
        </p:txBody>
      </p:sp>
      <p:sp>
        <p:nvSpPr>
          <p:cNvPr id="10" name="Oval 9"/>
          <p:cNvSpPr/>
          <p:nvPr/>
        </p:nvSpPr>
        <p:spPr>
          <a:xfrm>
            <a:off x="431800" y="2578100"/>
            <a:ext cx="381000" cy="3810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800" y="2379133"/>
            <a:ext cx="5003800" cy="7789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課題整理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課題を分類し、優先度を付ける</a:t>
            </a:r>
          </a:p>
        </p:txBody>
      </p:sp>
      <p:sp>
        <p:nvSpPr>
          <p:cNvPr id="12" name="Oval 11"/>
          <p:cNvSpPr/>
          <p:nvPr/>
        </p:nvSpPr>
        <p:spPr>
          <a:xfrm>
            <a:off x="431800" y="3458633"/>
            <a:ext cx="381000" cy="3810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3259666"/>
            <a:ext cx="5003800" cy="7789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方針策定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To-Be の方向性を定める</a:t>
            </a:r>
          </a:p>
        </p:txBody>
      </p:sp>
      <p:sp>
        <p:nvSpPr>
          <p:cNvPr id="14" name="Rectangular Callout 13"/>
          <p:cNvSpPr/>
          <p:nvPr/>
        </p:nvSpPr>
        <p:spPr>
          <a:xfrm>
            <a:off x="939800" y="4419600"/>
            <a:ext cx="3302000" cy="635000"/>
          </a:xfrm>
          <a:prstGeom prst="wedgeRectCallout">
            <a:avLst>
              <a:gd name="adj1" fmla="val -57692"/>
              <a:gd name="adj2" fmla="val 90000"/>
            </a:avLst>
          </a:prstGeom>
          <a:solidFill>
            <a:srgbClr val="D5E2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ここが最重要ポイント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1498600"/>
            <a:ext cx="5511800" cy="1524000"/>
          </a:xfrm>
          <a:prstGeom prst="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0000" y="1600200"/>
            <a:ext cx="4826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補足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1905000"/>
            <a:ext cx="5308600" cy="1041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対象は本社部門のみ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子会社は次年度に実施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400" y="3225800"/>
            <a:ext cx="5511800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400" y="3225800"/>
            <a:ext cx="63500" cy="1397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:quote"/>
          <p:cNvSpPr txBox="1"/>
          <p:nvPr/>
        </p:nvSpPr>
        <p:spPr>
          <a:xfrm>
            <a:off x="6400800" y="3251200"/>
            <a:ext cx="508000" cy="508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3600" b="1">
                <a:solidFill>
                  <a:srgbClr val="8EB4E3"/>
                </a:solidFill>
                <a:latin typeface="Meiryo UI"/>
                <a:ea typeface="Meiryo UI"/>
                <a:cs typeface="Meiryo UI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7200" y="3352800"/>
            <a:ext cx="4800600" cy="889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月末は集計作業に追われ、分析まで手が回らない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7200" y="4292600"/>
            <a:ext cx="48006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― 経理部 担当者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4927600"/>
            <a:ext cx="78994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primary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9940" y="4927600"/>
            <a:ext cx="454659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mid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6200" y="4927600"/>
            <a:ext cx="53848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6280" y="4927600"/>
            <a:ext cx="78994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outline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27820" y="4927600"/>
            <a:ext cx="53848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gray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67900" y="4927600"/>
            <a:ext cx="6223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alert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8400" y="5486400"/>
            <a:ext cx="127000" cy="127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3500" y="5435600"/>
            <a:ext cx="3810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自社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21500" y="5486400"/>
            <a:ext cx="127000" cy="127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5435600"/>
            <a:ext cx="5207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委託先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34300" y="5486400"/>
            <a:ext cx="127000" cy="127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9400" y="5435600"/>
            <a:ext cx="3810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</a:t>
            </a:r>
          </a:p>
        </p:txBody>
      </p:sp>
      <p:sp>
        <p:nvSpPr>
          <p:cNvPr id="35" name="Oval 34"/>
          <p:cNvSpPr/>
          <p:nvPr/>
        </p:nvSpPr>
        <p:spPr>
          <a:xfrm>
            <a:off x="6248400" y="5816600"/>
            <a:ext cx="304800" cy="3048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6629400" y="5816600"/>
            <a:ext cx="304800" cy="304800"/>
          </a:xfrm>
          <a:prstGeom prst="ellips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7010400" y="5816600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部品カタログ：テキスト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テキスト部品②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statement / qa_list / definition_list / checklist / ref_tag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chrome:ref_tag"/>
          <p:cNvSpPr/>
          <p:nvPr/>
        </p:nvSpPr>
        <p:spPr>
          <a:xfrm>
            <a:off x="10795000" y="406400"/>
            <a:ext cx="11430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参考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64640" y="1498600"/>
            <a:ext cx="9062720" cy="0"/>
          </a:xfrm>
          <a:prstGeom prst="line">
            <a:avLst/>
          </a:prstGeom>
          <a:ln w="19050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64640" y="2935287"/>
            <a:ext cx="9062720" cy="0"/>
          </a:xfrm>
          <a:prstGeom prst="line">
            <a:avLst/>
          </a:prstGeom>
          <a:ln w="19050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800" y="1574800"/>
            <a:ext cx="11328400" cy="90328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データに基づく意思決定を、全社の標準にする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2478087"/>
            <a:ext cx="11328400" cy="355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2027年度 情報システム部 方針</a:t>
            </a:r>
          </a:p>
        </p:txBody>
      </p:sp>
      <p:sp>
        <p:nvSpPr>
          <p:cNvPr id="13" name="Oval 12"/>
          <p:cNvSpPr/>
          <p:nvPr/>
        </p:nvSpPr>
        <p:spPr>
          <a:xfrm>
            <a:off x="431800" y="3138487"/>
            <a:ext cx="304800" cy="3048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138487"/>
            <a:ext cx="3412564" cy="3079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移行中も旧システムは使えるか</a:t>
            </a:r>
          </a:p>
        </p:txBody>
      </p:sp>
      <p:sp>
        <p:nvSpPr>
          <p:cNvPr id="15" name="Oval 14"/>
          <p:cNvSpPr/>
          <p:nvPr/>
        </p:nvSpPr>
        <p:spPr>
          <a:xfrm>
            <a:off x="431800" y="3497262"/>
            <a:ext cx="304800" cy="304800"/>
          </a:xfrm>
          <a:prstGeom prst="ellips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497262"/>
            <a:ext cx="3412564" cy="1158081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並行稼働期間を3か月設ける</a:t>
            </a:r>
          </a:p>
        </p:txBody>
      </p:sp>
      <p:sp>
        <p:nvSpPr>
          <p:cNvPr id="17" name="Oval 16"/>
          <p:cNvSpPr/>
          <p:nvPr/>
        </p:nvSpPr>
        <p:spPr>
          <a:xfrm>
            <a:off x="431800" y="4782343"/>
            <a:ext cx="304800" cy="3048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782343"/>
            <a:ext cx="3412564" cy="3079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費用はどの部署が負担するか</a:t>
            </a:r>
          </a:p>
        </p:txBody>
      </p:sp>
      <p:sp>
        <p:nvSpPr>
          <p:cNvPr id="19" name="Oval 18"/>
          <p:cNvSpPr/>
          <p:nvPr/>
        </p:nvSpPr>
        <p:spPr>
          <a:xfrm>
            <a:off x="431800" y="5141118"/>
            <a:ext cx="304800" cy="304800"/>
          </a:xfrm>
          <a:prstGeom prst="ellips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141118"/>
            <a:ext cx="3412564" cy="1158081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全社共通費として計上する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4764" y="3138487"/>
            <a:ext cx="1145689" cy="1019704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To-Be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7454" y="3138487"/>
            <a:ext cx="2546275" cy="101970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あるべき業務の姿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50454" y="4183591"/>
            <a:ext cx="2673275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04764" y="4208991"/>
            <a:ext cx="1145689" cy="1019704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BPR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7454" y="4208991"/>
            <a:ext cx="2546275" cy="101970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業務プロセスの抜本的な見直し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50454" y="5254095"/>
            <a:ext cx="2673275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04764" y="5279495"/>
            <a:ext cx="1145689" cy="1019704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7454" y="5279495"/>
            <a:ext cx="2546275" cy="101970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概念実証。小規模な試行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50454" y="6324600"/>
            <a:ext cx="2673275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577729" y="3176587"/>
            <a:ext cx="203200" cy="20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2329" y="3125787"/>
            <a:ext cx="279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6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7929" y="3138487"/>
            <a:ext cx="2852270" cy="2984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要件定義書の承認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77729" y="3551237"/>
            <a:ext cx="203200" cy="20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2329" y="3500437"/>
            <a:ext cx="279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6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7929" y="3513137"/>
            <a:ext cx="2852270" cy="2984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予算の確保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7729" y="3925887"/>
            <a:ext cx="203200" cy="20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7929" y="3887787"/>
            <a:ext cx="2852270" cy="2984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体制の確定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7729" y="4300537"/>
            <a:ext cx="203200" cy="20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07929" y="4262437"/>
            <a:ext cx="2852270" cy="2984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ベンダー選定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部品カタログ：カード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カード部品①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card_grid（titled_box の格子） / band_heading / sub_heading / divider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1328400" cy="330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" bIns="12700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検討の3つの観点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1905000"/>
            <a:ext cx="367453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800" y="2286000"/>
            <a:ext cx="3674533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手作業を減らす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標準化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8733" y="1905000"/>
            <a:ext cx="367453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システム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8733" y="2286000"/>
            <a:ext cx="3674533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クラウド化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5666" y="1905000"/>
            <a:ext cx="367453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組織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5666" y="2286000"/>
            <a:ext cx="3674533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役割の明確化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教育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" y="4114800"/>
            <a:ext cx="127000" cy="127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013200"/>
            <a:ext cx="5334000" cy="330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補足事項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1800" y="4356100"/>
            <a:ext cx="55372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1800" y="4445000"/>
            <a:ext cx="5537200" cy="152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移行は段階的に行う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既存データはすべて移行する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23000" y="4191000"/>
            <a:ext cx="5537200" cy="0"/>
          </a:xfrm>
          <a:prstGeom prst="line">
            <a:avLst/>
          </a:prstGeom>
          <a:ln w="9525">
            <a:solidFill>
              <a:srgbClr val="7E7F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223000" y="4394200"/>
            <a:ext cx="2692400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短期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3000" y="4775200"/>
            <a:ext cx="2692400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既存運用の改善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7800" y="4394200"/>
            <a:ext cx="2692400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中長期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7800" y="4775200"/>
            <a:ext cx="2692400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新システムへの移行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部品カタログ：カード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カード部品②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point_cards / pros_cons / conclusion_bar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3674533" cy="2043545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800" y="1498600"/>
            <a:ext cx="3674533" cy="50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800" y="1625600"/>
            <a:ext cx="3420533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POINT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1879600"/>
            <a:ext cx="3420533" cy="31432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5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意思決定の迅速化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8800" y="2244725"/>
            <a:ext cx="3420533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8800" y="2320925"/>
            <a:ext cx="3420533" cy="11196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日次でKPIを確認できる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8733" y="1498600"/>
            <a:ext cx="3674533" cy="2043545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8733" y="1498600"/>
            <a:ext cx="3674533" cy="50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5733" y="1625600"/>
            <a:ext cx="3420533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POINT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5733" y="1879600"/>
            <a:ext cx="3420533" cy="31432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5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工数削減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5733" y="2244725"/>
            <a:ext cx="3420533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85733" y="2320925"/>
            <a:ext cx="3420533" cy="11196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集計作業を月40h削減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5666" y="1498600"/>
            <a:ext cx="3674533" cy="2043545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5666" y="1498600"/>
            <a:ext cx="3674533" cy="50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2666" y="1625600"/>
            <a:ext cx="3420533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POINT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2666" y="1879600"/>
            <a:ext cx="3420533" cy="31432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5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品質向上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12666" y="2244725"/>
            <a:ext cx="3420534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12666" y="2320925"/>
            <a:ext cx="3420533" cy="11196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転記ミスをゼロにする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800" y="3694545"/>
            <a:ext cx="556260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＋ メリット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800" y="4075545"/>
            <a:ext cx="5562600" cy="1476768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初期費用が低い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短期間で導入できる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7600" y="3694545"/>
            <a:ext cx="5562600" cy="381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－ デメリット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4075545"/>
            <a:ext cx="5562600" cy="1476768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カスタマイズに制約がある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月額費用が継続する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800" y="5704714"/>
            <a:ext cx="1143000" cy="594485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結論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74800" y="5704714"/>
            <a:ext cx="10185400" cy="594485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50800" bIns="50800">
            <a:noAutofit/>
          </a:bodyPr>
          <a:lstStyle/>
          <a:p>
            <a:pPr algn="l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SaaS 型の採用を推奨する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部品カタログ：カード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カード部品③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before_after / icon_rows / summary_box / exec_points / side_label / footnotes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2438400" cy="381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1879600"/>
            <a:ext cx="2438400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紙で申請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押印のため出社</a:t>
            </a:r>
          </a:p>
        </p:txBody>
      </p:sp>
      <p:sp>
        <p:nvSpPr>
          <p:cNvPr id="10" name="arrow"/>
          <p:cNvSpPr/>
          <p:nvPr/>
        </p:nvSpPr>
        <p:spPr>
          <a:xfrm>
            <a:off x="3022600" y="2273300"/>
            <a:ext cx="330200" cy="762000"/>
          </a:xfrm>
          <a:custGeom>
            <a:avLst/>
            <a:gdLst/>
            <a:ahLst/>
            <a:cxnLst/>
            <a:rect l="l" t="t" r="r" b="b"/>
            <a:pathLst>
              <a:path w="330200" h="762000">
                <a:moveTo>
                  <a:pt x="0" y="0"/>
                </a:moveTo>
                <a:lnTo>
                  <a:pt x="330200" y="381000"/>
                </a:lnTo>
                <a:lnTo>
                  <a:pt x="0" y="762000"/>
                </a:lnTo>
                <a:close/>
              </a:path>
            </a:pathLst>
          </a:cu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5200" y="1498600"/>
            <a:ext cx="243840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200" y="1879600"/>
            <a:ext cx="2438400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Web で申請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どこからでも承認</a:t>
            </a:r>
          </a:p>
        </p:txBody>
      </p:sp>
      <p:sp>
        <p:nvSpPr>
          <p:cNvPr id="13" name="Oval 12"/>
          <p:cNvSpPr/>
          <p:nvPr/>
        </p:nvSpPr>
        <p:spPr>
          <a:xfrm>
            <a:off x="431800" y="4059766"/>
            <a:ext cx="558800" cy="5588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87800"/>
            <a:ext cx="4800600" cy="7027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体制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専任3名を配置する</a:t>
            </a:r>
          </a:p>
        </p:txBody>
      </p:sp>
      <p:sp>
        <p:nvSpPr>
          <p:cNvPr id="15" name="Oval 14"/>
          <p:cNvSpPr/>
          <p:nvPr/>
        </p:nvSpPr>
        <p:spPr>
          <a:xfrm>
            <a:off x="431800" y="4864100"/>
            <a:ext cx="558800" cy="5588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92133"/>
            <a:ext cx="4800600" cy="7027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予算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初年度 2,000万円</a:t>
            </a:r>
          </a:p>
        </p:txBody>
      </p:sp>
      <p:sp>
        <p:nvSpPr>
          <p:cNvPr id="17" name="Oval 16"/>
          <p:cNvSpPr/>
          <p:nvPr/>
        </p:nvSpPr>
        <p:spPr>
          <a:xfrm>
            <a:off x="431800" y="5668433"/>
            <a:ext cx="558800" cy="5588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96466"/>
            <a:ext cx="4800600" cy="7027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期間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12か月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1625600"/>
            <a:ext cx="5511800" cy="2074333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498600"/>
            <a:ext cx="914400" cy="27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79600"/>
            <a:ext cx="5207000" cy="1718733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保守期限までに移行を完了する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SaaS を基本とし、アドオンは最小限にする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877733"/>
            <a:ext cx="381000" cy="1964266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 vert="eaVer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56400" y="3877733"/>
            <a:ext cx="457200" cy="94403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0600" y="3877733"/>
            <a:ext cx="4419600" cy="9440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移行を前倒し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2027年度中に完了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40600" y="4859866"/>
            <a:ext cx="44196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756400" y="4897966"/>
            <a:ext cx="457200" cy="94403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0600" y="4897966"/>
            <a:ext cx="4419600" cy="9440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費用を抑制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SaaS を採用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40600" y="5880100"/>
            <a:ext cx="44196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48400" y="5918200"/>
            <a:ext cx="5511800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注1：金額は税抜</a:t>
            </a:r>
          </a:p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注2：2026年10月時点の見積り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部品カタログ：補助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補助部品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text / arrow / highlight_frame / titled_box / column_header / image / grid_areas / nav_tabs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chrome:nav"/>
          <p:cNvSpPr/>
          <p:nvPr/>
        </p:nvSpPr>
        <p:spPr>
          <a:xfrm>
            <a:off x="9601200" y="63500"/>
            <a:ext cx="1270000" cy="304800"/>
          </a:xfrm>
          <a:prstGeom prst="rect">
            <a:avLst/>
          </a:prstGeom>
          <a:solidFill>
            <a:srgbClr val="D5E2FF"/>
          </a:solidFill>
          <a:ln w="19050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概要</a:t>
            </a:r>
          </a:p>
        </p:txBody>
      </p:sp>
      <p:sp>
        <p:nvSpPr>
          <p:cNvPr id="9" name="chrome:nav"/>
          <p:cNvSpPr/>
          <p:nvPr/>
        </p:nvSpPr>
        <p:spPr>
          <a:xfrm>
            <a:off x="10871200" y="63500"/>
            <a:ext cx="12700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詳細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1498600"/>
            <a:ext cx="3606800" cy="330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地の文（text）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800" y="1879600"/>
            <a:ext cx="36068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1800" y="1981200"/>
            <a:ext cx="3606800" cy="17907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箇条書きにしない説明文。</a:t>
            </a:r>
            <a:br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改行も使える。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600" y="1498600"/>
            <a:ext cx="3606800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titled_box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2600" y="1879600"/>
            <a:ext cx="3606800" cy="18923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見出し帯付きの汎用カード</a:t>
            </a:r>
          </a:p>
        </p:txBody>
      </p:sp>
      <p:sp>
        <p:nvSpPr>
          <p:cNvPr id="15" name="arrow"/>
          <p:cNvSpPr/>
          <p:nvPr/>
        </p:nvSpPr>
        <p:spPr>
          <a:xfrm>
            <a:off x="8407400" y="1879600"/>
            <a:ext cx="508000" cy="1016000"/>
          </a:xfrm>
          <a:custGeom>
            <a:avLst/>
            <a:gdLst/>
            <a:ahLst/>
            <a:cxnLst/>
            <a:rect l="l" t="t" r="r" b="b"/>
            <a:pathLst>
              <a:path w="508000" h="1016000">
                <a:moveTo>
                  <a:pt x="0" y="0"/>
                </a:moveTo>
                <a:lnTo>
                  <a:pt x="508000" y="508000"/>
                </a:lnTo>
                <a:lnTo>
                  <a:pt x="0" y="1016000"/>
                </a:lnTo>
                <a:close/>
              </a:path>
            </a:pathLst>
          </a:cu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row"/>
          <p:cNvSpPr/>
          <p:nvPr/>
        </p:nvSpPr>
        <p:spPr>
          <a:xfrm>
            <a:off x="9677400" y="2006600"/>
            <a:ext cx="1016000" cy="508000"/>
          </a:xfrm>
          <a:custGeom>
            <a:avLst/>
            <a:gdLst/>
            <a:ahLst/>
            <a:cxnLst/>
            <a:rect l="l" t="t" r="r" b="b"/>
            <a:pathLst>
              <a:path w="1016000" h="508000">
                <a:moveTo>
                  <a:pt x="0" y="0"/>
                </a:moveTo>
                <a:lnTo>
                  <a:pt x="1016000" y="0"/>
                </a:lnTo>
                <a:lnTo>
                  <a:pt x="508000" y="508000"/>
                </a:lnTo>
                <a:close/>
              </a:path>
            </a:pathLst>
          </a:cu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400" y="3009900"/>
            <a:ext cx="3606800" cy="635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矢印は右・下の2方向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00" y="4406900"/>
            <a:ext cx="3352800" cy="17653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ここを強調したい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注目枠で囲む</a:t>
            </a:r>
          </a:p>
        </p:txBody>
      </p:sp>
      <p:sp>
        <p:nvSpPr>
          <p:cNvPr id="19" name="frame"/>
          <p:cNvSpPr/>
          <p:nvPr/>
        </p:nvSpPr>
        <p:spPr>
          <a:xfrm>
            <a:off x="431800" y="4330700"/>
            <a:ext cx="3606800" cy="194310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56000" y="4051300"/>
            <a:ext cx="482600" cy="25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重要</a:t>
            </a:r>
          </a:p>
        </p:txBody>
      </p:sp>
      <p:pic>
        <p:nvPicPr>
          <p:cNvPr id="21" name="Picture 20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466" y="4025900"/>
            <a:ext cx="3031066" cy="22733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53400" y="4025900"/>
            <a:ext cx="3606800" cy="22733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image_placeholder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部品カタログ：表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表部品①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comparison_table（推奨列を強調） / score_table（重み付け・合計）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11328399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36685"/>
                <a:gridCol w="2697238"/>
                <a:gridCol w="2697238"/>
                <a:gridCol w="2697238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評価項目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A案：SaaS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B案：パッケージ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C案：スクラッチ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初期費用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500万円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1,500万円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×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5,000万円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導入期間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3か月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6か月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E7F7E"/>
                          </a:solidFill>
                          <a:latin typeface="Meiryo UI"/>
                          <a:ea typeface="Meiryo UI"/>
                          <a:cs typeface="Meiryo UI"/>
                        </a:rPr>
                        <a:t>△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12か月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拡張性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E7F7E"/>
                          </a:solidFill>
                          <a:latin typeface="Meiryo UI"/>
                          <a:ea typeface="Meiryo UI"/>
                          <a:cs typeface="Meiryo UI"/>
                        </a:rPr>
                        <a:t>△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制約あり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アドオン可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自由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1800" y="3877733"/>
          <a:ext cx="11328396" cy="18478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54007"/>
                <a:gridCol w="1110627"/>
                <a:gridCol w="2221254"/>
                <a:gridCol w="2221254"/>
                <a:gridCol w="2221254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評価項目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重み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A案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B案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C案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費用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×2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●●●●●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●●●○○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●○○○○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期間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×1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●●●●●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●●●●○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●●○○○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機能適合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×2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●●●○○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●●●●○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●●●●●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運用負荷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×1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●●●●○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●●●○○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●●○○○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25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21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部品カタログ：表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表部品②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matrix_table / harvey_table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751180" cy="4318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領域＼期間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3780" y="1498600"/>
            <a:ext cx="2188975" cy="431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短期（〜1年）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3555" y="1498600"/>
            <a:ext cx="2188975" cy="431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中長期（〜3年）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" y="1981200"/>
            <a:ext cx="1751180" cy="2133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3780" y="1981200"/>
            <a:ext cx="2188975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手順書の整備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3555" y="1981200"/>
            <a:ext cx="2188975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業務の標準化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" y="4165600"/>
            <a:ext cx="1751180" cy="2133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システム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3780" y="4165600"/>
            <a:ext cx="2188975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既存システムの延命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3555" y="4165600"/>
            <a:ext cx="2188975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クラウドへ移行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59815" y="1498600"/>
            <a:ext cx="991128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01743" y="1498600"/>
            <a:ext cx="991128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B社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43671" y="1498600"/>
            <a:ext cx="991128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C社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330" y="1930400"/>
            <a:ext cx="1590885" cy="1092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売上管理</a:t>
            </a:r>
          </a:p>
        </p:txBody>
      </p:sp>
      <p:sp>
        <p:nvSpPr>
          <p:cNvPr id="21" name="Oval 20"/>
          <p:cNvSpPr/>
          <p:nvPr/>
        </p:nvSpPr>
        <p:spPr>
          <a:xfrm>
            <a:off x="9015679" y="23368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15679" y="2336800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7607" y="23368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10057607" y="2336800"/>
            <a:ext cx="279400" cy="27940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99535" y="23368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1099535" y="2336800"/>
            <a:ext cx="279400" cy="2794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967330" y="3022600"/>
            <a:ext cx="479287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67330" y="3022600"/>
            <a:ext cx="1590885" cy="1092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在庫管理</a:t>
            </a:r>
          </a:p>
        </p:txBody>
      </p:sp>
      <p:sp>
        <p:nvSpPr>
          <p:cNvPr id="29" name="Oval 28"/>
          <p:cNvSpPr/>
          <p:nvPr/>
        </p:nvSpPr>
        <p:spPr>
          <a:xfrm>
            <a:off x="9015679" y="34290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ie 29"/>
          <p:cNvSpPr/>
          <p:nvPr/>
        </p:nvSpPr>
        <p:spPr>
          <a:xfrm>
            <a:off x="9015679" y="3429000"/>
            <a:ext cx="279400" cy="27940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7607" y="34290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7607" y="3429000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99535" y="34290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ie 33"/>
          <p:cNvSpPr/>
          <p:nvPr/>
        </p:nvSpPr>
        <p:spPr>
          <a:xfrm>
            <a:off x="11099535" y="3429000"/>
            <a:ext cx="279400" cy="2794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967330" y="4114800"/>
            <a:ext cx="479287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67330" y="4114800"/>
            <a:ext cx="1590885" cy="1092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会計連携</a:t>
            </a:r>
          </a:p>
        </p:txBody>
      </p:sp>
      <p:sp>
        <p:nvSpPr>
          <p:cNvPr id="37" name="Oval 36"/>
          <p:cNvSpPr/>
          <p:nvPr/>
        </p:nvSpPr>
        <p:spPr>
          <a:xfrm>
            <a:off x="9015679" y="45212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ie 37"/>
          <p:cNvSpPr/>
          <p:nvPr/>
        </p:nvSpPr>
        <p:spPr>
          <a:xfrm>
            <a:off x="9015679" y="4521200"/>
            <a:ext cx="279400" cy="2794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57607" y="45212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ie 39"/>
          <p:cNvSpPr/>
          <p:nvPr/>
        </p:nvSpPr>
        <p:spPr>
          <a:xfrm>
            <a:off x="10057607" y="4521200"/>
            <a:ext cx="279400" cy="2794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99535" y="45212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99535" y="4521200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967330" y="5207000"/>
            <a:ext cx="479287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967330" y="5207000"/>
            <a:ext cx="1590885" cy="1092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分析機能</a:t>
            </a:r>
          </a:p>
        </p:txBody>
      </p:sp>
      <p:sp>
        <p:nvSpPr>
          <p:cNvPr id="45" name="Oval 44"/>
          <p:cNvSpPr/>
          <p:nvPr/>
        </p:nvSpPr>
        <p:spPr>
          <a:xfrm>
            <a:off x="9015679" y="56134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ie 45"/>
          <p:cNvSpPr/>
          <p:nvPr/>
        </p:nvSpPr>
        <p:spPr>
          <a:xfrm>
            <a:off x="9015679" y="5613400"/>
            <a:ext cx="279400" cy="2794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7607" y="56134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ie 47"/>
          <p:cNvSpPr/>
          <p:nvPr/>
        </p:nvSpPr>
        <p:spPr>
          <a:xfrm>
            <a:off x="10057607" y="5613400"/>
            <a:ext cx="279400" cy="27940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99535" y="5613400"/>
            <a:ext cx="279400" cy="279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ie 49"/>
          <p:cNvSpPr/>
          <p:nvPr/>
        </p:nvSpPr>
        <p:spPr>
          <a:xfrm>
            <a:off x="11099535" y="5613400"/>
            <a:ext cx="279400" cy="27940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6967330" y="6299200"/>
            <a:ext cx="479287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部品カタログ：表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表部品③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raci_table / key_value_table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6012871" cy="18478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54827"/>
                <a:gridCol w="939511"/>
                <a:gridCol w="939511"/>
                <a:gridCol w="939511"/>
                <a:gridCol w="939511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タスク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情シス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業務部門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ベンダー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経営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要件定義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R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I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ベンダー選定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R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開発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I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R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受入テスト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R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展開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R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R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I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49472" y="1498600"/>
          <a:ext cx="5010726" cy="1590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03003"/>
                <a:gridCol w="3607723"/>
              </a:tblGrid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案件名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業務システム刷新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期間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2026年9月〜2027年3月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体制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165100" indent="-165100">
                        <a:buFont typeface="Arial"/>
                        <a:buChar char="•"/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PM 1名</a:t>
                      </a:r>
                    </a:p>
                    <a:p>
                      <a:pPr algn="l" marL="165100" indent="-165100">
                        <a:buFont typeface="Arial"/>
                        <a:buChar char="•"/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メンバー 3名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予算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2,000万円（税抜）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部品カタログ：表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表部品④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heatmap_table / status_table / check_table / highlight_table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5537198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35570"/>
                <a:gridCol w="1025407"/>
                <a:gridCol w="1025407"/>
                <a:gridCol w="1025407"/>
                <a:gridCol w="1025407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4月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5月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6月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7月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東日本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120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8EB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135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180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中日本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80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95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90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110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8EB4E3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西日本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60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70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85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140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000" y="1498600"/>
          <a:ext cx="5537198" cy="153987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36761"/>
                <a:gridCol w="1582057"/>
                <a:gridCol w="1318380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タスク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状況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要件定義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情シス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完了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ベンダー選定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情シス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進行中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データ移行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業務部門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遅延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教育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人事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未着手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1800" y="3987800"/>
          <a:ext cx="5537199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5982"/>
                <a:gridCol w="1203739"/>
                <a:gridCol w="1203739"/>
                <a:gridCol w="1203739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本社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支社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子会社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申請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承認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集計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一部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23000" y="3987800"/>
          <a:ext cx="5537198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74294"/>
                <a:gridCol w="2914315"/>
                <a:gridCol w="1748589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順位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部署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削減時間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経理部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18h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営業部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12h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総務部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6h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部品カタログ：フロー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chevron_row / flow_boxes / vertical_steps / ipo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Pentagon 7"/>
          <p:cNvSpPr/>
          <p:nvPr/>
        </p:nvSpPr>
        <p:spPr>
          <a:xfrm>
            <a:off x="431800" y="1498600"/>
            <a:ext cx="2946400" cy="508000"/>
          </a:xfrm>
          <a:prstGeom prst="homePlate">
            <a:avLst>
              <a:gd name="adj" fmla="val 30000"/>
            </a:avLst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現状調査</a:t>
            </a:r>
          </a:p>
        </p:txBody>
      </p:sp>
      <p:sp>
        <p:nvSpPr>
          <p:cNvPr id="9" name="Chevron 8"/>
          <p:cNvSpPr/>
          <p:nvPr/>
        </p:nvSpPr>
        <p:spPr>
          <a:xfrm>
            <a:off x="3276600" y="1498600"/>
            <a:ext cx="2946400" cy="5080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" bIns="127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課題整理</a:t>
            </a:r>
          </a:p>
        </p:txBody>
      </p:sp>
      <p:sp>
        <p:nvSpPr>
          <p:cNvPr id="10" name="Chevron 9"/>
          <p:cNvSpPr/>
          <p:nvPr/>
        </p:nvSpPr>
        <p:spPr>
          <a:xfrm>
            <a:off x="6121400" y="1498600"/>
            <a:ext cx="2946400" cy="508000"/>
          </a:xfrm>
          <a:prstGeom prst="chevron">
            <a:avLst>
              <a:gd name="adj" fmla="val 30000"/>
            </a:avLst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" bIns="127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方針策定</a:t>
            </a:r>
          </a:p>
        </p:txBody>
      </p:sp>
      <p:sp>
        <p:nvSpPr>
          <p:cNvPr id="11" name="Chevron 10"/>
          <p:cNvSpPr/>
          <p:nvPr/>
        </p:nvSpPr>
        <p:spPr>
          <a:xfrm>
            <a:off x="8966200" y="1498600"/>
            <a:ext cx="2794000" cy="508000"/>
          </a:xfrm>
          <a:prstGeom prst="chevron">
            <a:avLst>
              <a:gd name="adj" fmla="val 30000"/>
            </a:avLst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" bIns="127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計画策定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" y="2184400"/>
            <a:ext cx="2508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申請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Webフォーム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2990850" y="2565400"/>
            <a:ext cx="330200" cy="0"/>
          </a:xfrm>
          <a:prstGeom prst="line">
            <a:avLst/>
          </a:prstGeom>
          <a:ln w="254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71850" y="2184400"/>
            <a:ext cx="2508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一次承認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課長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5930900" y="2565400"/>
            <a:ext cx="330200" cy="0"/>
          </a:xfrm>
          <a:prstGeom prst="line">
            <a:avLst/>
          </a:prstGeom>
          <a:ln w="254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11900" y="2184400"/>
            <a:ext cx="2508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二次承認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部長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8870950" y="2565400"/>
            <a:ext cx="330200" cy="0"/>
          </a:xfrm>
          <a:prstGeom prst="line">
            <a:avLst/>
          </a:prstGeom>
          <a:ln w="254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51950" y="2184400"/>
            <a:ext cx="2508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処理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経理部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5000" y="3649133"/>
            <a:ext cx="0" cy="2150533"/>
          </a:xfrm>
          <a:prstGeom prst="line">
            <a:avLst/>
          </a:prstGeom>
          <a:ln w="254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31800" y="3445933"/>
            <a:ext cx="406400" cy="406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4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149600"/>
            <a:ext cx="3681046" cy="9990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キックオフ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体制と進め方の合意</a:t>
            </a:r>
          </a:p>
        </p:txBody>
      </p:sp>
      <p:sp>
        <p:nvSpPr>
          <p:cNvPr id="22" name="Oval 21"/>
          <p:cNvSpPr/>
          <p:nvPr/>
        </p:nvSpPr>
        <p:spPr>
          <a:xfrm>
            <a:off x="431800" y="4521200"/>
            <a:ext cx="406400" cy="406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4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4224866"/>
            <a:ext cx="3681046" cy="9990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ヒアリング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全8部署</a:t>
            </a:r>
          </a:p>
        </p:txBody>
      </p:sp>
      <p:sp>
        <p:nvSpPr>
          <p:cNvPr id="24" name="Oval 23"/>
          <p:cNvSpPr/>
          <p:nvPr/>
        </p:nvSpPr>
        <p:spPr>
          <a:xfrm>
            <a:off x="431800" y="5596466"/>
            <a:ext cx="406400" cy="406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4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5300133"/>
            <a:ext cx="3681046" cy="9990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報告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経営会議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76446" y="3149600"/>
            <a:ext cx="1802423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6446" y="3530600"/>
            <a:ext cx="1802423" cy="276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売上データ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在庫データ</a:t>
            </a:r>
          </a:p>
        </p:txBody>
      </p:sp>
      <p:sp>
        <p:nvSpPr>
          <p:cNvPr id="28" name="arrow"/>
          <p:cNvSpPr/>
          <p:nvPr/>
        </p:nvSpPr>
        <p:spPr>
          <a:xfrm>
            <a:off x="6905869" y="4394200"/>
            <a:ext cx="254000" cy="660400"/>
          </a:xfrm>
          <a:custGeom>
            <a:avLst/>
            <a:gdLst/>
            <a:ahLst/>
            <a:cxnLst/>
            <a:rect l="l" t="t" r="r" b="b"/>
            <a:pathLst>
              <a:path w="254000" h="660400">
                <a:moveTo>
                  <a:pt x="0" y="0"/>
                </a:moveTo>
                <a:lnTo>
                  <a:pt x="254000" y="330200"/>
                </a:lnTo>
                <a:lnTo>
                  <a:pt x="0" y="660400"/>
                </a:lnTo>
                <a:close/>
              </a:path>
            </a:pathLst>
          </a:cu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86869" y="3149600"/>
            <a:ext cx="2162907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Process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86869" y="3530600"/>
            <a:ext cx="2162907" cy="276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集計・突合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異常値の検出</a:t>
            </a:r>
          </a:p>
        </p:txBody>
      </p:sp>
      <p:sp>
        <p:nvSpPr>
          <p:cNvPr id="31" name="arrow"/>
          <p:cNvSpPr/>
          <p:nvPr/>
        </p:nvSpPr>
        <p:spPr>
          <a:xfrm>
            <a:off x="9576776" y="4394200"/>
            <a:ext cx="254000" cy="660400"/>
          </a:xfrm>
          <a:custGeom>
            <a:avLst/>
            <a:gdLst/>
            <a:ahLst/>
            <a:cxnLst/>
            <a:rect l="l" t="t" r="r" b="b"/>
            <a:pathLst>
              <a:path w="254000" h="660400">
                <a:moveTo>
                  <a:pt x="0" y="0"/>
                </a:moveTo>
                <a:lnTo>
                  <a:pt x="254000" y="330200"/>
                </a:lnTo>
                <a:lnTo>
                  <a:pt x="0" y="660400"/>
                </a:lnTo>
                <a:close/>
              </a:path>
            </a:pathLst>
          </a:cu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57776" y="3149600"/>
            <a:ext cx="1802423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7776" y="3530600"/>
            <a:ext cx="1802423" cy="2768600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月次レポート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アラート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部品カタログ：フロー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swimlane（担当別の業務フロー）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1651000" y="1498600"/>
            <a:ext cx="197612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準備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7920" y="1498600"/>
            <a:ext cx="197612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申請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04840" y="1498600"/>
            <a:ext cx="197612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1759" y="1498600"/>
            <a:ext cx="197612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承認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58680" y="1498600"/>
            <a:ext cx="197612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処理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" y="1866900"/>
            <a:ext cx="1143000" cy="1456266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申請者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5600" y="1866900"/>
            <a:ext cx="10134600" cy="1456266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800" y="3348566"/>
            <a:ext cx="1143000" cy="1456266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上長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5600" y="3348566"/>
            <a:ext cx="10134600" cy="14562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800" y="4830233"/>
            <a:ext cx="1143000" cy="1456266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経理部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5600" y="4830233"/>
            <a:ext cx="10134600" cy="1456266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652520" y="1854200"/>
            <a:ext cx="0" cy="44450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79440" y="1854200"/>
            <a:ext cx="0" cy="44450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06359" y="1854200"/>
            <a:ext cx="0" cy="44450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33280" y="1854200"/>
            <a:ext cx="0" cy="44450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828291" y="2315633"/>
            <a:ext cx="1621536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申請書を作成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5212" y="2315633"/>
            <a:ext cx="1621536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申請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2132" y="3797300"/>
            <a:ext cx="1621536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内容を確認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052" y="3797300"/>
            <a:ext cx="1621536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承認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5972" y="5278966"/>
            <a:ext cx="1621536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支払処理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052" y="2315633"/>
            <a:ext cx="1621536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差戻し対応</a:t>
            </a:r>
          </a:p>
        </p:txBody>
      </p:sp>
      <p:cxnSp>
        <p:nvCxnSpPr>
          <p:cNvPr id="29" name="arrow"/>
          <p:cNvCxnSpPr/>
          <p:nvPr/>
        </p:nvCxnSpPr>
        <p:spPr>
          <a:xfrm>
            <a:off x="3449828" y="2595033"/>
            <a:ext cx="405384" cy="0"/>
          </a:xfrm>
          <a:prstGeom prst="line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rrow"/>
          <p:cNvCxnSpPr/>
          <p:nvPr/>
        </p:nvCxnSpPr>
        <p:spPr>
          <a:xfrm>
            <a:off x="5476748" y="2595033"/>
            <a:ext cx="405384" cy="1481667"/>
          </a:xfrm>
          <a:prstGeom prst="bentConnector3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rrow"/>
          <p:cNvCxnSpPr/>
          <p:nvPr/>
        </p:nvCxnSpPr>
        <p:spPr>
          <a:xfrm>
            <a:off x="7503667" y="4076700"/>
            <a:ext cx="405385" cy="0"/>
          </a:xfrm>
          <a:prstGeom prst="line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rrow"/>
          <p:cNvCxnSpPr/>
          <p:nvPr/>
        </p:nvCxnSpPr>
        <p:spPr>
          <a:xfrm>
            <a:off x="9530588" y="4076700"/>
            <a:ext cx="405384" cy="1481666"/>
          </a:xfrm>
          <a:prstGeom prst="bentConnector3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rrow"/>
          <p:cNvCxnSpPr/>
          <p:nvPr/>
        </p:nvCxnSpPr>
        <p:spPr>
          <a:xfrm flipV="1">
            <a:off x="7503667" y="2595033"/>
            <a:ext cx="405385" cy="1481667"/>
          </a:xfrm>
          <a:prstGeom prst="bentConnector3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部品カタログ：フロー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フロー部品③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cycle / funnel / pyramid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cxnSp>
        <p:nvCxnSpPr>
          <p:cNvPr id="8" name="arrow"/>
          <p:cNvCxnSpPr/>
          <p:nvPr/>
        </p:nvCxnSpPr>
        <p:spPr>
          <a:xfrm>
            <a:off x="2440942" y="3316794"/>
            <a:ext cx="149257" cy="149257"/>
          </a:xfrm>
          <a:prstGeom prst="line">
            <a:avLst/>
          </a:prstGeom>
          <a:ln w="38100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"/>
          <p:cNvCxnSpPr/>
          <p:nvPr/>
        </p:nvCxnSpPr>
        <p:spPr>
          <a:xfrm flipH="1">
            <a:off x="2440942" y="4331748"/>
            <a:ext cx="149257" cy="149257"/>
          </a:xfrm>
          <a:prstGeom prst="line">
            <a:avLst/>
          </a:prstGeom>
          <a:ln w="38100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"/>
          <p:cNvCxnSpPr/>
          <p:nvPr/>
        </p:nvCxnSpPr>
        <p:spPr>
          <a:xfrm flipH="1" flipV="1">
            <a:off x="1425988" y="4331748"/>
            <a:ext cx="149257" cy="149257"/>
          </a:xfrm>
          <a:prstGeom prst="line">
            <a:avLst/>
          </a:prstGeom>
          <a:ln w="38100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"/>
          <p:cNvCxnSpPr/>
          <p:nvPr/>
        </p:nvCxnSpPr>
        <p:spPr>
          <a:xfrm flipV="1">
            <a:off x="1425988" y="3316794"/>
            <a:ext cx="149257" cy="149257"/>
          </a:xfrm>
          <a:prstGeom prst="line">
            <a:avLst/>
          </a:prstGeom>
          <a:ln w="38100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56080" y="3546885"/>
            <a:ext cx="704028" cy="704028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6880" y="3597685"/>
            <a:ext cx="602428" cy="60242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継続的改善</a:t>
            </a:r>
          </a:p>
        </p:txBody>
      </p:sp>
      <p:sp>
        <p:nvSpPr>
          <p:cNvPr id="14" name="Oval 13"/>
          <p:cNvSpPr/>
          <p:nvPr/>
        </p:nvSpPr>
        <p:spPr>
          <a:xfrm>
            <a:off x="1472154" y="2348005"/>
            <a:ext cx="1071880" cy="107188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Plan</a:t>
            </a:r>
          </a:p>
        </p:txBody>
      </p:sp>
      <p:sp>
        <p:nvSpPr>
          <p:cNvPr id="15" name="Oval 14"/>
          <p:cNvSpPr/>
          <p:nvPr/>
        </p:nvSpPr>
        <p:spPr>
          <a:xfrm>
            <a:off x="2487108" y="3362960"/>
            <a:ext cx="1071880" cy="1071880"/>
          </a:xfrm>
          <a:prstGeom prst="ellips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Do</a:t>
            </a:r>
          </a:p>
        </p:txBody>
      </p:sp>
      <p:sp>
        <p:nvSpPr>
          <p:cNvPr id="16" name="Oval 15"/>
          <p:cNvSpPr/>
          <p:nvPr/>
        </p:nvSpPr>
        <p:spPr>
          <a:xfrm>
            <a:off x="1472154" y="4377914"/>
            <a:ext cx="1071880" cy="107188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Check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362960"/>
            <a:ext cx="1071880" cy="1071880"/>
          </a:xfrm>
          <a:prstGeom prst="ellips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Act</a:t>
            </a:r>
          </a:p>
        </p:txBody>
      </p:sp>
      <p:sp>
        <p:nvSpPr>
          <p:cNvPr id="18" name="Freeform 17"/>
          <p:cNvSpPr/>
          <p:nvPr/>
        </p:nvSpPr>
        <p:spPr>
          <a:xfrm>
            <a:off x="3889188" y="1498600"/>
            <a:ext cx="3152588" cy="1162050"/>
          </a:xfrm>
          <a:custGeom>
            <a:avLst/>
            <a:gdLst/>
            <a:ahLst/>
            <a:cxnLst/>
            <a:rect l="l" t="t" r="r" b="b"/>
            <a:pathLst>
              <a:path w="3152588" h="1162050">
                <a:moveTo>
                  <a:pt x="0" y="0"/>
                </a:moveTo>
                <a:lnTo>
                  <a:pt x="3152588" y="0"/>
                </a:lnTo>
                <a:lnTo>
                  <a:pt x="2896440" y="1162050"/>
                </a:lnTo>
                <a:lnTo>
                  <a:pt x="256148" y="116205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0229" rIns="340229" tIns="12700" bIns="12700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認知　</a:t>
            </a:r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10,000</a:t>
            </a:r>
          </a:p>
        </p:txBody>
      </p:sp>
      <p:sp>
        <p:nvSpPr>
          <p:cNvPr id="19" name="Freeform 18"/>
          <p:cNvSpPr/>
          <p:nvPr/>
        </p:nvSpPr>
        <p:spPr>
          <a:xfrm>
            <a:off x="4145336" y="2711450"/>
            <a:ext cx="2640292" cy="1162050"/>
          </a:xfrm>
          <a:custGeom>
            <a:avLst/>
            <a:gdLst/>
            <a:ahLst/>
            <a:cxnLst/>
            <a:rect l="l" t="t" r="r" b="b"/>
            <a:pathLst>
              <a:path w="2640292" h="1162050">
                <a:moveTo>
                  <a:pt x="0" y="0"/>
                </a:moveTo>
                <a:lnTo>
                  <a:pt x="2640292" y="0"/>
                </a:lnTo>
                <a:lnTo>
                  <a:pt x="2384144" y="1162050"/>
                </a:lnTo>
                <a:lnTo>
                  <a:pt x="256147" y="1162050"/>
                </a:lnTo>
                <a:close/>
              </a:path>
            </a:pathLst>
          </a:cu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999" rIns="288999" tIns="12700" bIns="12700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興味　</a:t>
            </a:r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3,000</a:t>
            </a:r>
          </a:p>
        </p:txBody>
      </p:sp>
      <p:sp>
        <p:nvSpPr>
          <p:cNvPr id="20" name="Freeform 19"/>
          <p:cNvSpPr/>
          <p:nvPr/>
        </p:nvSpPr>
        <p:spPr>
          <a:xfrm>
            <a:off x="4401483" y="3924300"/>
            <a:ext cx="2127997" cy="1162050"/>
          </a:xfrm>
          <a:custGeom>
            <a:avLst/>
            <a:gdLst/>
            <a:ahLst/>
            <a:cxnLst/>
            <a:rect l="l" t="t" r="r" b="b"/>
            <a:pathLst>
              <a:path w="2127997" h="1162050">
                <a:moveTo>
                  <a:pt x="0" y="0"/>
                </a:moveTo>
                <a:lnTo>
                  <a:pt x="2127997" y="0"/>
                </a:lnTo>
                <a:lnTo>
                  <a:pt x="1871850" y="1162050"/>
                </a:lnTo>
                <a:lnTo>
                  <a:pt x="256148" y="1162050"/>
                </a:lnTo>
                <a:close/>
              </a:path>
            </a:pathLst>
          </a:cu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70" rIns="237770" tIns="12700" bIns="127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検討　</a:t>
            </a:r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800</a:t>
            </a:r>
          </a:p>
        </p:txBody>
      </p:sp>
      <p:sp>
        <p:nvSpPr>
          <p:cNvPr id="21" name="Freeform 20"/>
          <p:cNvSpPr/>
          <p:nvPr/>
        </p:nvSpPr>
        <p:spPr>
          <a:xfrm>
            <a:off x="4657631" y="5137150"/>
            <a:ext cx="1615702" cy="1162050"/>
          </a:xfrm>
          <a:custGeom>
            <a:avLst/>
            <a:gdLst/>
            <a:ahLst/>
            <a:cxnLst/>
            <a:rect l="l" t="t" r="r" b="b"/>
            <a:pathLst>
              <a:path w="1615702" h="1162050">
                <a:moveTo>
                  <a:pt x="0" y="0"/>
                </a:moveTo>
                <a:lnTo>
                  <a:pt x="1615702" y="0"/>
                </a:lnTo>
                <a:lnTo>
                  <a:pt x="1359554" y="1162050"/>
                </a:lnTo>
                <a:lnTo>
                  <a:pt x="256148" y="1162050"/>
                </a:lnTo>
                <a:close/>
              </a:path>
            </a:pathLst>
          </a:cu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6540" rIns="186540" tIns="12700" bIns="127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契約　</a:t>
            </a:r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120</a:t>
            </a:r>
          </a:p>
        </p:txBody>
      </p:sp>
      <p:sp>
        <p:nvSpPr>
          <p:cNvPr id="22" name="Freeform 21"/>
          <p:cNvSpPr/>
          <p:nvPr/>
        </p:nvSpPr>
        <p:spPr>
          <a:xfrm>
            <a:off x="8015625" y="1498600"/>
            <a:ext cx="648032" cy="1566333"/>
          </a:xfrm>
          <a:custGeom>
            <a:avLst/>
            <a:gdLst/>
            <a:ahLst/>
            <a:cxnLst/>
            <a:rect l="l" t="t" r="r" b="b"/>
            <a:pathLst>
              <a:path w="648032" h="1566333">
                <a:moveTo>
                  <a:pt x="324016" y="0"/>
                </a:moveTo>
                <a:lnTo>
                  <a:pt x="648032" y="1566333"/>
                </a:lnTo>
                <a:lnTo>
                  <a:pt x="0" y="1566333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25400" rIns="25400" tIns="25400" bIns="254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経営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52449" y="2281766"/>
            <a:ext cx="983458" cy="0"/>
          </a:xfrm>
          <a:prstGeom prst="line">
            <a:avLst/>
          </a:prstGeom>
          <a:ln w="9525">
            <a:solidFill>
              <a:srgbClr val="BEBFB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86707" y="1498600"/>
            <a:ext cx="2173492" cy="15663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全社KPIで意思決定</a:t>
            </a:r>
          </a:p>
        </p:txBody>
      </p:sp>
      <p:sp>
        <p:nvSpPr>
          <p:cNvPr id="25" name="Freeform 24"/>
          <p:cNvSpPr/>
          <p:nvPr/>
        </p:nvSpPr>
        <p:spPr>
          <a:xfrm>
            <a:off x="7681101" y="3115733"/>
            <a:ext cx="1317081" cy="1566333"/>
          </a:xfrm>
          <a:custGeom>
            <a:avLst/>
            <a:gdLst/>
            <a:ahLst/>
            <a:cxnLst/>
            <a:rect l="l" t="t" r="r" b="b"/>
            <a:pathLst>
              <a:path w="1317081" h="1566333">
                <a:moveTo>
                  <a:pt x="324016" y="0"/>
                </a:moveTo>
                <a:lnTo>
                  <a:pt x="993065" y="0"/>
                </a:lnTo>
                <a:lnTo>
                  <a:pt x="1317081" y="1566333"/>
                </a:lnTo>
                <a:lnTo>
                  <a:pt x="0" y="1566333"/>
                </a:lnTo>
                <a:close/>
              </a:path>
            </a:pathLst>
          </a:cu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管理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86974" y="3898900"/>
            <a:ext cx="648933" cy="0"/>
          </a:xfrm>
          <a:prstGeom prst="line">
            <a:avLst/>
          </a:prstGeom>
          <a:ln w="9525">
            <a:solidFill>
              <a:srgbClr val="BEBFB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86707" y="3115733"/>
            <a:ext cx="2173492" cy="15663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部門別に分析</a:t>
            </a:r>
          </a:p>
        </p:txBody>
      </p:sp>
      <p:sp>
        <p:nvSpPr>
          <p:cNvPr id="28" name="Freeform 27"/>
          <p:cNvSpPr/>
          <p:nvPr/>
        </p:nvSpPr>
        <p:spPr>
          <a:xfrm>
            <a:off x="7346576" y="4732866"/>
            <a:ext cx="1986131" cy="1566333"/>
          </a:xfrm>
          <a:custGeom>
            <a:avLst/>
            <a:gdLst/>
            <a:ahLst/>
            <a:cxnLst/>
            <a:rect l="l" t="t" r="r" b="b"/>
            <a:pathLst>
              <a:path w="1986131" h="1566333">
                <a:moveTo>
                  <a:pt x="324016" y="0"/>
                </a:moveTo>
                <a:lnTo>
                  <a:pt x="1662115" y="0"/>
                </a:lnTo>
                <a:lnTo>
                  <a:pt x="1986131" y="1566333"/>
                </a:lnTo>
                <a:lnTo>
                  <a:pt x="0" y="1566333"/>
                </a:lnTo>
                <a:close/>
              </a:path>
            </a:pathLst>
          </a:cu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現場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21499" y="5516033"/>
            <a:ext cx="314408" cy="0"/>
          </a:xfrm>
          <a:prstGeom prst="line">
            <a:avLst/>
          </a:prstGeom>
          <a:ln w="9525">
            <a:solidFill>
              <a:srgbClr val="BEBFB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86707" y="4732866"/>
            <a:ext cx="2173492" cy="15663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日次のデータ入力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部品カタログ：フロー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フロー部品④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stair_steps / timeline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3107690"/>
            <a:ext cx="2794000" cy="68961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01600" bIns="101600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Lv1 可視化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0" y="2218690"/>
            <a:ext cx="2794000" cy="838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データを集める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2762885"/>
            <a:ext cx="2794000" cy="1034414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01600" bIns="101600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Lv2 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600" y="1873885"/>
            <a:ext cx="2794000" cy="838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要因を探る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1400" y="2418080"/>
            <a:ext cx="2794000" cy="137922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01600" bIns="1016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Lv3 予測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1400" y="1529080"/>
            <a:ext cx="2794000" cy="838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将来を見通す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6200" y="2073275"/>
            <a:ext cx="2794000" cy="1724025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01600" bIns="1016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Lv4 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6200" y="1184275"/>
            <a:ext cx="2794000" cy="838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自動で判断する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431800" y="5149850"/>
            <a:ext cx="11328400" cy="0"/>
          </a:xfrm>
          <a:prstGeom prst="line">
            <a:avLst/>
          </a:prstGeom>
          <a:ln w="381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711325" y="5060950"/>
            <a:ext cx="177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800225" y="4845050"/>
            <a:ext cx="0" cy="203200"/>
          </a:xfrm>
          <a:prstGeom prst="line">
            <a:avLst/>
          </a:prstGeom>
          <a:ln w="127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225" y="4000500"/>
            <a:ext cx="2540000" cy="79375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2026/4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構想策定</a:t>
            </a:r>
          </a:p>
        </p:txBody>
      </p:sp>
      <p:sp>
        <p:nvSpPr>
          <p:cNvPr id="20" name="Oval 19"/>
          <p:cNvSpPr/>
          <p:nvPr/>
        </p:nvSpPr>
        <p:spPr>
          <a:xfrm>
            <a:off x="4448175" y="5060950"/>
            <a:ext cx="177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537075" y="5251450"/>
            <a:ext cx="0" cy="203200"/>
          </a:xfrm>
          <a:prstGeom prst="line">
            <a:avLst/>
          </a:prstGeom>
          <a:ln w="127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67075" y="5480050"/>
            <a:ext cx="2540000" cy="7937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2026/9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要件定義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業務部門と合意</a:t>
            </a:r>
          </a:p>
        </p:txBody>
      </p:sp>
      <p:sp>
        <p:nvSpPr>
          <p:cNvPr id="23" name="Oval 22"/>
          <p:cNvSpPr/>
          <p:nvPr/>
        </p:nvSpPr>
        <p:spPr>
          <a:xfrm>
            <a:off x="7185025" y="5060950"/>
            <a:ext cx="177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7273925" y="4845050"/>
            <a:ext cx="0" cy="203200"/>
          </a:xfrm>
          <a:prstGeom prst="line">
            <a:avLst/>
          </a:prstGeom>
          <a:ln w="127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03925" y="4000500"/>
            <a:ext cx="2540000" cy="79375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2027/1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開発着手</a:t>
            </a:r>
          </a:p>
        </p:txBody>
      </p:sp>
      <p:sp>
        <p:nvSpPr>
          <p:cNvPr id="26" name="Oval 25"/>
          <p:cNvSpPr/>
          <p:nvPr/>
        </p:nvSpPr>
        <p:spPr>
          <a:xfrm>
            <a:off x="9921875" y="5060950"/>
            <a:ext cx="177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010775" y="5251450"/>
            <a:ext cx="0" cy="203200"/>
          </a:xfrm>
          <a:prstGeom prst="line">
            <a:avLst/>
          </a:prstGeom>
          <a:ln w="127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40775" y="5480050"/>
            <a:ext cx="2540000" cy="7937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2027/10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稼働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全社展開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部品カタログ：フロー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フロー部品⑤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roadmap（フェーズ×領域）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15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Pentagon 7"/>
          <p:cNvSpPr/>
          <p:nvPr/>
        </p:nvSpPr>
        <p:spPr>
          <a:xfrm>
            <a:off x="2032000" y="1498600"/>
            <a:ext cx="3338406" cy="431800"/>
          </a:xfrm>
          <a:prstGeom prst="homePlate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2026年度</a:t>
            </a:r>
          </a:p>
        </p:txBody>
      </p:sp>
      <p:sp>
        <p:nvSpPr>
          <p:cNvPr id="9" name="Chevron 8"/>
          <p:cNvSpPr/>
          <p:nvPr/>
        </p:nvSpPr>
        <p:spPr>
          <a:xfrm>
            <a:off x="5291666" y="1498600"/>
            <a:ext cx="3338406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2027年度</a:t>
            </a:r>
          </a:p>
        </p:txBody>
      </p:sp>
      <p:sp>
        <p:nvSpPr>
          <p:cNvPr id="10" name="Chevron 9"/>
          <p:cNvSpPr/>
          <p:nvPr/>
        </p:nvSpPr>
        <p:spPr>
          <a:xfrm>
            <a:off x="8551333" y="1498600"/>
            <a:ext cx="3208866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2028年度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" y="2057400"/>
            <a:ext cx="1524000" cy="1371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" y="3479800"/>
            <a:ext cx="1524000" cy="1371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システム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32000" y="3454400"/>
            <a:ext cx="9728200" cy="0"/>
          </a:xfrm>
          <a:prstGeom prst="line">
            <a:avLst/>
          </a:prstGeom>
          <a:ln w="9525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1800" y="4902200"/>
            <a:ext cx="1524000" cy="1371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組織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32000" y="4876800"/>
            <a:ext cx="9728200" cy="0"/>
          </a:xfrm>
          <a:prstGeom prst="line">
            <a:avLst/>
          </a:prstGeom>
          <a:ln w="9525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32000" y="2489200"/>
            <a:ext cx="3208866" cy="508000"/>
          </a:xfrm>
          <a:prstGeom prst="roundRect">
            <a:avLst>
              <a:gd name="adj" fmla="val 20000"/>
            </a:avLst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業務の標準化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1666" y="2489200"/>
            <a:ext cx="6468533" cy="508000"/>
          </a:xfrm>
          <a:prstGeom prst="roundRect">
            <a:avLst>
              <a:gd name="adj" fmla="val 2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BPR の全社展開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32000" y="3581400"/>
            <a:ext cx="6468533" cy="508000"/>
          </a:xfrm>
          <a:prstGeom prst="roundRect">
            <a:avLst>
              <a:gd name="adj" fmla="val 20000"/>
            </a:avLst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基幹システム刷新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1333" y="3581400"/>
            <a:ext cx="3208866" cy="508000"/>
          </a:xfrm>
          <a:prstGeom prst="roundRect">
            <a:avLst>
              <a:gd name="adj" fmla="val 20000"/>
            </a:avLst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データ基盤の構築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32000" y="5334000"/>
            <a:ext cx="3208866" cy="508000"/>
          </a:xfrm>
          <a:prstGeom prst="roundRect">
            <a:avLst>
              <a:gd name="adj" fmla="val 20000"/>
            </a:avLst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DX 推進室の設置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91666" y="5334000"/>
            <a:ext cx="6468533" cy="508000"/>
          </a:xfrm>
          <a:prstGeom prst="roundRect">
            <a:avLst>
              <a:gd name="adj" fmla="val 20000"/>
            </a:avLst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人材育成プログラム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1666" y="4241800"/>
            <a:ext cx="3208866" cy="508000"/>
          </a:xfrm>
          <a:prstGeom prst="roundRect">
            <a:avLst>
              <a:gd name="adj" fmla="val 20000"/>
            </a:avLst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周辺システム連携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部品カタログ：フロー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フロー部品⑥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converge / diverge / phase_gate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2795905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販売データ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3253105" y="1847850"/>
            <a:ext cx="685799" cy="800100"/>
          </a:xfrm>
          <a:prstGeom prst="line">
            <a:avLst/>
          </a:prstGeom>
          <a:ln w="22225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1800" y="2298700"/>
            <a:ext cx="2795905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在庫データ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3253105" y="2647950"/>
            <a:ext cx="685799" cy="0"/>
          </a:xfrm>
          <a:prstGeom prst="line">
            <a:avLst/>
          </a:prstGeom>
          <a:ln w="22225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1800" y="3098800"/>
            <a:ext cx="2795905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顧客データ</a:t>
            </a:r>
          </a:p>
        </p:txBody>
      </p:sp>
      <p:cxnSp>
        <p:nvCxnSpPr>
          <p:cNvPr id="13" name="arrow"/>
          <p:cNvCxnSpPr/>
          <p:nvPr/>
        </p:nvCxnSpPr>
        <p:spPr>
          <a:xfrm flipV="1">
            <a:off x="3253105" y="2647950"/>
            <a:ext cx="685799" cy="800100"/>
          </a:xfrm>
          <a:prstGeom prst="line">
            <a:avLst/>
          </a:prstGeom>
          <a:ln w="22225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89704" y="2073275"/>
            <a:ext cx="1915795" cy="114935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統合データ基盤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6500" y="2073275"/>
            <a:ext cx="1915795" cy="114935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統合データ基盤</a:t>
            </a:r>
          </a:p>
        </p:txBody>
      </p:sp>
      <p:cxnSp>
        <p:nvCxnSpPr>
          <p:cNvPr id="16" name="arrow"/>
          <p:cNvCxnSpPr/>
          <p:nvPr/>
        </p:nvCxnSpPr>
        <p:spPr>
          <a:xfrm flipV="1">
            <a:off x="8253095" y="1847850"/>
            <a:ext cx="685800" cy="800100"/>
          </a:xfrm>
          <a:prstGeom prst="line">
            <a:avLst/>
          </a:prstGeom>
          <a:ln w="22225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964295" y="1498600"/>
            <a:ext cx="2795904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経営ダッシュボード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8253095" y="2647950"/>
            <a:ext cx="685800" cy="0"/>
          </a:xfrm>
          <a:prstGeom prst="line">
            <a:avLst/>
          </a:prstGeom>
          <a:ln w="22225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64295" y="2298700"/>
            <a:ext cx="2795904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需要予測</a:t>
            </a:r>
          </a:p>
        </p:txBody>
      </p:sp>
      <p:cxnSp>
        <p:nvCxnSpPr>
          <p:cNvPr id="20" name="arrow"/>
          <p:cNvCxnSpPr/>
          <p:nvPr/>
        </p:nvCxnSpPr>
        <p:spPr>
          <a:xfrm>
            <a:off x="8253095" y="2647950"/>
            <a:ext cx="685800" cy="800100"/>
          </a:xfrm>
          <a:prstGeom prst="line">
            <a:avLst/>
          </a:prstGeom>
          <a:ln w="22225">
            <a:solidFill>
              <a:srgbClr val="8EB4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964295" y="3098800"/>
            <a:ext cx="2795904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800" y="4000500"/>
            <a:ext cx="239395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構想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800" y="4381500"/>
            <a:ext cx="2393950" cy="191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目的の明確化</a:t>
            </a:r>
          </a:p>
        </p:txBody>
      </p:sp>
      <p:sp>
        <p:nvSpPr>
          <p:cNvPr id="24" name="Diamond 23"/>
          <p:cNvSpPr/>
          <p:nvPr/>
        </p:nvSpPr>
        <p:spPr>
          <a:xfrm>
            <a:off x="2914650" y="4013200"/>
            <a:ext cx="406400" cy="406400"/>
          </a:xfrm>
          <a:prstGeom prst="diamond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650" y="4457700"/>
            <a:ext cx="914400" cy="508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投資判断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9950" y="4000500"/>
            <a:ext cx="239395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要件定義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9950" y="4381500"/>
            <a:ext cx="2393950" cy="191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業務要件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機能要件</a:t>
            </a:r>
          </a:p>
        </p:txBody>
      </p:sp>
      <p:sp>
        <p:nvSpPr>
          <p:cNvPr id="28" name="Diamond 27"/>
          <p:cNvSpPr/>
          <p:nvPr/>
        </p:nvSpPr>
        <p:spPr>
          <a:xfrm>
            <a:off x="5892800" y="4013200"/>
            <a:ext cx="406400" cy="406400"/>
          </a:xfrm>
          <a:prstGeom prst="diamond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38800" y="4457700"/>
            <a:ext cx="914400" cy="508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要件承認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8100" y="4000500"/>
            <a:ext cx="239395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開発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8100" y="4381500"/>
            <a:ext cx="2393950" cy="191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設計・実装</a:t>
            </a:r>
          </a:p>
        </p:txBody>
      </p:sp>
      <p:sp>
        <p:nvSpPr>
          <p:cNvPr id="32" name="Diamond 31"/>
          <p:cNvSpPr/>
          <p:nvPr/>
        </p:nvSpPr>
        <p:spPr>
          <a:xfrm>
            <a:off x="8870950" y="4013200"/>
            <a:ext cx="406400" cy="406400"/>
          </a:xfrm>
          <a:prstGeom prst="diamond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16950" y="4457700"/>
            <a:ext cx="914400" cy="508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稼働判定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66250" y="4000500"/>
            <a:ext cx="239395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展開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66250" y="4381500"/>
            <a:ext cx="2393950" cy="191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教育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部品カタログ：フロー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フロー部品⑦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value_chain / step_matrix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0947400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全般管理（経営企画・経理）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1930400"/>
            <a:ext cx="10947400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人事・労務管理</a:t>
            </a:r>
          </a:p>
        </p:txBody>
      </p:sp>
      <p:sp>
        <p:nvSpPr>
          <p:cNvPr id="10" name="Pentagon 9"/>
          <p:cNvSpPr/>
          <p:nvPr/>
        </p:nvSpPr>
        <p:spPr>
          <a:xfrm>
            <a:off x="431800" y="2463800"/>
            <a:ext cx="2526574" cy="1005114"/>
          </a:xfrm>
          <a:prstGeom prst="homePlate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調達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7640" y="2463800"/>
            <a:ext cx="2526574" cy="1005114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1789" rIns="35178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製造</a:t>
            </a:r>
          </a:p>
        </p:txBody>
      </p:sp>
      <p:sp>
        <p:nvSpPr>
          <p:cNvPr id="12" name="Chevron 11"/>
          <p:cNvSpPr/>
          <p:nvPr/>
        </p:nvSpPr>
        <p:spPr>
          <a:xfrm>
            <a:off x="4983480" y="2463800"/>
            <a:ext cx="2526574" cy="1005114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1789" rIns="35178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物流</a:t>
            </a:r>
          </a:p>
        </p:txBody>
      </p:sp>
      <p:sp>
        <p:nvSpPr>
          <p:cNvPr id="13" name="Chevron 12"/>
          <p:cNvSpPr/>
          <p:nvPr/>
        </p:nvSpPr>
        <p:spPr>
          <a:xfrm>
            <a:off x="7259319" y="2463800"/>
            <a:ext cx="2526574" cy="1005114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1789" rIns="35178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販売</a:t>
            </a:r>
          </a:p>
        </p:txBody>
      </p:sp>
      <p:sp>
        <p:nvSpPr>
          <p:cNvPr id="14" name="Chevron 13"/>
          <p:cNvSpPr/>
          <p:nvPr/>
        </p:nvSpPr>
        <p:spPr>
          <a:xfrm>
            <a:off x="9535160" y="2463800"/>
            <a:ext cx="2225040" cy="1005114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1789" rIns="35178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サービス</a:t>
            </a:r>
          </a:p>
        </p:txBody>
      </p:sp>
      <p:sp>
        <p:nvSpPr>
          <p:cNvPr id="15" name="Pentagon 14"/>
          <p:cNvSpPr/>
          <p:nvPr/>
        </p:nvSpPr>
        <p:spPr>
          <a:xfrm>
            <a:off x="1905000" y="3672114"/>
            <a:ext cx="2555240" cy="431800"/>
          </a:xfrm>
          <a:prstGeom prst="homePlate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申請</a:t>
            </a:r>
          </a:p>
        </p:txBody>
      </p:sp>
      <p:sp>
        <p:nvSpPr>
          <p:cNvPr id="16" name="Chevron 15"/>
          <p:cNvSpPr/>
          <p:nvPr/>
        </p:nvSpPr>
        <p:spPr>
          <a:xfrm>
            <a:off x="4381500" y="3672114"/>
            <a:ext cx="2555240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審査</a:t>
            </a:r>
          </a:p>
        </p:txBody>
      </p:sp>
      <p:sp>
        <p:nvSpPr>
          <p:cNvPr id="17" name="Chevron 16"/>
          <p:cNvSpPr/>
          <p:nvPr/>
        </p:nvSpPr>
        <p:spPr>
          <a:xfrm>
            <a:off x="6858000" y="3672114"/>
            <a:ext cx="2555240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承認</a:t>
            </a:r>
          </a:p>
        </p:txBody>
      </p:sp>
      <p:sp>
        <p:nvSpPr>
          <p:cNvPr id="18" name="Chevron 17"/>
          <p:cNvSpPr/>
          <p:nvPr/>
        </p:nvSpPr>
        <p:spPr>
          <a:xfrm>
            <a:off x="9334500" y="3672114"/>
            <a:ext cx="2425700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通知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" y="4205514"/>
            <a:ext cx="1397000" cy="1021442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現状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5000" y="4205514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紙で提出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1500" y="4205514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目視で確認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205514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押印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34500" y="4205514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郵送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800" y="5277757"/>
            <a:ext cx="1397000" cy="1021442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課題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5277757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記入ミスが多い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1500" y="5277757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時間がかかる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5277757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出社が必要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34500" y="5277757"/>
            <a:ext cx="2425700" cy="1021442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コストが高い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logic_tree（3階層まで）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3454400"/>
            <a:ext cx="2892777" cy="889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利益の減少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1777" y="2179320"/>
            <a:ext cx="3471333" cy="558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売上の減少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10311" y="1699260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客数の減少</a:t>
            </a:r>
          </a:p>
        </p:txBody>
      </p:sp>
      <p:cxnSp>
        <p:nvCxnSpPr>
          <p:cNvPr id="11" name="arrow"/>
          <p:cNvCxnSpPr/>
          <p:nvPr/>
        </p:nvCxnSpPr>
        <p:spPr>
          <a:xfrm flipV="1">
            <a:off x="7253111" y="1978660"/>
            <a:ext cx="457200" cy="48006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710311" y="2659379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客単価の低下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7253111" y="2458720"/>
            <a:ext cx="457200" cy="480059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row"/>
          <p:cNvCxnSpPr/>
          <p:nvPr/>
        </p:nvCxnSpPr>
        <p:spPr>
          <a:xfrm flipV="1">
            <a:off x="3324577" y="2458720"/>
            <a:ext cx="457200" cy="144018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781777" y="4579620"/>
            <a:ext cx="3471333" cy="558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費用の増加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0311" y="3619500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原材料費の高騰</a:t>
            </a:r>
          </a:p>
        </p:txBody>
      </p:sp>
      <p:cxnSp>
        <p:nvCxnSpPr>
          <p:cNvPr id="17" name="arrow"/>
          <p:cNvCxnSpPr/>
          <p:nvPr/>
        </p:nvCxnSpPr>
        <p:spPr>
          <a:xfrm flipV="1">
            <a:off x="7253111" y="3898900"/>
            <a:ext cx="457200" cy="96012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10311" y="4579620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人件費の増加</a:t>
            </a:r>
          </a:p>
        </p:txBody>
      </p:sp>
      <p:cxnSp>
        <p:nvCxnSpPr>
          <p:cNvPr id="19" name="arrow"/>
          <p:cNvCxnSpPr/>
          <p:nvPr/>
        </p:nvCxnSpPr>
        <p:spPr>
          <a:xfrm>
            <a:off x="7253111" y="4859020"/>
            <a:ext cx="457200" cy="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10311" y="5539740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物流費の増加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7253111" y="4859020"/>
            <a:ext cx="457200" cy="96012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row"/>
          <p:cNvCxnSpPr/>
          <p:nvPr/>
        </p:nvCxnSpPr>
        <p:spPr>
          <a:xfrm>
            <a:off x="3324577" y="3898900"/>
            <a:ext cx="457200" cy="96012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org_chart（体制図）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19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6500" y="1498600"/>
            <a:ext cx="2159000" cy="609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プロジェクトオーナー</a:t>
            </a:r>
            <a:br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取締役 山田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6500" y="2698750"/>
            <a:ext cx="2159000" cy="6096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PMO</a:t>
            </a:r>
            <a:br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情報システム部 佐藤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7980" y="3898900"/>
            <a:ext cx="215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業務チーム</a:t>
            </a:r>
            <a:br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経理部 鈴木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300" y="5099050"/>
            <a:ext cx="213868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経理担当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0980" y="5099050"/>
            <a:ext cx="213868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営業担当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4508500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64640" y="4803775"/>
            <a:ext cx="2265680" cy="0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64640" y="480377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30320" y="480377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49340" y="3898900"/>
            <a:ext cx="215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システムチーム</a:t>
            </a:r>
            <a:br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情シス 高橋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6660" y="5099050"/>
            <a:ext cx="213868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アプリ担当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2340" y="5099050"/>
            <a:ext cx="213868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インフラ担当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8840" y="4508500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6000" y="4803775"/>
            <a:ext cx="2265680" cy="0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6000" y="480377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61680" y="480377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558020" y="3898900"/>
            <a:ext cx="213868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移行チーム</a:t>
            </a:r>
            <a:br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情シス 田中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308350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97480" y="3603625"/>
            <a:ext cx="7929880" cy="0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360362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8840" y="360362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27360" y="360362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6000" y="2108200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6000" y="2403475"/>
            <a:ext cx="0" cy="0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6000" y="2403475"/>
            <a:ext cx="0" cy="295275"/>
          </a:xfrm>
          <a:prstGeom prst="line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構造部品③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matrix_2x2 / positioning_map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20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cxnSp>
        <p:nvCxnSpPr>
          <p:cNvPr id="8" name="arrow"/>
          <p:cNvCxnSpPr/>
          <p:nvPr/>
        </p:nvCxnSpPr>
        <p:spPr>
          <a:xfrm flipV="1">
            <a:off x="863600" y="1498600"/>
            <a:ext cx="0" cy="4419600"/>
          </a:xfrm>
          <a:prstGeom prst="line">
            <a:avLst/>
          </a:prstGeom>
          <a:ln w="254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"/>
          <p:cNvCxnSpPr/>
          <p:nvPr/>
        </p:nvCxnSpPr>
        <p:spPr>
          <a:xfrm>
            <a:off x="863600" y="5918200"/>
            <a:ext cx="5041900" cy="0"/>
          </a:xfrm>
          <a:prstGeom prst="line">
            <a:avLst/>
          </a:prstGeom>
          <a:ln w="254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0" y="2584450"/>
            <a:ext cx="381000" cy="2171700"/>
          </a:xfrm>
          <a:prstGeom prst="rect">
            <a:avLst/>
          </a:prstGeom>
          <a:noFill/>
        </p:spPr>
        <p:txBody>
          <a:bodyPr wrap="square" lIns="38100" rIns="38100" tIns="25400" bIns="25400" anchor="ctr" vert="eaVert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効果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1225" y="5994400"/>
            <a:ext cx="248285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実現性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5994400"/>
            <a:ext cx="1016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9500" y="5994400"/>
            <a:ext cx="1016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5613400"/>
            <a:ext cx="381000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1498600"/>
            <a:ext cx="381000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1498600"/>
            <a:ext cx="2444750" cy="21336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検討</a:t>
            </a:r>
          </a:p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効果は高いが難しい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0750" y="1498600"/>
            <a:ext cx="2444750" cy="2133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最優先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すぐに着手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800" y="3708400"/>
            <a:ext cx="2444750" cy="21336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見送り</a:t>
            </a:r>
          </a:p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60750" y="3708400"/>
            <a:ext cx="2444750" cy="21336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改善</a:t>
            </a:r>
          </a:p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小さく実施</a:t>
            </a:r>
          </a:p>
        </p:txBody>
      </p:sp>
      <p:cxnSp>
        <p:nvCxnSpPr>
          <p:cNvPr id="20" name="arrow"/>
          <p:cNvCxnSpPr/>
          <p:nvPr/>
        </p:nvCxnSpPr>
        <p:spPr>
          <a:xfrm>
            <a:off x="6286500" y="3898900"/>
            <a:ext cx="5473700" cy="0"/>
          </a:xfrm>
          <a:prstGeom prst="line">
            <a:avLst/>
          </a:prstGeom>
          <a:ln w="15875">
            <a:solidFill>
              <a:srgbClr val="7E7F7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row"/>
          <p:cNvCxnSpPr/>
          <p:nvPr/>
        </p:nvCxnSpPr>
        <p:spPr>
          <a:xfrm flipV="1">
            <a:off x="9023350" y="1498600"/>
            <a:ext cx="0" cy="4800600"/>
          </a:xfrm>
          <a:prstGeom prst="line">
            <a:avLst/>
          </a:prstGeom>
          <a:ln w="15875">
            <a:solidFill>
              <a:srgbClr val="7E7F7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28200" y="3949700"/>
            <a:ext cx="2032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高価格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3949700"/>
            <a:ext cx="2032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低価格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9550" y="1498600"/>
            <a:ext cx="254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多機能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9550" y="6070600"/>
            <a:ext cx="254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シンプル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0200" y="3619500"/>
            <a:ext cx="254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価格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7150" y="1498600"/>
            <a:ext cx="254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機能</a:t>
            </a:r>
          </a:p>
        </p:txBody>
      </p:sp>
      <p:sp>
        <p:nvSpPr>
          <p:cNvPr id="28" name="Oval 27"/>
          <p:cNvSpPr/>
          <p:nvPr/>
        </p:nvSpPr>
        <p:spPr>
          <a:xfrm>
            <a:off x="7578725" y="4782820"/>
            <a:ext cx="152400" cy="152400"/>
          </a:xfrm>
          <a:prstGeom prst="ellipse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6525" y="4732020"/>
            <a:ext cx="1905000" cy="254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A社</a:t>
            </a:r>
          </a:p>
        </p:txBody>
      </p:sp>
      <p:sp>
        <p:nvSpPr>
          <p:cNvPr id="30" name="Oval 29"/>
          <p:cNvSpPr/>
          <p:nvPr/>
        </p:nvSpPr>
        <p:spPr>
          <a:xfrm>
            <a:off x="10041890" y="2382519"/>
            <a:ext cx="152400" cy="152400"/>
          </a:xfrm>
          <a:prstGeom prst="ellipse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9690" y="2331719"/>
            <a:ext cx="1905000" cy="254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B社</a:t>
            </a:r>
          </a:p>
        </p:txBody>
      </p:sp>
      <p:sp>
        <p:nvSpPr>
          <p:cNvPr id="32" name="Oval 31"/>
          <p:cNvSpPr/>
          <p:nvPr/>
        </p:nvSpPr>
        <p:spPr>
          <a:xfrm>
            <a:off x="9494519" y="4542790"/>
            <a:ext cx="152400" cy="152400"/>
          </a:xfrm>
          <a:prstGeom prst="ellipse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2319" y="4491990"/>
            <a:ext cx="1905000" cy="254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C社</a:t>
            </a:r>
          </a:p>
        </p:txBody>
      </p:sp>
      <p:sp>
        <p:nvSpPr>
          <p:cNvPr id="34" name="Oval 33"/>
          <p:cNvSpPr/>
          <p:nvPr/>
        </p:nvSpPr>
        <p:spPr>
          <a:xfrm>
            <a:off x="8100695" y="2741168"/>
            <a:ext cx="203200" cy="2032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9295" y="2715768"/>
            <a:ext cx="1905000" cy="254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自社（目標）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構造部品④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venn（2円・3円） / hub_spoke / concentric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Oval 7"/>
          <p:cNvSpPr/>
          <p:nvPr/>
        </p:nvSpPr>
        <p:spPr>
          <a:xfrm>
            <a:off x="431800" y="2751617"/>
            <a:ext cx="1557965" cy="1557965"/>
          </a:xfrm>
          <a:prstGeom prst="ellipse">
            <a:avLst/>
          </a:prstGeom>
          <a:solidFill>
            <a:srgbClr val="276C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6579" y="2751617"/>
            <a:ext cx="1557965" cy="1557965"/>
          </a:xfrm>
          <a:prstGeom prst="ellipse">
            <a:avLst/>
          </a:prstGeom>
          <a:solidFill>
            <a:srgbClr val="8EB4E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42" y="3276600"/>
            <a:ext cx="778982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業務知識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4619" y="3276600"/>
            <a:ext cx="778982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IT スキル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260" y="3302000"/>
            <a:ext cx="747823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DX 人材</a:t>
            </a:r>
          </a:p>
        </p:txBody>
      </p:sp>
      <p:sp>
        <p:nvSpPr>
          <p:cNvPr id="13" name="Oval 12"/>
          <p:cNvSpPr/>
          <p:nvPr/>
        </p:nvSpPr>
        <p:spPr>
          <a:xfrm>
            <a:off x="3165513" y="1498600"/>
            <a:ext cx="1510754" cy="1510754"/>
          </a:xfrm>
          <a:prstGeom prst="ellipse">
            <a:avLst/>
          </a:prstGeom>
          <a:solidFill>
            <a:srgbClr val="276C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71965" y="1498600"/>
            <a:ext cx="1510754" cy="1510754"/>
          </a:xfrm>
          <a:prstGeom prst="ellipse">
            <a:avLst/>
          </a:prstGeom>
          <a:solidFill>
            <a:srgbClr val="8EB4E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8739" y="2284192"/>
            <a:ext cx="1510754" cy="1510754"/>
          </a:xfrm>
          <a:prstGeom prst="ellipse">
            <a:avLst/>
          </a:prstGeom>
          <a:solidFill>
            <a:srgbClr val="BEBFB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5513" y="1728041"/>
            <a:ext cx="755377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技術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7342" y="1728041"/>
            <a:ext cx="755377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事業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6427" y="3163257"/>
            <a:ext cx="755377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組織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1535" y="2287241"/>
            <a:ext cx="725161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成功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443972" y="1803400"/>
            <a:ext cx="0" cy="1270000"/>
          </a:xfrm>
          <a:prstGeom prst="line">
            <a:avLst/>
          </a:prstGeom>
          <a:ln w="254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55104" y="1524000"/>
            <a:ext cx="777736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営業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020510" y="2851150"/>
            <a:ext cx="445905" cy="456941"/>
          </a:xfrm>
          <a:prstGeom prst="line">
            <a:avLst/>
          </a:prstGeom>
          <a:ln w="254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77547" y="2571750"/>
            <a:ext cx="777736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20510" y="4489708"/>
            <a:ext cx="445905" cy="456942"/>
          </a:xfrm>
          <a:prstGeom prst="line">
            <a:avLst/>
          </a:prstGeom>
          <a:ln w="254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77547" y="4667250"/>
            <a:ext cx="777736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物流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43972" y="4724400"/>
            <a:ext cx="0" cy="1270000"/>
          </a:xfrm>
          <a:prstGeom prst="line">
            <a:avLst/>
          </a:prstGeom>
          <a:ln w="254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55104" y="5715000"/>
            <a:ext cx="777736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経営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421528" y="4489708"/>
            <a:ext cx="445906" cy="456942"/>
          </a:xfrm>
          <a:prstGeom prst="line">
            <a:avLst/>
          </a:prstGeom>
          <a:ln w="254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32660" y="4667250"/>
            <a:ext cx="777736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人事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6421528" y="2851150"/>
            <a:ext cx="445906" cy="456941"/>
          </a:xfrm>
          <a:prstGeom prst="line">
            <a:avLst/>
          </a:prstGeom>
          <a:ln w="25400">
            <a:solidFill>
              <a:srgbClr val="8EB4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32660" y="2571750"/>
            <a:ext cx="777736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</a:t>
            </a:r>
          </a:p>
        </p:txBody>
      </p:sp>
      <p:sp>
        <p:nvSpPr>
          <p:cNvPr id="32" name="Oval 31"/>
          <p:cNvSpPr/>
          <p:nvPr/>
        </p:nvSpPr>
        <p:spPr>
          <a:xfrm>
            <a:off x="6618472" y="3073400"/>
            <a:ext cx="1651000" cy="16510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データ基盤</a:t>
            </a:r>
          </a:p>
        </p:txBody>
      </p:sp>
      <p:sp>
        <p:nvSpPr>
          <p:cNvPr id="33" name="Oval 32"/>
          <p:cNvSpPr/>
          <p:nvPr/>
        </p:nvSpPr>
        <p:spPr>
          <a:xfrm>
            <a:off x="9267455" y="3806455"/>
            <a:ext cx="2492744" cy="2492744"/>
          </a:xfrm>
          <a:prstGeom prst="ellipse">
            <a:avLst/>
          </a:prstGeom>
          <a:solidFill>
            <a:srgbClr val="D5E2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1367" y="3857255"/>
            <a:ext cx="174492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全社</a:t>
            </a:r>
          </a:p>
        </p:txBody>
      </p:sp>
      <p:sp>
        <p:nvSpPr>
          <p:cNvPr id="35" name="Oval 34"/>
          <p:cNvSpPr/>
          <p:nvPr/>
        </p:nvSpPr>
        <p:spPr>
          <a:xfrm>
            <a:off x="9634035" y="4539615"/>
            <a:ext cx="1759584" cy="1759584"/>
          </a:xfrm>
          <a:prstGeom prst="ellipse">
            <a:avLst/>
          </a:prstGeom>
          <a:solidFill>
            <a:srgbClr val="8EB4E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7973" y="4590415"/>
            <a:ext cx="1231708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本部</a:t>
            </a:r>
          </a:p>
        </p:txBody>
      </p:sp>
      <p:sp>
        <p:nvSpPr>
          <p:cNvPr id="37" name="Oval 36"/>
          <p:cNvSpPr/>
          <p:nvPr/>
        </p:nvSpPr>
        <p:spPr>
          <a:xfrm>
            <a:off x="10000615" y="5272775"/>
            <a:ext cx="1026424" cy="1026424"/>
          </a:xfrm>
          <a:prstGeom prst="ellipse">
            <a:avLst/>
          </a:prstGeom>
          <a:solidFill>
            <a:srgbClr val="276C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54579" y="5557387"/>
            <a:ext cx="718496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部門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構造部品⑤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layer_stack / equation / versus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651000" cy="65236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プレゼンテーション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2800" y="1498600"/>
            <a:ext cx="9677400" cy="652363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84400" y="1574800"/>
            <a:ext cx="3090333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ダッシュボード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76333" y="1574800"/>
            <a:ext cx="3090333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モバイルアプリ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8266" y="1574800"/>
            <a:ext cx="3090333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帳票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" y="2227163"/>
            <a:ext cx="1651000" cy="65236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アプリケーション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82800" y="2227163"/>
            <a:ext cx="9677400" cy="652363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84400" y="2303363"/>
            <a:ext cx="3090333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販売管理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76333" y="2303363"/>
            <a:ext cx="3090333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在庫管理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68266" y="2303363"/>
            <a:ext cx="3090333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会計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800" y="2955727"/>
            <a:ext cx="1651000" cy="65236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データ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82800" y="2955727"/>
            <a:ext cx="9677400" cy="652363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84400" y="3031927"/>
            <a:ext cx="4686300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データウェアハウス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72300" y="3031927"/>
            <a:ext cx="4686300" cy="49996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マスタ管理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800" y="3785891"/>
            <a:ext cx="3293806" cy="828728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業務の標準化</a:t>
            </a:r>
          </a:p>
        </p:txBody>
      </p:sp>
      <p:sp>
        <p:nvSpPr>
          <p:cNvPr id="23" name="Oval 22"/>
          <p:cNvSpPr/>
          <p:nvPr/>
        </p:nvSpPr>
        <p:spPr>
          <a:xfrm>
            <a:off x="3827206" y="4022455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4406" y="3785891"/>
            <a:ext cx="3293806" cy="828728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システム化</a:t>
            </a:r>
          </a:p>
        </p:txBody>
      </p:sp>
      <p:sp>
        <p:nvSpPr>
          <p:cNvPr id="25" name="Oval 24"/>
          <p:cNvSpPr/>
          <p:nvPr/>
        </p:nvSpPr>
        <p:spPr>
          <a:xfrm>
            <a:off x="7679812" y="4022455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7012" y="3785891"/>
            <a:ext cx="3623187" cy="828728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工数 40% 削減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800" y="4792420"/>
            <a:ext cx="534670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自社開発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800" y="5173420"/>
            <a:ext cx="5346700" cy="1125779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自由度が高い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費用が高い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3500" y="4792420"/>
            <a:ext cx="5346700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SaaS 利用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13500" y="5173420"/>
            <a:ext cx="5346700" cy="1125779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導入が早い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制約がある</a:t>
            </a:r>
          </a:p>
        </p:txBody>
      </p:sp>
      <p:sp>
        <p:nvSpPr>
          <p:cNvPr id="31" name="Oval 30"/>
          <p:cNvSpPr/>
          <p:nvPr/>
        </p:nvSpPr>
        <p:spPr>
          <a:xfrm>
            <a:off x="5765800" y="5215610"/>
            <a:ext cx="660400" cy="660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構造部品⑥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gap_analysis / brace_group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3597639" cy="381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現状（As-Is）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1879600"/>
            <a:ext cx="3597639" cy="2126672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紙とExcelで管理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集計に3日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2560" y="1498600"/>
            <a:ext cx="3597639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あるべき姿（To-Be）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62560" y="1879600"/>
            <a:ext cx="3597639" cy="2126672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システムで一元管理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集計は即時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07239" y="1879600"/>
            <a:ext cx="3777521" cy="1745672"/>
          </a:xfrm>
          <a:prstGeom prst="rightArrow">
            <a:avLst>
              <a:gd name="adj1" fmla="val 72000"/>
              <a:gd name="adj2" fmla="val 28000"/>
            </a:avLst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8839" y="2174794"/>
            <a:ext cx="261821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ギャップを埋める施策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8839" y="2479594"/>
            <a:ext cx="2618215" cy="850484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業務の標準化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システム導入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教育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" y="4209472"/>
            <a:ext cx="6230620" cy="645775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売上データの統合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" y="4931448"/>
            <a:ext cx="6230620" cy="645775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在庫データの統合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800" y="5653424"/>
            <a:ext cx="6230620" cy="645775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顧客データの統合</a:t>
            </a:r>
          </a:p>
        </p:txBody>
      </p:sp>
      <p:sp>
        <p:nvSpPr>
          <p:cNvPr id="18" name="deco:brace"/>
          <p:cNvSpPr/>
          <p:nvPr/>
        </p:nvSpPr>
        <p:spPr>
          <a:xfrm>
            <a:off x="6764020" y="4209472"/>
            <a:ext cx="279400" cy="2089727"/>
          </a:xfrm>
          <a:prstGeom prst="rightBrace">
            <a:avLst/>
          </a:prstGeom>
          <a:noFill/>
          <a:ln w="19050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0420" y="4627418"/>
            <a:ext cx="4589780" cy="1253836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全社データ基盤の構築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構造部品⑦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swot / relation_map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2561166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S：強み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1879600"/>
            <a:ext cx="2561166" cy="195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顧客基盤が厚い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9966" y="1498600"/>
            <a:ext cx="2561166" cy="381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W：弱み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9966" y="1879600"/>
            <a:ext cx="2561166" cy="195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IT 人材が不足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" y="3962400"/>
            <a:ext cx="2561166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O：機会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" y="4343400"/>
            <a:ext cx="2561166" cy="19558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クラウドの普及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9966" y="3962400"/>
            <a:ext cx="2561166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T：脅威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9966" y="4343400"/>
            <a:ext cx="2561166" cy="195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競合の参入</a:t>
            </a:r>
          </a:p>
        </p:txBody>
      </p:sp>
      <p:cxnSp>
        <p:nvCxnSpPr>
          <p:cNvPr id="16" name="arrow"/>
          <p:cNvCxnSpPr/>
          <p:nvPr/>
        </p:nvCxnSpPr>
        <p:spPr>
          <a:xfrm flipH="1">
            <a:off x="7083025" y="2057400"/>
            <a:ext cx="1518449" cy="1562100"/>
          </a:xfrm>
          <a:prstGeom prst="line">
            <a:avLst/>
          </a:prstGeom>
          <a:ln w="1905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16800" y="2711450"/>
            <a:ext cx="8509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商品を卸す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7083025" y="4178300"/>
            <a:ext cx="1518449" cy="1562100"/>
          </a:xfrm>
          <a:prstGeom prst="line">
            <a:avLst/>
          </a:prstGeom>
          <a:ln w="1905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61250" y="4832350"/>
            <a:ext cx="7620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販売</a:t>
            </a:r>
          </a:p>
        </p:txBody>
      </p:sp>
      <p:cxnSp>
        <p:nvCxnSpPr>
          <p:cNvPr id="20" name="arrow"/>
          <p:cNvCxnSpPr/>
          <p:nvPr/>
        </p:nvCxnSpPr>
        <p:spPr>
          <a:xfrm flipH="1" flipV="1">
            <a:off x="9144659" y="2057400"/>
            <a:ext cx="1518448" cy="1562100"/>
          </a:xfrm>
          <a:prstGeom prst="line">
            <a:avLst/>
          </a:prstGeom>
          <a:ln w="1905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522883" y="2711450"/>
            <a:ext cx="7620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保守</a:t>
            </a:r>
          </a:p>
        </p:txBody>
      </p:sp>
      <p:cxnSp>
        <p:nvCxnSpPr>
          <p:cNvPr id="22" name="arrow"/>
          <p:cNvCxnSpPr/>
          <p:nvPr/>
        </p:nvCxnSpPr>
        <p:spPr>
          <a:xfrm flipV="1">
            <a:off x="8873066" y="2057400"/>
            <a:ext cx="0" cy="3683000"/>
          </a:xfrm>
          <a:prstGeom prst="line">
            <a:avLst/>
          </a:prstGeom>
          <a:ln w="1905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92066" y="3771900"/>
            <a:ext cx="7620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問合せ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7566" y="1498600"/>
            <a:ext cx="1651000" cy="5588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自社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5933" y="3619500"/>
            <a:ext cx="1651000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販売代理店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7566" y="5740400"/>
            <a:ext cx="1651000" cy="558800"/>
          </a:xfrm>
          <a:prstGeom prst="round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顧客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9200" y="3619500"/>
            <a:ext cx="1651000" cy="55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システムベンダー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構造部品⑧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persona_card / role_cards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25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1328400" cy="23114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" y="1778000"/>
            <a:ext cx="1143000" cy="11430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3022600"/>
            <a:ext cx="212344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経理部 主任（40代）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0840" y="1651000"/>
            <a:ext cx="1486407" cy="635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4247" y="1651000"/>
            <a:ext cx="2633472" cy="635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月次決算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97247" y="2311400"/>
            <a:ext cx="2760472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10840" y="2336800"/>
            <a:ext cx="1486407" cy="635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ITスキル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247" y="2336800"/>
            <a:ext cx="2633472" cy="635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Excel 中級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97247" y="2997200"/>
            <a:ext cx="2760472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10840" y="3022600"/>
            <a:ext cx="1486407" cy="635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課題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247" y="3022600"/>
            <a:ext cx="2633472" cy="635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締め作業が多い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97247" y="3683000"/>
            <a:ext cx="2760472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60919" y="1651000"/>
            <a:ext cx="424688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ニーズ・課題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2032000"/>
            <a:ext cx="4246880" cy="1625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集計の自動化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ミスの削減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800" y="3987800"/>
            <a:ext cx="367453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800" y="4368800"/>
            <a:ext cx="3674533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" y="4445000"/>
            <a:ext cx="34713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佐藤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4200" y="4800600"/>
            <a:ext cx="3369733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3400" y="4876800"/>
            <a:ext cx="3471333" cy="1320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全体の進捗管理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経営への報告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8733" y="3987800"/>
            <a:ext cx="367453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業務リーダー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8733" y="4368800"/>
            <a:ext cx="3674533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0333" y="4445000"/>
            <a:ext cx="34713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鈴木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11133" y="4800600"/>
            <a:ext cx="3369733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60333" y="4876800"/>
            <a:ext cx="3471333" cy="1320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業務要件の取りまとめ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5666" y="3987800"/>
            <a:ext cx="367453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技術リーダー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5666" y="4368800"/>
            <a:ext cx="3674533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7266" y="4445000"/>
            <a:ext cx="34713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高橋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38066" y="4800600"/>
            <a:ext cx="3369734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87266" y="4876800"/>
            <a:ext cx="3471333" cy="1320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方式設計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ベンダー管理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部品カタログ：数値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数値部品①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kpi_row / stat_compare / big_number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2717800" cy="1532758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574800"/>
            <a:ext cx="25654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工数削減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905000"/>
            <a:ext cx="2565400" cy="64375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62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574158"/>
            <a:ext cx="2565400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h/月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2000" y="1498600"/>
            <a:ext cx="2717800" cy="1532758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8200" y="1574800"/>
            <a:ext cx="25654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満足度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8200" y="1905000"/>
            <a:ext cx="2565400" cy="64375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62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8200" y="2574158"/>
            <a:ext cx="2565400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98600"/>
            <a:ext cx="2717800" cy="1532758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1574800"/>
            <a:ext cx="25654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転記ミス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1905000"/>
            <a:ext cx="2565400" cy="64375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62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2574158"/>
            <a:ext cx="2565400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件/月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2400" y="1498600"/>
            <a:ext cx="2717800" cy="1532758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8600" y="1574800"/>
            <a:ext cx="25654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導入期間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600" y="1905000"/>
            <a:ext cx="2565400" cy="64375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62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8600" y="2574158"/>
            <a:ext cx="2565400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か月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800" y="3209158"/>
            <a:ext cx="5283200" cy="1532758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800" y="3310758"/>
            <a:ext cx="52832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導入前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00" y="3640958"/>
            <a:ext cx="5283200" cy="99935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6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72h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7000" y="3209158"/>
            <a:ext cx="5283200" cy="1532758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0" y="3310758"/>
            <a:ext cx="52832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導入後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3640958"/>
            <a:ext cx="5283200" cy="99935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32h</a:t>
            </a:r>
          </a:p>
        </p:txBody>
      </p:sp>
      <p:sp>
        <p:nvSpPr>
          <p:cNvPr id="30" name="arrow"/>
          <p:cNvSpPr/>
          <p:nvPr/>
        </p:nvSpPr>
        <p:spPr>
          <a:xfrm>
            <a:off x="5943600" y="3696137"/>
            <a:ext cx="304800" cy="558800"/>
          </a:xfrm>
          <a:custGeom>
            <a:avLst/>
            <a:gdLst/>
            <a:ahLst/>
            <a:cxnLst/>
            <a:rect l="l" t="t" r="r" b="b"/>
            <a:pathLst>
              <a:path w="304800" h="558800">
                <a:moveTo>
                  <a:pt x="0" y="0"/>
                </a:moveTo>
                <a:lnTo>
                  <a:pt x="304800" y="279400"/>
                </a:lnTo>
                <a:lnTo>
                  <a:pt x="0" y="558800"/>
                </a:lnTo>
                <a:close/>
              </a:path>
            </a:pathLst>
          </a:cu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906760" y="3310758"/>
            <a:ext cx="75184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▲56%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800" y="4919717"/>
            <a:ext cx="5097780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期待効果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800" y="5249917"/>
            <a:ext cx="5097780" cy="104928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574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3.2</a:t>
            </a:r>
            <a:r>
              <a:rPr sz="574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億円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56580" y="5126639"/>
            <a:ext cx="0" cy="965638"/>
          </a:xfrm>
          <a:prstGeom prst="line">
            <a:avLst/>
          </a:prstGeom>
          <a:ln w="12700">
            <a:solidFill>
              <a:srgbClr val="BEBF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59780" y="4919717"/>
            <a:ext cx="5900420" cy="137948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5年間の累計削減効果（試算）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部品カタログ：数値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数値部品②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progress_bars / rank_bars / percent_bar / donut_kpi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1540509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要件定義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3909" y="1631661"/>
            <a:ext cx="3069590" cy="27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73909" y="1631661"/>
            <a:ext cx="3069590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9700" y="1498600"/>
            <a:ext cx="685800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2120322"/>
            <a:ext cx="1540509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3909" y="2253384"/>
            <a:ext cx="3069590" cy="27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73909" y="2253384"/>
            <a:ext cx="2455672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9700" y="2120322"/>
            <a:ext cx="685800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" y="2742045"/>
            <a:ext cx="1540509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開発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3909" y="2875106"/>
            <a:ext cx="3069590" cy="27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3909" y="2875106"/>
            <a:ext cx="1381315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9700" y="2742045"/>
            <a:ext cx="685800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" y="3363768"/>
            <a:ext cx="1540509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テスト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73909" y="3496829"/>
            <a:ext cx="3069590" cy="27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73909" y="3496829"/>
            <a:ext cx="306959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9700" y="3363768"/>
            <a:ext cx="685800" cy="54552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15664" y="1498600"/>
            <a:ext cx="0" cy="241069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07664" y="1270000"/>
            <a:ext cx="1016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目標 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1498600"/>
            <a:ext cx="1266825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1. 経理部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54925" y="1628486"/>
            <a:ext cx="3216275" cy="304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47400" y="1498600"/>
            <a:ext cx="889000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18h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2113972"/>
            <a:ext cx="1266825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営業部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54925" y="2243859"/>
            <a:ext cx="2144183" cy="304800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308" y="2113972"/>
            <a:ext cx="889000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12h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2729345"/>
            <a:ext cx="1266825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総務部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54925" y="2859231"/>
            <a:ext cx="1072091" cy="304800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3216" y="2729345"/>
            <a:ext cx="889000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6h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3344718"/>
            <a:ext cx="1266825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4. 人事部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4925" y="3474604"/>
            <a:ext cx="714727" cy="304800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5852" y="3344718"/>
            <a:ext cx="889000" cy="5645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800" y="5015345"/>
            <a:ext cx="2463165" cy="558800"/>
          </a:xfrm>
          <a:prstGeom prst="rect">
            <a:avLst/>
          </a:prstGeom>
          <a:solidFill>
            <a:srgbClr val="001F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382" y="4685145"/>
            <a:ext cx="1778000" cy="2794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人件費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94965" y="5015345"/>
            <a:ext cx="1642110" cy="558800"/>
          </a:xfrm>
          <a:prstGeom prst="rect">
            <a:avLst/>
          </a:prstGeom>
          <a:solidFill>
            <a:srgbClr val="276C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27020" y="5624945"/>
            <a:ext cx="1778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システム費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7075" y="5015345"/>
            <a:ext cx="821055" cy="558800"/>
          </a:xfrm>
          <a:prstGeom prst="rect">
            <a:avLst/>
          </a:prstGeom>
          <a:solidFill>
            <a:srgbClr val="8EB4E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8602" y="4685145"/>
            <a:ext cx="1778000" cy="2794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外注費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58130" y="5015345"/>
            <a:ext cx="547370" cy="558800"/>
          </a:xfrm>
          <a:prstGeom prst="rect">
            <a:avLst/>
          </a:prstGeom>
          <a:solidFill>
            <a:srgbClr val="BEBFB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42815" y="5624945"/>
            <a:ext cx="1778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その他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6796520" y="4290290"/>
          <a:ext cx="1653309" cy="165330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7127182" y="4786283"/>
            <a:ext cx="991985" cy="66132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082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72%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5968999"/>
            <a:ext cx="267335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移行完了率</a:t>
            </a:r>
          </a:p>
        </p:txBody>
      </p:sp>
      <p:graphicFrame>
        <p:nvGraphicFramePr>
          <p:cNvPr id="49" name="Chart 48"/>
          <p:cNvGraphicFramePr>
            <a:graphicFrameLocks noGrp="1"/>
          </p:cNvGraphicFramePr>
          <p:nvPr/>
        </p:nvGraphicFramePr>
        <p:xfrm>
          <a:off x="9596870" y="4290290"/>
          <a:ext cx="1653309" cy="165330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9927532" y="4786283"/>
            <a:ext cx="991985" cy="66132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082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86850" y="5968999"/>
            <a:ext cx="267335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教育受講率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部品カタログ：グラフ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グラフ部品①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waterfall / scatter_chart / bubble_chart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4262581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売上の増減要因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2381" y="1778000"/>
            <a:ext cx="2032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（単位：億円）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1800" y="2006600"/>
          <a:ext cx="4262581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948381" y="1498600"/>
          <a:ext cx="3278909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481290" y="1498600"/>
          <a:ext cx="3278909" cy="4800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部品カタログ：グラフ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グラフ部品②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chart_with_insight / chart の追加種類（line・area・column_100・radar）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29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6866128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月別売上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5928" y="1778000"/>
            <a:ext cx="2032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（単位：百万円）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1800" y="2006600"/>
          <a:ext cx="6866128" cy="19134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551928" y="1498600"/>
            <a:ext cx="4208272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示唆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1928" y="1879600"/>
            <a:ext cx="4208272" cy="2040466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7月以降、前年を大きく上回る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新商品の効果が出始めた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31800" y="4097866"/>
          <a:ext cx="3640666" cy="220133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75666" y="4097866"/>
          <a:ext cx="3640666" cy="220133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119533" y="4097866"/>
          <a:ext cx="3640666" cy="2201333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部品カタログ：画像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画像部品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screenshot_callouts / image_caption / image_grid / image_placeholder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30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pic>
        <p:nvPicPr>
          <p:cNvPr id="8" name="Picture 7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98" y="1498600"/>
            <a:ext cx="4180619" cy="26128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85297" y="1498600"/>
            <a:ext cx="4180618" cy="2612886"/>
          </a:xfrm>
          <a:prstGeom prst="rect">
            <a:avLst/>
          </a:prstGeom>
          <a:noFill/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50959" y="1999421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614176" y="1868777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241269" y="3175220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7773416" y="1549400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9816" y="1498600"/>
            <a:ext cx="3580384" cy="80322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メニューから機能を選ぶ</a:t>
            </a:r>
          </a:p>
        </p:txBody>
      </p:sp>
      <p:sp>
        <p:nvSpPr>
          <p:cNvPr id="15" name="Oval 14"/>
          <p:cNvSpPr/>
          <p:nvPr/>
        </p:nvSpPr>
        <p:spPr>
          <a:xfrm>
            <a:off x="7773416" y="2454228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9816" y="2403428"/>
            <a:ext cx="3580384" cy="80322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主要な指標を表示</a:t>
            </a:r>
          </a:p>
        </p:txBody>
      </p:sp>
      <p:sp>
        <p:nvSpPr>
          <p:cNvPr id="17" name="Oval 16"/>
          <p:cNvSpPr/>
          <p:nvPr/>
        </p:nvSpPr>
        <p:spPr>
          <a:xfrm>
            <a:off x="7773416" y="3359057"/>
            <a:ext cx="304800" cy="304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9816" y="3308257"/>
            <a:ext cx="3580384" cy="80322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月別の推移をグラフで確認</a:t>
            </a:r>
          </a:p>
        </p:txBody>
      </p:sp>
      <p:pic>
        <p:nvPicPr>
          <p:cNvPr id="19" name="Picture 18" descr="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35" y="4289286"/>
            <a:ext cx="2239617" cy="167971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1800" y="5994400"/>
            <a:ext cx="3033888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図1 現地の様子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68888" y="4289286"/>
            <a:ext cx="2350911" cy="2009913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269" y="4340086"/>
            <a:ext cx="2104150" cy="157811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19688" y="5943600"/>
            <a:ext cx="2249311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工場A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289286"/>
            <a:ext cx="2350911" cy="2009913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580" y="4340086"/>
            <a:ext cx="2104150" cy="15781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23000" y="5943600"/>
            <a:ext cx="2249311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工場B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26311" y="4289286"/>
            <a:ext cx="3033888" cy="2009913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ここに組織図の画像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部品カタログ：スケジュール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スケジュール部品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calendar_month（月間予定）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500" y="1498600"/>
            <a:ext cx="1592942" cy="27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2842" y="1498600"/>
            <a:ext cx="1592942" cy="27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81185" y="1498600"/>
            <a:ext cx="1592942" cy="27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9528" y="1498600"/>
            <a:ext cx="1592942" cy="27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17871" y="1498600"/>
            <a:ext cx="1592942" cy="27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6214" y="1498600"/>
            <a:ext cx="1592942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54557" y="1498600"/>
            <a:ext cx="1592942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500" y="18288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2842" y="18288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81185" y="18288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9528" y="18288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17871" y="18288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36214" y="18288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54557" y="18288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9957" y="18415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500" y="25738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900" y="25865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62842" y="25738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8242" y="25865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81185" y="25738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6585" y="25865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19285" y="2802466"/>
            <a:ext cx="1516742" cy="465666"/>
          </a:xfrm>
          <a:prstGeom prst="round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>
            <a:noAutofit/>
          </a:bodyPr>
          <a:lstStyle/>
          <a:p>
            <a:pPr algn="l"/>
            <a:r>
              <a:rPr sz="10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キックオフ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9528" y="25738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24928" y="25865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17871" y="25738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3271" y="25865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36214" y="2573866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1614" y="25865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54557" y="2573866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79957" y="25865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4500" y="3318933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9900" y="33316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2842" y="3318933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8242" y="33316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1185" y="3318933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6585" y="33316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99528" y="3318933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4928" y="33316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37628" y="3547533"/>
            <a:ext cx="1516742" cy="465666"/>
          </a:xfrm>
          <a:prstGeom prst="round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>
            <a:noAutofit/>
          </a:bodyPr>
          <a:lstStyle/>
          <a:p>
            <a:pPr algn="l"/>
            <a:r>
              <a:rPr sz="10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ヒアリング①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17871" y="3318933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3271" y="33316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55971" y="3547533"/>
            <a:ext cx="1516742" cy="465666"/>
          </a:xfrm>
          <a:prstGeom prst="round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>
            <a:noAutofit/>
          </a:bodyPr>
          <a:lstStyle/>
          <a:p>
            <a:pPr algn="l"/>
            <a:r>
              <a:rPr sz="10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ヒアリング②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36214" y="33189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61614" y="33316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54557" y="33189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79957" y="33316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4500" y="4064000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9900" y="40767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62842" y="4064000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88242" y="40767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81185" y="4064000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06585" y="40767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99528" y="4064000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24928" y="40767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17871" y="4064000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3271" y="40767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55971" y="4292600"/>
            <a:ext cx="1516742" cy="465666"/>
          </a:xfrm>
          <a:prstGeom prst="round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>
            <a:noAutofit/>
          </a:bodyPr>
          <a:lstStyle/>
          <a:p>
            <a:pPr algn="l"/>
            <a:r>
              <a:rPr sz="10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中間報告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36214" y="40640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61614" y="40767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54557" y="4064000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79957" y="4076700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4500" y="48090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9900" y="48217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62842" y="48090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88242" y="48217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81185" y="48090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06585" y="48217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99528" y="48090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24928" y="48217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17871" y="4809066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3271" y="48217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27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55971" y="5037666"/>
            <a:ext cx="1516742" cy="465666"/>
          </a:xfrm>
          <a:prstGeom prst="round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>
            <a:noAutofit/>
          </a:bodyPr>
          <a:lstStyle/>
          <a:p>
            <a:pPr algn="l"/>
            <a:r>
              <a:rPr sz="10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最終報告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36214" y="4809066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61614" y="48217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54557" y="4809066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79957" y="4821766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4500" y="5554133"/>
            <a:ext cx="1592942" cy="719666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9900" y="5566833"/>
            <a:ext cx="381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62842" y="55541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81185" y="55541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299528" y="55541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17871" y="55541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36214" y="55541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154557" y="5554133"/>
            <a:ext cx="1592942" cy="719666"/>
          </a:xfrm>
          <a:prstGeom prst="rect">
            <a:avLst/>
          </a:prstGeom>
          <a:solidFill>
            <a:srgbClr val="F1F2F1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部品カタログ：スケジュール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スケジュール・管理部品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schedule_list / action_items / kpi_trend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524000" cy="615121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10/20（月）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8200" y="1498600"/>
            <a:ext cx="2307855" cy="61512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キックオフ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3055" y="1679160"/>
            <a:ext cx="4826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完了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55800" y="2139121"/>
            <a:ext cx="3603255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1800" y="2164521"/>
            <a:ext cx="1524000" cy="615121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10/27（月）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8200" y="2164521"/>
            <a:ext cx="2307855" cy="61512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ヒアリング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3055" y="2345082"/>
            <a:ext cx="622300" cy="254000"/>
          </a:xfrm>
          <a:prstGeom prst="round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進行中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55800" y="2805043"/>
            <a:ext cx="3603255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1800" y="2830443"/>
            <a:ext cx="1524000" cy="615121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11/10（月）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8200" y="2830443"/>
            <a:ext cx="2307855" cy="61512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中間報告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3055" y="3011004"/>
            <a:ext cx="622300" cy="254000"/>
          </a:xfrm>
          <a:prstGeom prst="round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未着手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55800" y="3470965"/>
            <a:ext cx="3603255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1800" y="3496365"/>
            <a:ext cx="1524000" cy="615121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11/25（火）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8200" y="3496365"/>
            <a:ext cx="2307855" cy="61512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最終報告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55800" y="4136886"/>
            <a:ext cx="3603255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31800" y="4289286"/>
            <a:ext cx="2487427" cy="200991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800" y="4365486"/>
            <a:ext cx="2233427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月間利用者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800" y="4695686"/>
            <a:ext cx="1119342" cy="119711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88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120人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800" y="5943600"/>
            <a:ext cx="2233427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前月比 +9%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1728942" y="4721086"/>
          <a:ext cx="1063285" cy="114631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ectangle 27"/>
          <p:cNvSpPr/>
          <p:nvPr/>
        </p:nvSpPr>
        <p:spPr>
          <a:xfrm>
            <a:off x="3071627" y="4289286"/>
            <a:ext cx="2487427" cy="200991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98627" y="4365486"/>
            <a:ext cx="2233427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平均処理日数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8627" y="4695686"/>
            <a:ext cx="1119342" cy="150191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88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3.2日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4368770" y="4721086"/>
          <a:ext cx="1063285" cy="145111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863855" y="1498600"/>
          <a:ext cx="5896341" cy="153987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7823"/>
                <a:gridCol w="2985490"/>
                <a:gridCol w="895647"/>
                <a:gridCol w="821009"/>
                <a:gridCol w="746372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No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期限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状況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ヒアリング対象者の確定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鈴木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10/24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完了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現行帳票の収集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10/31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進行中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データ件数の調査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田中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10/31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遅延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予算案の作成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佐藤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11/7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未着手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アジェンダ</a:t>
            </a:r>
          </a:p>
        </p:txBody>
      </p:sp>
      <p:cxnSp>
        <p:nvCxnSpPr>
          <p:cNvPr id="3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33</a:t>
            </a:r>
          </a:p>
        </p:txBody>
      </p:sp>
      <p:sp>
        <p:nvSpPr>
          <p:cNvPr id="5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800" y="1270000"/>
            <a:ext cx="98044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" bIns="25400">
            <a:noAutofit/>
          </a:bodyPr>
          <a:lstStyle/>
          <a:p>
            <a:pPr algn="l"/>
            <a:r>
              <a:rPr sz="18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1.　本検討の概要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3800" y="1930400"/>
            <a:ext cx="9804400" cy="558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" bIns="2540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　現状分析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1193800" y="2590800"/>
            <a:ext cx="98044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" bIns="25400">
            <a:noAutofit/>
          </a:bodyPr>
          <a:lstStyle/>
          <a:p>
            <a:pPr algn="l"/>
            <a:r>
              <a:rPr sz="18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3.　今後の進め方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3800" y="3251200"/>
            <a:ext cx="98044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" bIns="25400">
            <a:noAutofit/>
          </a:bodyPr>
          <a:lstStyle/>
          <a:p>
            <a:pPr algn="l"/>
            <a:r>
              <a:rPr sz="18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4.　質疑応答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closing"/>
          <p:cNvSpPr txBox="1"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8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以上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0" y="3403600"/>
            <a:ext cx="3048000" cy="0"/>
          </a:xfrm>
          <a:prstGeom prst="line">
            <a:avLst/>
          </a:prstGeom>
          <a:ln w="19050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0" y="3683000"/>
            <a:ext cx="7620000" cy="1016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お問い合わせ：情報システム部（内線 1234）</a:t>
            </a:r>
          </a:p>
        </p:txBody>
      </p:sp>
      <p:sp>
        <p:nvSpPr>
          <p:cNvPr id="5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34</a:t>
            </a:r>
          </a:p>
        </p:txBody>
      </p:sp>
      <p:sp>
        <p:nvSpPr>
          <p:cNvPr id="6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部品カタログ：アイコン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アイコン部品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icon（18種） / icon_label / icon_steps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35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pSp>
        <p:nvGrpSpPr>
          <p:cNvPr id="8" name="icon:person"/>
          <p:cNvGrpSpPr/>
          <p:nvPr/>
        </p:nvGrpSpPr>
        <p:grpSpPr>
          <a:xfrm>
            <a:off x="715963" y="1514641"/>
            <a:ext cx="577494" cy="769992"/>
            <a:chOff x="715963" y="1514641"/>
            <a:chExt cx="577494" cy="769992"/>
          </a:xfrm>
        </p:grpSpPr>
        <p:sp>
          <p:nvSpPr>
            <p:cNvPr id="9" name="Oval 8"/>
            <p:cNvSpPr/>
            <p:nvPr/>
          </p:nvSpPr>
          <p:spPr>
            <a:xfrm>
              <a:off x="852316" y="1514641"/>
              <a:ext cx="304788" cy="304788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715963" y="1867554"/>
              <a:ext cx="577494" cy="417079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31800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person</a:t>
            </a:r>
          </a:p>
        </p:txBody>
      </p:sp>
      <p:grpSp>
        <p:nvGrpSpPr>
          <p:cNvPr id="12" name="icon:people"/>
          <p:cNvGrpSpPr/>
          <p:nvPr/>
        </p:nvGrpSpPr>
        <p:grpSpPr>
          <a:xfrm>
            <a:off x="1966328" y="1509187"/>
            <a:ext cx="638131" cy="778654"/>
            <a:chOff x="1966328" y="1509187"/>
            <a:chExt cx="638131" cy="778654"/>
          </a:xfrm>
        </p:grpSpPr>
        <p:sp>
          <p:nvSpPr>
            <p:cNvPr id="13" name="Oval 12"/>
            <p:cNvSpPr/>
            <p:nvPr/>
          </p:nvSpPr>
          <p:spPr>
            <a:xfrm>
              <a:off x="2313305" y="1509187"/>
              <a:ext cx="201160" cy="201160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2223313" y="1742110"/>
              <a:ext cx="381146" cy="275272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8EB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2075410" y="1671848"/>
              <a:ext cx="243830" cy="243830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1966328" y="1954178"/>
              <a:ext cx="461995" cy="333663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704622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people</a:t>
            </a:r>
          </a:p>
        </p:txBody>
      </p:sp>
      <p:grpSp>
        <p:nvGrpSpPr>
          <p:cNvPr id="18" name="icon:document"/>
          <p:cNvGrpSpPr/>
          <p:nvPr/>
        </p:nvGrpSpPr>
        <p:grpSpPr>
          <a:xfrm>
            <a:off x="3277649" y="1514641"/>
            <a:ext cx="545411" cy="769992"/>
            <a:chOff x="3277649" y="1514641"/>
            <a:chExt cx="545411" cy="769992"/>
          </a:xfrm>
        </p:grpSpPr>
        <p:sp>
          <p:nvSpPr>
            <p:cNvPr id="19" name="Folded Corner 18"/>
            <p:cNvSpPr/>
            <p:nvPr/>
          </p:nvSpPr>
          <p:spPr>
            <a:xfrm>
              <a:off x="3277649" y="1514641"/>
              <a:ext cx="545411" cy="769992"/>
            </a:xfrm>
            <a:prstGeom prst="foldedCorner">
              <a:avLst/>
            </a:prstGeom>
            <a:solidFill>
              <a:srgbClr val="FFFFFF"/>
            </a:solidFill>
            <a:ln w="40103">
              <a:solidFill>
                <a:srgbClr val="001F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3373898" y="1723181"/>
              <a:ext cx="352914" cy="0"/>
            </a:xfrm>
            <a:prstGeom prst="line">
              <a:avLst/>
            </a:prstGeom>
            <a:ln w="32083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3373898" y="1867554"/>
              <a:ext cx="352914" cy="0"/>
            </a:xfrm>
            <a:prstGeom prst="line">
              <a:avLst/>
            </a:prstGeom>
            <a:ln w="32083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3373898" y="2011928"/>
              <a:ext cx="352914" cy="0"/>
            </a:xfrm>
            <a:prstGeom prst="line">
              <a:avLst/>
            </a:prstGeom>
            <a:ln w="32083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977444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document</a:t>
            </a:r>
          </a:p>
        </p:txBody>
      </p:sp>
      <p:grpSp>
        <p:nvGrpSpPr>
          <p:cNvPr id="24" name="icon:pc"/>
          <p:cNvGrpSpPr/>
          <p:nvPr/>
        </p:nvGrpSpPr>
        <p:grpSpPr>
          <a:xfrm>
            <a:off x="4422140" y="1562766"/>
            <a:ext cx="802075" cy="673743"/>
            <a:chOff x="4422140" y="1562766"/>
            <a:chExt cx="802075" cy="673743"/>
          </a:xfrm>
        </p:grpSpPr>
        <p:sp>
          <p:nvSpPr>
            <p:cNvPr id="25" name="Rectangle 24"/>
            <p:cNvSpPr/>
            <p:nvPr/>
          </p:nvSpPr>
          <p:spPr>
            <a:xfrm>
              <a:off x="4422140" y="1562766"/>
              <a:ext cx="802075" cy="497286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478285" y="1610890"/>
              <a:ext cx="689784" cy="3849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759011" y="2060052"/>
              <a:ext cx="128332" cy="112290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614638" y="2172343"/>
              <a:ext cx="417079" cy="64166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250266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pc</a:t>
            </a:r>
          </a:p>
        </p:txBody>
      </p:sp>
      <p:grpSp>
        <p:nvGrpSpPr>
          <p:cNvPr id="30" name="icon:server"/>
          <p:cNvGrpSpPr/>
          <p:nvPr/>
        </p:nvGrpSpPr>
        <p:grpSpPr>
          <a:xfrm>
            <a:off x="5775169" y="1498600"/>
            <a:ext cx="641660" cy="769992"/>
            <a:chOff x="5775169" y="1498600"/>
            <a:chExt cx="641660" cy="769992"/>
          </a:xfrm>
        </p:grpSpPr>
        <p:sp>
          <p:nvSpPr>
            <p:cNvPr id="31" name="Rounded Rectangle 30"/>
            <p:cNvSpPr/>
            <p:nvPr/>
          </p:nvSpPr>
          <p:spPr>
            <a:xfrm>
              <a:off x="5775169" y="1498600"/>
              <a:ext cx="641660" cy="224581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256415" y="1578807"/>
              <a:ext cx="64166" cy="6416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775169" y="1771305"/>
              <a:ext cx="641660" cy="224581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256415" y="1851513"/>
              <a:ext cx="64166" cy="6416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775169" y="2044011"/>
              <a:ext cx="641660" cy="224581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6256415" y="2124218"/>
              <a:ext cx="64166" cy="6416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523088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server</a:t>
            </a:r>
          </a:p>
        </p:txBody>
      </p:sp>
      <p:grpSp>
        <p:nvGrpSpPr>
          <p:cNvPr id="38" name="icon:database"/>
          <p:cNvGrpSpPr/>
          <p:nvPr/>
        </p:nvGrpSpPr>
        <p:grpSpPr>
          <a:xfrm>
            <a:off x="7080075" y="1498600"/>
            <a:ext cx="577494" cy="802075"/>
            <a:chOff x="7080075" y="1498600"/>
            <a:chExt cx="577494" cy="802075"/>
          </a:xfrm>
        </p:grpSpPr>
        <p:sp>
          <p:nvSpPr>
            <p:cNvPr id="39" name="Can 38"/>
            <p:cNvSpPr/>
            <p:nvPr/>
          </p:nvSpPr>
          <p:spPr>
            <a:xfrm>
              <a:off x="7080075" y="1498600"/>
              <a:ext cx="577494" cy="802075"/>
            </a:xfrm>
            <a:prstGeom prst="can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795911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database</a:t>
            </a:r>
          </a:p>
        </p:txBody>
      </p:sp>
      <p:grpSp>
        <p:nvGrpSpPr>
          <p:cNvPr id="41" name="icon:cloud"/>
          <p:cNvGrpSpPr/>
          <p:nvPr/>
        </p:nvGrpSpPr>
        <p:grpSpPr>
          <a:xfrm>
            <a:off x="8240606" y="1626932"/>
            <a:ext cx="802075" cy="545411"/>
            <a:chOff x="8240606" y="1626932"/>
            <a:chExt cx="802075" cy="545411"/>
          </a:xfrm>
        </p:grpSpPr>
        <p:sp>
          <p:nvSpPr>
            <p:cNvPr id="42" name="Cloud 41"/>
            <p:cNvSpPr/>
            <p:nvPr/>
          </p:nvSpPr>
          <p:spPr>
            <a:xfrm>
              <a:off x="8240606" y="1626932"/>
              <a:ext cx="802075" cy="545411"/>
            </a:xfrm>
            <a:prstGeom prst="cloud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8068733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cloud</a:t>
            </a:r>
          </a:p>
        </p:txBody>
      </p:sp>
      <p:grpSp>
        <p:nvGrpSpPr>
          <p:cNvPr id="44" name="icon:building"/>
          <p:cNvGrpSpPr/>
          <p:nvPr/>
        </p:nvGrpSpPr>
        <p:grpSpPr>
          <a:xfrm>
            <a:off x="9641760" y="1530683"/>
            <a:ext cx="545411" cy="753951"/>
            <a:chOff x="9641760" y="1530683"/>
            <a:chExt cx="545411" cy="753951"/>
          </a:xfrm>
        </p:grpSpPr>
        <p:sp>
          <p:nvSpPr>
            <p:cNvPr id="45" name="Rectangle 44"/>
            <p:cNvSpPr/>
            <p:nvPr/>
          </p:nvSpPr>
          <p:spPr>
            <a:xfrm>
              <a:off x="9641760" y="1530683"/>
              <a:ext cx="545411" cy="753951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713947" y="1610890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858321" y="1610890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002694" y="1610890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713947" y="1771305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858321" y="1771305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002694" y="1771305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713947" y="1931720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858321" y="1931720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002694" y="1931720"/>
              <a:ext cx="96249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850300" y="2108177"/>
              <a:ext cx="128332" cy="176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9341555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building</a:t>
            </a:r>
          </a:p>
        </p:txBody>
      </p:sp>
      <p:grpSp>
        <p:nvGrpSpPr>
          <p:cNvPr id="57" name="icon:factory"/>
          <p:cNvGrpSpPr/>
          <p:nvPr/>
        </p:nvGrpSpPr>
        <p:grpSpPr>
          <a:xfrm>
            <a:off x="10786251" y="1578807"/>
            <a:ext cx="802075" cy="721868"/>
            <a:chOff x="10786251" y="1578807"/>
            <a:chExt cx="802075" cy="721868"/>
          </a:xfrm>
        </p:grpSpPr>
        <p:sp>
          <p:nvSpPr>
            <p:cNvPr id="58" name="Freeform 57"/>
            <p:cNvSpPr/>
            <p:nvPr/>
          </p:nvSpPr>
          <p:spPr>
            <a:xfrm>
              <a:off x="10786251" y="1578807"/>
              <a:ext cx="802075" cy="721868"/>
            </a:xfrm>
            <a:custGeom>
              <a:avLst/>
              <a:gdLst/>
              <a:ahLst/>
              <a:cxnLst/>
              <a:rect l="l" t="t" r="r" b="b"/>
              <a:pathLst>
                <a:path w="802075" h="721868">
                  <a:moveTo>
                    <a:pt x="0" y="721868"/>
                  </a:moveTo>
                  <a:lnTo>
                    <a:pt x="0" y="280727"/>
                  </a:lnTo>
                  <a:lnTo>
                    <a:pt x="240622" y="417079"/>
                  </a:lnTo>
                  <a:lnTo>
                    <a:pt x="240622" y="280727"/>
                  </a:lnTo>
                  <a:lnTo>
                    <a:pt x="481245" y="417079"/>
                  </a:lnTo>
                  <a:lnTo>
                    <a:pt x="481245" y="0"/>
                  </a:lnTo>
                  <a:lnTo>
                    <a:pt x="625619" y="0"/>
                  </a:lnTo>
                  <a:lnTo>
                    <a:pt x="625619" y="280727"/>
                  </a:lnTo>
                  <a:lnTo>
                    <a:pt x="802075" y="280727"/>
                  </a:lnTo>
                  <a:lnTo>
                    <a:pt x="802075" y="721868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0866458" y="2092135"/>
              <a:ext cx="112290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1107081" y="2092135"/>
              <a:ext cx="112290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1347703" y="2092135"/>
              <a:ext cx="112290" cy="962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10614377" y="2338775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factory</a:t>
            </a:r>
          </a:p>
        </p:txBody>
      </p:sp>
      <p:grpSp>
        <p:nvGrpSpPr>
          <p:cNvPr id="63" name="icon:money"/>
          <p:cNvGrpSpPr/>
          <p:nvPr/>
        </p:nvGrpSpPr>
        <p:grpSpPr>
          <a:xfrm>
            <a:off x="635756" y="2823720"/>
            <a:ext cx="737909" cy="737909"/>
            <a:chOff x="635756" y="2823720"/>
            <a:chExt cx="737909" cy="737909"/>
          </a:xfrm>
        </p:grpSpPr>
        <p:sp>
          <p:nvSpPr>
            <p:cNvPr id="64" name="Oval 63"/>
            <p:cNvSpPr/>
            <p:nvPr/>
          </p:nvSpPr>
          <p:spPr>
            <a:xfrm>
              <a:off x="635756" y="2823720"/>
              <a:ext cx="737909" cy="737909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/>
              <a:r>
                <a:rPr sz="3031" b="1">
                  <a:solidFill>
                    <a:srgbClr val="FFFFFF"/>
                  </a:solidFill>
                  <a:latin typeface="Meiryo UI"/>
                  <a:ea typeface="Meiryo UI"/>
                  <a:cs typeface="Meiryo UI"/>
                </a:rPr>
                <a:t>¥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431800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money</a:t>
            </a:r>
          </a:p>
        </p:txBody>
      </p:sp>
      <p:grpSp>
        <p:nvGrpSpPr>
          <p:cNvPr id="66" name="icon:phone"/>
          <p:cNvGrpSpPr/>
          <p:nvPr/>
        </p:nvGrpSpPr>
        <p:grpSpPr>
          <a:xfrm>
            <a:off x="2085035" y="2791637"/>
            <a:ext cx="384996" cy="802075"/>
            <a:chOff x="2085035" y="2791637"/>
            <a:chExt cx="384996" cy="802075"/>
          </a:xfrm>
        </p:grpSpPr>
        <p:sp>
          <p:nvSpPr>
            <p:cNvPr id="67" name="Rounded Rectangle 66"/>
            <p:cNvSpPr/>
            <p:nvPr/>
          </p:nvSpPr>
          <p:spPr>
            <a:xfrm>
              <a:off x="2085035" y="2791637"/>
              <a:ext cx="384996" cy="802075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125138" y="2871844"/>
              <a:ext cx="304788" cy="5614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2237429" y="3473401"/>
              <a:ext cx="80207" cy="802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1704622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phone</a:t>
            </a:r>
          </a:p>
        </p:txBody>
      </p:sp>
      <p:grpSp>
        <p:nvGrpSpPr>
          <p:cNvPr id="71" name="icon:mail"/>
          <p:cNvGrpSpPr/>
          <p:nvPr/>
        </p:nvGrpSpPr>
        <p:grpSpPr>
          <a:xfrm>
            <a:off x="3149317" y="2936010"/>
            <a:ext cx="802076" cy="513328"/>
            <a:chOff x="3149317" y="2936010"/>
            <a:chExt cx="802076" cy="513328"/>
          </a:xfrm>
        </p:grpSpPr>
        <p:sp>
          <p:nvSpPr>
            <p:cNvPr id="72" name="Rectangle 71"/>
            <p:cNvSpPr/>
            <p:nvPr/>
          </p:nvSpPr>
          <p:spPr>
            <a:xfrm>
              <a:off x="3149317" y="2936010"/>
              <a:ext cx="802075" cy="513328"/>
            </a:xfrm>
            <a:prstGeom prst="rect">
              <a:avLst/>
            </a:prstGeom>
            <a:solidFill>
              <a:srgbClr val="FFFFFF"/>
            </a:solidFill>
            <a:ln w="40103">
              <a:solidFill>
                <a:srgbClr val="001F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Connector 72"/>
            <p:cNvCxnSpPr/>
            <p:nvPr/>
          </p:nvCxnSpPr>
          <p:spPr>
            <a:xfrm>
              <a:off x="3149317" y="2936010"/>
              <a:ext cx="401038" cy="296768"/>
            </a:xfrm>
            <a:prstGeom prst="line">
              <a:avLst/>
            </a:prstGeom>
            <a:ln w="40103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 flipH="1">
              <a:off x="3550355" y="2936010"/>
              <a:ext cx="401038" cy="296768"/>
            </a:xfrm>
            <a:prstGeom prst="line">
              <a:avLst/>
            </a:prstGeom>
            <a:ln w="40103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/>
          <p:cNvSpPr txBox="1"/>
          <p:nvPr/>
        </p:nvSpPr>
        <p:spPr>
          <a:xfrm>
            <a:off x="2977444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mail</a:t>
            </a:r>
          </a:p>
        </p:txBody>
      </p:sp>
      <p:grpSp>
        <p:nvGrpSpPr>
          <p:cNvPr id="76" name="icon:gear"/>
          <p:cNvGrpSpPr/>
          <p:nvPr/>
        </p:nvGrpSpPr>
        <p:grpSpPr>
          <a:xfrm>
            <a:off x="4454223" y="2823720"/>
            <a:ext cx="737909" cy="737909"/>
            <a:chOff x="4454223" y="2823720"/>
            <a:chExt cx="737909" cy="737909"/>
          </a:xfrm>
        </p:grpSpPr>
        <p:sp>
          <p:nvSpPr>
            <p:cNvPr id="77" name="Gear 6 76"/>
            <p:cNvSpPr/>
            <p:nvPr/>
          </p:nvSpPr>
          <p:spPr>
            <a:xfrm>
              <a:off x="4454223" y="2823720"/>
              <a:ext cx="737909" cy="737909"/>
            </a:xfrm>
            <a:prstGeom prst="gear6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4250266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gear</a:t>
            </a:r>
          </a:p>
        </p:txBody>
      </p:sp>
      <p:grpSp>
        <p:nvGrpSpPr>
          <p:cNvPr id="79" name="icon:lock"/>
          <p:cNvGrpSpPr/>
          <p:nvPr/>
        </p:nvGrpSpPr>
        <p:grpSpPr>
          <a:xfrm>
            <a:off x="5807252" y="2823720"/>
            <a:ext cx="577494" cy="753950"/>
            <a:chOff x="5807252" y="2823720"/>
            <a:chExt cx="577494" cy="753950"/>
          </a:xfrm>
        </p:grpSpPr>
        <p:sp>
          <p:nvSpPr>
            <p:cNvPr id="80" name="Rounded Rectangle 79"/>
            <p:cNvSpPr/>
            <p:nvPr/>
          </p:nvSpPr>
          <p:spPr>
            <a:xfrm>
              <a:off x="5911522" y="2823720"/>
              <a:ext cx="368954" cy="497286"/>
            </a:xfrm>
            <a:prstGeom prst="roundRect">
              <a:avLst>
                <a:gd name="adj" fmla="val 50000"/>
              </a:avLst>
            </a:prstGeom>
            <a:noFill/>
            <a:ln w="72186">
              <a:solidFill>
                <a:srgbClr val="001F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5807252" y="3128508"/>
              <a:ext cx="577494" cy="449162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055896" y="3256841"/>
              <a:ext cx="80207" cy="176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5523088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lock</a:t>
            </a:r>
          </a:p>
        </p:txBody>
      </p:sp>
      <p:grpSp>
        <p:nvGrpSpPr>
          <p:cNvPr id="84" name="icon:chart"/>
          <p:cNvGrpSpPr/>
          <p:nvPr/>
        </p:nvGrpSpPr>
        <p:grpSpPr>
          <a:xfrm>
            <a:off x="7015908" y="2839761"/>
            <a:ext cx="721868" cy="705827"/>
            <a:chOff x="7015908" y="2839761"/>
            <a:chExt cx="721868" cy="705827"/>
          </a:xfrm>
        </p:grpSpPr>
        <p:cxnSp>
          <p:nvCxnSpPr>
            <p:cNvPr id="85" name="Connector 84"/>
            <p:cNvCxnSpPr/>
            <p:nvPr/>
          </p:nvCxnSpPr>
          <p:spPr>
            <a:xfrm>
              <a:off x="7015908" y="2839761"/>
              <a:ext cx="0" cy="705827"/>
            </a:xfrm>
            <a:prstGeom prst="line">
              <a:avLst/>
            </a:prstGeom>
            <a:ln w="40103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>
              <a:off x="7015908" y="3545588"/>
              <a:ext cx="721868" cy="0"/>
            </a:xfrm>
            <a:prstGeom prst="line">
              <a:avLst/>
            </a:prstGeom>
            <a:ln w="40103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/>
            <p:cNvSpPr/>
            <p:nvPr/>
          </p:nvSpPr>
          <p:spPr>
            <a:xfrm>
              <a:off x="7112158" y="3232778"/>
              <a:ext cx="144373" cy="280726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7328718" y="3072363"/>
              <a:ext cx="144373" cy="441141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7545278" y="2871844"/>
              <a:ext cx="144373" cy="641660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795911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chart</a:t>
            </a:r>
          </a:p>
        </p:txBody>
      </p:sp>
      <p:grpSp>
        <p:nvGrpSpPr>
          <p:cNvPr id="91" name="icon:check"/>
          <p:cNvGrpSpPr/>
          <p:nvPr/>
        </p:nvGrpSpPr>
        <p:grpSpPr>
          <a:xfrm>
            <a:off x="8272689" y="2823720"/>
            <a:ext cx="737909" cy="737909"/>
            <a:chOff x="8272689" y="2823720"/>
            <a:chExt cx="737909" cy="737909"/>
          </a:xfrm>
        </p:grpSpPr>
        <p:sp>
          <p:nvSpPr>
            <p:cNvPr id="92" name="Oval 91"/>
            <p:cNvSpPr/>
            <p:nvPr/>
          </p:nvSpPr>
          <p:spPr>
            <a:xfrm>
              <a:off x="8272689" y="2823720"/>
              <a:ext cx="737909" cy="737909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/>
              <a:r>
                <a:rPr sz="3157" b="1">
                  <a:solidFill>
                    <a:srgbClr val="FFFFFF"/>
                  </a:solidFill>
                  <a:latin typeface="Meiryo UI"/>
                  <a:ea typeface="Meiryo UI"/>
                  <a:cs typeface="Meiryo UI"/>
                </a:rPr>
                <a:t>✓</a:t>
              </a: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8068733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check</a:t>
            </a:r>
          </a:p>
        </p:txBody>
      </p:sp>
      <p:grpSp>
        <p:nvGrpSpPr>
          <p:cNvPr id="94" name="icon:warning"/>
          <p:cNvGrpSpPr/>
          <p:nvPr/>
        </p:nvGrpSpPr>
        <p:grpSpPr>
          <a:xfrm>
            <a:off x="9513428" y="2823720"/>
            <a:ext cx="802075" cy="721868"/>
            <a:chOff x="9513428" y="2823720"/>
            <a:chExt cx="802075" cy="721868"/>
          </a:xfrm>
        </p:grpSpPr>
        <p:sp>
          <p:nvSpPr>
            <p:cNvPr id="95" name="Isosceles Triangle 94"/>
            <p:cNvSpPr/>
            <p:nvPr/>
          </p:nvSpPr>
          <p:spPr>
            <a:xfrm>
              <a:off x="9513428" y="2823720"/>
              <a:ext cx="802075" cy="721868"/>
            </a:xfrm>
            <a:prstGeom prst="triangle">
              <a:avLst/>
            </a:prstGeom>
            <a:solidFill>
              <a:srgbClr val="E0A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deco:icon"/>
            <p:cNvSpPr txBox="1"/>
            <p:nvPr/>
          </p:nvSpPr>
          <p:spPr>
            <a:xfrm>
              <a:off x="9754051" y="3032259"/>
              <a:ext cx="320830" cy="481245"/>
            </a:xfrm>
            <a:prstGeom prst="rect">
              <a:avLst/>
            </a:prstGeom>
            <a:noFill/>
          </p:spPr>
          <p:txBody>
            <a:bodyPr wrap="square" lIns="38100" rIns="38100" tIns="25400" bIns="25400" anchor="ctr">
              <a:noAutofit/>
            </a:bodyPr>
            <a:lstStyle/>
            <a:p>
              <a:pPr algn="ctr"/>
              <a:r>
                <a:rPr sz="2842" b="1">
                  <a:solidFill>
                    <a:srgbClr val="FFFFFF"/>
                  </a:solidFill>
                  <a:latin typeface="Meiryo UI"/>
                  <a:ea typeface="Meiryo UI"/>
                  <a:cs typeface="Meiryo UI"/>
                </a:rPr>
                <a:t>!</a:t>
              </a: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9341555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warning</a:t>
            </a:r>
          </a:p>
        </p:txBody>
      </p:sp>
      <p:grpSp>
        <p:nvGrpSpPr>
          <p:cNvPr id="98" name="icon:clock"/>
          <p:cNvGrpSpPr/>
          <p:nvPr/>
        </p:nvGrpSpPr>
        <p:grpSpPr>
          <a:xfrm>
            <a:off x="10818334" y="2823720"/>
            <a:ext cx="737909" cy="737909"/>
            <a:chOff x="10818334" y="2823720"/>
            <a:chExt cx="737909" cy="737909"/>
          </a:xfrm>
        </p:grpSpPr>
        <p:sp>
          <p:nvSpPr>
            <p:cNvPr id="99" name="Oval 98"/>
            <p:cNvSpPr/>
            <p:nvPr/>
          </p:nvSpPr>
          <p:spPr>
            <a:xfrm>
              <a:off x="10818334" y="2823720"/>
              <a:ext cx="737909" cy="737909"/>
            </a:xfrm>
            <a:prstGeom prst="ellipse">
              <a:avLst/>
            </a:prstGeom>
            <a:solidFill>
              <a:srgbClr val="FFFFFF"/>
            </a:solidFill>
            <a:ln w="56145">
              <a:solidFill>
                <a:srgbClr val="001F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0" name="Connector 99"/>
            <p:cNvCxnSpPr/>
            <p:nvPr/>
          </p:nvCxnSpPr>
          <p:spPr>
            <a:xfrm flipV="1">
              <a:off x="11187288" y="2952052"/>
              <a:ext cx="0" cy="240622"/>
            </a:xfrm>
            <a:prstGeom prst="line">
              <a:avLst/>
            </a:prstGeom>
            <a:ln w="48124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11187288" y="3192674"/>
              <a:ext cx="176457" cy="80208"/>
            </a:xfrm>
            <a:prstGeom prst="line">
              <a:avLst/>
            </a:prstGeom>
            <a:ln w="48124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/>
          <p:cNvSpPr txBox="1"/>
          <p:nvPr/>
        </p:nvSpPr>
        <p:spPr>
          <a:xfrm>
            <a:off x="10614377" y="3631812"/>
            <a:ext cx="1145822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clock</a:t>
            </a:r>
          </a:p>
        </p:txBody>
      </p:sp>
      <p:sp>
        <p:nvSpPr>
          <p:cNvPr id="103" name="Oval 102"/>
          <p:cNvSpPr/>
          <p:nvPr/>
        </p:nvSpPr>
        <p:spPr>
          <a:xfrm>
            <a:off x="1098550" y="4160874"/>
            <a:ext cx="1155700" cy="11557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4" name="icon:document"/>
          <p:cNvGrpSpPr/>
          <p:nvPr/>
        </p:nvGrpSpPr>
        <p:grpSpPr>
          <a:xfrm>
            <a:off x="1434592" y="4397348"/>
            <a:ext cx="483616" cy="682752"/>
            <a:chOff x="1434592" y="4397348"/>
            <a:chExt cx="483616" cy="682752"/>
          </a:xfrm>
        </p:grpSpPr>
        <p:sp>
          <p:nvSpPr>
            <p:cNvPr id="105" name="Folded Corner 104"/>
            <p:cNvSpPr/>
            <p:nvPr/>
          </p:nvSpPr>
          <p:spPr>
            <a:xfrm>
              <a:off x="1434592" y="4397348"/>
              <a:ext cx="483616" cy="682752"/>
            </a:xfrm>
            <a:prstGeom prst="foldedCorner">
              <a:avLst/>
            </a:prstGeom>
            <a:solidFill>
              <a:srgbClr val="FFFFFF"/>
            </a:solidFill>
            <a:ln w="35560">
              <a:solidFill>
                <a:srgbClr val="001F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6" name="Connector 105"/>
            <p:cNvCxnSpPr/>
            <p:nvPr/>
          </p:nvCxnSpPr>
          <p:spPr>
            <a:xfrm>
              <a:off x="1519936" y="4582260"/>
              <a:ext cx="312928" cy="0"/>
            </a:xfrm>
            <a:prstGeom prst="line">
              <a:avLst/>
            </a:prstGeom>
            <a:ln w="28448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106"/>
            <p:cNvCxnSpPr/>
            <p:nvPr/>
          </p:nvCxnSpPr>
          <p:spPr>
            <a:xfrm>
              <a:off x="1519936" y="4710276"/>
              <a:ext cx="312928" cy="0"/>
            </a:xfrm>
            <a:prstGeom prst="line">
              <a:avLst/>
            </a:prstGeom>
            <a:ln w="28448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/>
            <p:nvPr/>
          </p:nvCxnSpPr>
          <p:spPr>
            <a:xfrm>
              <a:off x="1519936" y="4838292"/>
              <a:ext cx="312928" cy="0"/>
            </a:xfrm>
            <a:prstGeom prst="line">
              <a:avLst/>
            </a:prstGeom>
            <a:ln w="28448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Box 108"/>
          <p:cNvSpPr txBox="1"/>
          <p:nvPr/>
        </p:nvSpPr>
        <p:spPr>
          <a:xfrm>
            <a:off x="431800" y="5392774"/>
            <a:ext cx="24892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1. 申請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1800" y="5722974"/>
            <a:ext cx="2489200" cy="57622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Webで入力</a:t>
            </a:r>
          </a:p>
        </p:txBody>
      </p:sp>
      <p:cxnSp>
        <p:nvCxnSpPr>
          <p:cNvPr id="111" name="arrow"/>
          <p:cNvCxnSpPr/>
          <p:nvPr/>
        </p:nvCxnSpPr>
        <p:spPr>
          <a:xfrm>
            <a:off x="2997200" y="4738724"/>
            <a:ext cx="304800" cy="0"/>
          </a:xfrm>
          <a:prstGeom prst="line">
            <a:avLst/>
          </a:prstGeom>
          <a:ln w="3175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4044950" y="4160874"/>
            <a:ext cx="1155700" cy="11557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3" name="icon:person"/>
          <p:cNvGrpSpPr/>
          <p:nvPr/>
        </p:nvGrpSpPr>
        <p:grpSpPr>
          <a:xfrm>
            <a:off x="4366768" y="4397348"/>
            <a:ext cx="512064" cy="682752"/>
            <a:chOff x="4366768" y="4397348"/>
            <a:chExt cx="512064" cy="682752"/>
          </a:xfrm>
        </p:grpSpPr>
        <p:sp>
          <p:nvSpPr>
            <p:cNvPr id="114" name="Oval 113"/>
            <p:cNvSpPr/>
            <p:nvPr/>
          </p:nvSpPr>
          <p:spPr>
            <a:xfrm>
              <a:off x="4487672" y="4397348"/>
              <a:ext cx="270256" cy="270256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Round Same Side Corner Rectangle 114"/>
            <p:cNvSpPr/>
            <p:nvPr/>
          </p:nvSpPr>
          <p:spPr>
            <a:xfrm>
              <a:off x="4366768" y="4710276"/>
              <a:ext cx="512064" cy="369824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3378200" y="5392774"/>
            <a:ext cx="24892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2. 確認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78200" y="5722974"/>
            <a:ext cx="2489200" cy="57622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担当者がチェック</a:t>
            </a:r>
          </a:p>
        </p:txBody>
      </p:sp>
      <p:cxnSp>
        <p:nvCxnSpPr>
          <p:cNvPr id="118" name="arrow"/>
          <p:cNvCxnSpPr/>
          <p:nvPr/>
        </p:nvCxnSpPr>
        <p:spPr>
          <a:xfrm>
            <a:off x="5943600" y="4738724"/>
            <a:ext cx="304800" cy="0"/>
          </a:xfrm>
          <a:prstGeom prst="line">
            <a:avLst/>
          </a:prstGeom>
          <a:ln w="3175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6991350" y="4160874"/>
            <a:ext cx="1155700" cy="11557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0" name="icon:server"/>
          <p:cNvGrpSpPr/>
          <p:nvPr/>
        </p:nvGrpSpPr>
        <p:grpSpPr>
          <a:xfrm>
            <a:off x="7284720" y="4383124"/>
            <a:ext cx="568960" cy="682752"/>
            <a:chOff x="7284720" y="4383124"/>
            <a:chExt cx="568960" cy="682752"/>
          </a:xfrm>
        </p:grpSpPr>
        <p:sp>
          <p:nvSpPr>
            <p:cNvPr id="121" name="Rounded Rectangle 120"/>
            <p:cNvSpPr/>
            <p:nvPr/>
          </p:nvSpPr>
          <p:spPr>
            <a:xfrm>
              <a:off x="7284720" y="4383124"/>
              <a:ext cx="568960" cy="199136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7711440" y="4454244"/>
              <a:ext cx="56896" cy="568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7284720" y="4624932"/>
              <a:ext cx="568960" cy="199136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7711440" y="4696052"/>
              <a:ext cx="56896" cy="568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7284720" y="4866740"/>
              <a:ext cx="568960" cy="199136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7711440" y="4937860"/>
              <a:ext cx="56896" cy="568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7" name="TextBox 126"/>
          <p:cNvSpPr txBox="1"/>
          <p:nvPr/>
        </p:nvSpPr>
        <p:spPr>
          <a:xfrm>
            <a:off x="6324600" y="5392774"/>
            <a:ext cx="24892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3. 登録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4600" y="5722974"/>
            <a:ext cx="2489200" cy="57622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システムに反映</a:t>
            </a:r>
          </a:p>
        </p:txBody>
      </p:sp>
      <p:cxnSp>
        <p:nvCxnSpPr>
          <p:cNvPr id="129" name="arrow"/>
          <p:cNvCxnSpPr/>
          <p:nvPr/>
        </p:nvCxnSpPr>
        <p:spPr>
          <a:xfrm>
            <a:off x="8890000" y="4738724"/>
            <a:ext cx="304800" cy="0"/>
          </a:xfrm>
          <a:prstGeom prst="line">
            <a:avLst/>
          </a:prstGeom>
          <a:ln w="3175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9937750" y="4160874"/>
            <a:ext cx="1155700" cy="1155700"/>
          </a:xfrm>
          <a:prstGeom prst="ellips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1" name="icon:mail"/>
          <p:cNvGrpSpPr/>
          <p:nvPr/>
        </p:nvGrpSpPr>
        <p:grpSpPr>
          <a:xfrm>
            <a:off x="10160000" y="4511140"/>
            <a:ext cx="711200" cy="455168"/>
            <a:chOff x="10160000" y="4511140"/>
            <a:chExt cx="711200" cy="455168"/>
          </a:xfrm>
        </p:grpSpPr>
        <p:sp>
          <p:nvSpPr>
            <p:cNvPr id="132" name="Rectangle 131"/>
            <p:cNvSpPr/>
            <p:nvPr/>
          </p:nvSpPr>
          <p:spPr>
            <a:xfrm>
              <a:off x="10160000" y="4511140"/>
              <a:ext cx="711200" cy="455168"/>
            </a:xfrm>
            <a:prstGeom prst="rect">
              <a:avLst/>
            </a:prstGeom>
            <a:solidFill>
              <a:srgbClr val="FFFFFF"/>
            </a:solidFill>
            <a:ln w="35560">
              <a:solidFill>
                <a:srgbClr val="001F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3" name="Connector 132"/>
            <p:cNvCxnSpPr/>
            <p:nvPr/>
          </p:nvCxnSpPr>
          <p:spPr>
            <a:xfrm>
              <a:off x="10160000" y="4511140"/>
              <a:ext cx="355600" cy="263144"/>
            </a:xfrm>
            <a:prstGeom prst="line">
              <a:avLst/>
            </a:prstGeom>
            <a:ln w="35560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133"/>
            <p:cNvCxnSpPr/>
            <p:nvPr/>
          </p:nvCxnSpPr>
          <p:spPr>
            <a:xfrm flipH="1">
              <a:off x="10515600" y="4511140"/>
              <a:ext cx="355600" cy="263144"/>
            </a:xfrm>
            <a:prstGeom prst="line">
              <a:avLst/>
            </a:prstGeom>
            <a:ln w="35560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TextBox 134"/>
          <p:cNvSpPr txBox="1"/>
          <p:nvPr/>
        </p:nvSpPr>
        <p:spPr>
          <a:xfrm>
            <a:off x="9271000" y="5392774"/>
            <a:ext cx="24892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4. 通知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271000" y="5722974"/>
            <a:ext cx="2489200" cy="57622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結果をメール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部品カタログ：線・矢印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線・矢印部品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connect（種類別） / elbow_connect / curved_arrow / loop_arrow / block_arrow / flow_legend / span_bracket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1143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solid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1574800" y="1701800"/>
            <a:ext cx="2159000" cy="0"/>
          </a:xfrm>
          <a:prstGeom prst="line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eco:edge_label"/>
          <p:cNvSpPr txBox="1"/>
          <p:nvPr/>
        </p:nvSpPr>
        <p:spPr>
          <a:xfrm>
            <a:off x="2438400" y="1574800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流れ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2082800"/>
            <a:ext cx="1143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dashed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1574800" y="2286000"/>
            <a:ext cx="2159000" cy="0"/>
          </a:xfrm>
          <a:prstGeom prst="line">
            <a:avLst/>
          </a:prstGeom>
          <a:ln w="19050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co:edge_label"/>
          <p:cNvSpPr txBox="1"/>
          <p:nvPr/>
        </p:nvSpPr>
        <p:spPr>
          <a:xfrm>
            <a:off x="2184400" y="2159000"/>
            <a:ext cx="939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間接的な流れ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2667000"/>
            <a:ext cx="1143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dotted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1574800" y="2870200"/>
            <a:ext cx="2159000" cy="0"/>
          </a:xfrm>
          <a:prstGeom prst="line">
            <a:avLst/>
          </a:prstGeom>
          <a:ln w="15875">
            <a:solidFill>
              <a:srgbClr val="7E7F7E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co:edge_label"/>
          <p:cNvSpPr txBox="1"/>
          <p:nvPr/>
        </p:nvSpPr>
        <p:spPr>
          <a:xfrm>
            <a:off x="2247900" y="2743200"/>
            <a:ext cx="812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参照・情報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3251200"/>
            <a:ext cx="1143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thick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1574800" y="3454400"/>
            <a:ext cx="2159000" cy="0"/>
          </a:xfrm>
          <a:prstGeom prst="line">
            <a:avLst/>
          </a:prstGeom>
          <a:ln w="381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eco:edge_label"/>
          <p:cNvSpPr txBox="1"/>
          <p:nvPr/>
        </p:nvSpPr>
        <p:spPr>
          <a:xfrm>
            <a:off x="2247900" y="3327400"/>
            <a:ext cx="812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主要な流れ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" y="3835400"/>
            <a:ext cx="1143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both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1574800" y="4038600"/>
            <a:ext cx="2159000" cy="0"/>
          </a:xfrm>
          <a:prstGeom prst="line">
            <a:avLst/>
          </a:prstGeom>
          <a:ln w="19050">
            <a:solidFill>
              <a:srgbClr val="001F5F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eco:edge_label"/>
          <p:cNvSpPr txBox="1"/>
          <p:nvPr/>
        </p:nvSpPr>
        <p:spPr>
          <a:xfrm>
            <a:off x="2438400" y="3911600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相互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5800" y="1498600"/>
            <a:ext cx="1270000" cy="508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5800" y="3022600"/>
            <a:ext cx="1270000" cy="508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B</a:t>
            </a:r>
          </a:p>
        </p:txBody>
      </p:sp>
      <p:cxnSp>
        <p:nvCxnSpPr>
          <p:cNvPr id="25" name="arrow"/>
          <p:cNvCxnSpPr/>
          <p:nvPr/>
        </p:nvCxnSpPr>
        <p:spPr>
          <a:xfrm>
            <a:off x="7035800" y="1752600"/>
            <a:ext cx="635000" cy="0"/>
          </a:xfrm>
          <a:prstGeom prst="line">
            <a:avLst/>
          </a:prstGeom>
          <a:ln w="19050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row"/>
          <p:cNvCxnSpPr/>
          <p:nvPr/>
        </p:nvCxnSpPr>
        <p:spPr>
          <a:xfrm>
            <a:off x="7670800" y="1752600"/>
            <a:ext cx="0" cy="1524000"/>
          </a:xfrm>
          <a:prstGeom prst="line">
            <a:avLst/>
          </a:prstGeom>
          <a:ln w="19050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row"/>
          <p:cNvCxnSpPr/>
          <p:nvPr/>
        </p:nvCxnSpPr>
        <p:spPr>
          <a:xfrm>
            <a:off x="7670800" y="3276600"/>
            <a:ext cx="635000" cy="0"/>
          </a:xfrm>
          <a:prstGeom prst="line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eco:edge_label"/>
          <p:cNvSpPr txBox="1"/>
          <p:nvPr/>
        </p:nvSpPr>
        <p:spPr>
          <a:xfrm>
            <a:off x="7391400" y="2387600"/>
            <a:ext cx="558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カギ線</a:t>
            </a:r>
          </a:p>
        </p:txBody>
      </p:sp>
      <p:cxnSp>
        <p:nvCxnSpPr>
          <p:cNvPr id="29" name="arrow"/>
          <p:cNvCxnSpPr/>
          <p:nvPr/>
        </p:nvCxnSpPr>
        <p:spPr>
          <a:xfrm>
            <a:off x="5765800" y="4038600"/>
            <a:ext cx="2286000" cy="635000"/>
          </a:xfrm>
          <a:prstGeom prst="curvedConnector3">
            <a:avLst/>
          </a:prstGeom>
          <a:ln w="19050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eco:edge_label"/>
          <p:cNvSpPr txBox="1"/>
          <p:nvPr/>
        </p:nvSpPr>
        <p:spPr>
          <a:xfrm>
            <a:off x="6692900" y="4229100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曲線</a:t>
            </a:r>
          </a:p>
        </p:txBody>
      </p:sp>
      <p:sp>
        <p:nvSpPr>
          <p:cNvPr id="31" name="arrow:loop"/>
          <p:cNvSpPr/>
          <p:nvPr/>
        </p:nvSpPr>
        <p:spPr>
          <a:xfrm>
            <a:off x="10083800" y="1498600"/>
            <a:ext cx="1651000" cy="1651000"/>
          </a:xfrm>
          <a:prstGeom prst="circularArrow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0" y="1993900"/>
            <a:ext cx="990600" cy="660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継続</a:t>
            </a:r>
          </a:p>
        </p:txBody>
      </p:sp>
      <p:sp>
        <p:nvSpPr>
          <p:cNvPr id="33" name="arrow:block"/>
          <p:cNvSpPr/>
          <p:nvPr/>
        </p:nvSpPr>
        <p:spPr>
          <a:xfrm>
            <a:off x="5765800" y="5181600"/>
            <a:ext cx="2794000" cy="762000"/>
          </a:xfrm>
          <a:prstGeom prst="rightArrow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16600" y="5372100"/>
            <a:ext cx="2362200" cy="381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太い矢印</a:t>
            </a:r>
          </a:p>
        </p:txBody>
      </p:sp>
      <p:sp>
        <p:nvSpPr>
          <p:cNvPr id="35" name="arrow:block"/>
          <p:cNvSpPr/>
          <p:nvPr/>
        </p:nvSpPr>
        <p:spPr>
          <a:xfrm>
            <a:off x="8813800" y="5181600"/>
            <a:ext cx="2921000" cy="762000"/>
          </a:xfrm>
          <a:prstGeom prst="leftRightArrow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4800" y="5372100"/>
            <a:ext cx="2108200" cy="381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双方向</a:t>
            </a:r>
          </a:p>
        </p:txBody>
      </p:sp>
      <p:cxnSp>
        <p:nvCxnSpPr>
          <p:cNvPr id="37" name="arrow"/>
          <p:cNvCxnSpPr/>
          <p:nvPr/>
        </p:nvCxnSpPr>
        <p:spPr>
          <a:xfrm>
            <a:off x="431800" y="4787900"/>
            <a:ext cx="381000" cy="0"/>
          </a:xfrm>
          <a:prstGeom prst="line">
            <a:avLst/>
          </a:prstGeom>
          <a:ln w="22225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3600" y="4673600"/>
            <a:ext cx="609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サービス</a:t>
            </a:r>
          </a:p>
        </p:txBody>
      </p:sp>
      <p:cxnSp>
        <p:nvCxnSpPr>
          <p:cNvPr id="39" name="arrow"/>
          <p:cNvCxnSpPr/>
          <p:nvPr/>
        </p:nvCxnSpPr>
        <p:spPr>
          <a:xfrm>
            <a:off x="1625600" y="4787900"/>
            <a:ext cx="381000" cy="0"/>
          </a:xfrm>
          <a:prstGeom prst="line">
            <a:avLst/>
          </a:prstGeom>
          <a:ln w="22225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057400" y="4673600"/>
            <a:ext cx="355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お金</a:t>
            </a:r>
          </a:p>
        </p:txBody>
      </p:sp>
      <p:cxnSp>
        <p:nvCxnSpPr>
          <p:cNvPr id="41" name="arrow"/>
          <p:cNvCxnSpPr/>
          <p:nvPr/>
        </p:nvCxnSpPr>
        <p:spPr>
          <a:xfrm>
            <a:off x="2565400" y="4787900"/>
            <a:ext cx="381000" cy="0"/>
          </a:xfrm>
          <a:prstGeom prst="line">
            <a:avLst/>
          </a:prstGeom>
          <a:ln w="3810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97200" y="4673600"/>
            <a:ext cx="355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モノ</a:t>
            </a:r>
          </a:p>
        </p:txBody>
      </p:sp>
      <p:cxnSp>
        <p:nvCxnSpPr>
          <p:cNvPr id="43" name="arrow"/>
          <p:cNvCxnSpPr/>
          <p:nvPr/>
        </p:nvCxnSpPr>
        <p:spPr>
          <a:xfrm>
            <a:off x="3505200" y="4787900"/>
            <a:ext cx="381000" cy="0"/>
          </a:xfrm>
          <a:prstGeom prst="line">
            <a:avLst/>
          </a:prstGeom>
          <a:ln w="15875">
            <a:solidFill>
              <a:srgbClr val="7E7F7E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37000" y="4673600"/>
            <a:ext cx="355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情報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31800" y="5181600"/>
            <a:ext cx="0" cy="101600"/>
          </a:xfrm>
          <a:prstGeom prst="line">
            <a:avLst/>
          </a:prstGeom>
          <a:ln w="158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76800" y="5181600"/>
            <a:ext cx="0" cy="101600"/>
          </a:xfrm>
          <a:prstGeom prst="line">
            <a:avLst/>
          </a:prstGeom>
          <a:ln w="158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31800" y="5283200"/>
            <a:ext cx="4445000" cy="0"/>
          </a:xfrm>
          <a:prstGeom prst="line">
            <a:avLst/>
          </a:prstGeom>
          <a:ln w="158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31800" y="5308600"/>
            <a:ext cx="4445000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対象範囲（2026年度）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部品カタログ：線・矢印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番号注釈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annotate_points（任意の図に番号を打ち、欄外で説明する）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651000" cy="154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画面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2800" y="1498600"/>
            <a:ext cx="4963159" cy="154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84400" y="1574800"/>
            <a:ext cx="2329179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申請画面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5180" y="1574800"/>
            <a:ext cx="2329179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承認画面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" y="3124200"/>
            <a:ext cx="1651000" cy="154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2800" y="3124200"/>
            <a:ext cx="4963159" cy="154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84400" y="3200400"/>
            <a:ext cx="2329179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審査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5180" y="3200400"/>
            <a:ext cx="2329179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通知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" y="4749800"/>
            <a:ext cx="1651000" cy="15494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データ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82800" y="4749800"/>
            <a:ext cx="4963159" cy="154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84400" y="4826000"/>
            <a:ext cx="4759959" cy="1397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申請DB</a:t>
            </a:r>
          </a:p>
        </p:txBody>
      </p:sp>
      <p:sp>
        <p:nvSpPr>
          <p:cNvPr id="19" name="Oval 18"/>
          <p:cNvSpPr/>
          <p:nvPr/>
        </p:nvSpPr>
        <p:spPr>
          <a:xfrm>
            <a:off x="3467100" y="1739900"/>
            <a:ext cx="279400" cy="279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6261100" y="3390900"/>
            <a:ext cx="279400" cy="279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483100" y="5041900"/>
            <a:ext cx="279400" cy="279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7350759" y="1524000"/>
            <a:ext cx="279400" cy="279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1759" y="1498600"/>
            <a:ext cx="4028440" cy="154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入力項目を半分に削減</a:t>
            </a:r>
          </a:p>
        </p:txBody>
      </p:sp>
      <p:sp>
        <p:nvSpPr>
          <p:cNvPr id="24" name="Oval 23"/>
          <p:cNvSpPr/>
          <p:nvPr/>
        </p:nvSpPr>
        <p:spPr>
          <a:xfrm>
            <a:off x="7350759" y="3149600"/>
            <a:ext cx="279400" cy="279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1759" y="3124200"/>
            <a:ext cx="4028440" cy="154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通知を自動化</a:t>
            </a:r>
          </a:p>
        </p:txBody>
      </p:sp>
      <p:sp>
        <p:nvSpPr>
          <p:cNvPr id="26" name="Oval 25"/>
          <p:cNvSpPr/>
          <p:nvPr/>
        </p:nvSpPr>
        <p:spPr>
          <a:xfrm>
            <a:off x="7350759" y="4775200"/>
            <a:ext cx="279400" cy="279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1759" y="4749800"/>
            <a:ext cx="4028440" cy="154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データを一元管理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部品カタログ：図解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図解部品①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business_model（お金・サービス・モノ・情報の流れ） / zone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370840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ユーザー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1800" y="1498600"/>
            <a:ext cx="370840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事業者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51800" y="1498600"/>
            <a:ext cx="3708400" cy="304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サプライヤー</a:t>
            </a:r>
          </a:p>
        </p:txBody>
      </p:sp>
      <p:grpSp>
        <p:nvGrpSpPr>
          <p:cNvPr id="11" name="icon:person"/>
          <p:cNvGrpSpPr/>
          <p:nvPr/>
        </p:nvGrpSpPr>
        <p:grpSpPr>
          <a:xfrm>
            <a:off x="2022686" y="2334260"/>
            <a:ext cx="594360" cy="792480"/>
            <a:chOff x="2022686" y="2334260"/>
            <a:chExt cx="594360" cy="792480"/>
          </a:xfrm>
        </p:grpSpPr>
        <p:sp>
          <p:nvSpPr>
            <p:cNvPr id="12" name="Oval 11"/>
            <p:cNvSpPr/>
            <p:nvPr/>
          </p:nvSpPr>
          <p:spPr>
            <a:xfrm>
              <a:off x="2163021" y="2334260"/>
              <a:ext cx="313690" cy="313690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2022686" y="2697480"/>
              <a:ext cx="594360" cy="429260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1494366" y="3194050"/>
            <a:ext cx="1651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利用者</a:t>
            </a:r>
          </a:p>
        </p:txBody>
      </p:sp>
      <p:grpSp>
        <p:nvGrpSpPr>
          <p:cNvPr id="15" name="icon:building"/>
          <p:cNvGrpSpPr/>
          <p:nvPr/>
        </p:nvGrpSpPr>
        <p:grpSpPr>
          <a:xfrm>
            <a:off x="5815330" y="2350770"/>
            <a:ext cx="561340" cy="775970"/>
            <a:chOff x="5815330" y="2350770"/>
            <a:chExt cx="561340" cy="775970"/>
          </a:xfrm>
        </p:grpSpPr>
        <p:sp>
          <p:nvSpPr>
            <p:cNvPr id="16" name="Rectangle 15"/>
            <p:cNvSpPr/>
            <p:nvPr/>
          </p:nvSpPr>
          <p:spPr>
            <a:xfrm>
              <a:off x="5815330" y="2350770"/>
              <a:ext cx="561340" cy="775969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889625" y="24333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038215" y="24333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186805" y="24333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889625" y="25984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038215" y="25984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186805" y="25984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889625" y="27635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038215" y="27635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186805" y="2763520"/>
              <a:ext cx="9906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029960" y="2945130"/>
              <a:ext cx="132080" cy="1816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" name="Rectangle 26"/>
          <p:cNvSpPr/>
          <p:nvPr/>
        </p:nvSpPr>
        <p:spPr>
          <a:xfrm>
            <a:off x="5270500" y="3194050"/>
            <a:ext cx="1651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運営事業者</a:t>
            </a:r>
          </a:p>
        </p:txBody>
      </p:sp>
      <p:grpSp>
        <p:nvGrpSpPr>
          <p:cNvPr id="28" name="icon:factory"/>
          <p:cNvGrpSpPr/>
          <p:nvPr/>
        </p:nvGrpSpPr>
        <p:grpSpPr>
          <a:xfrm>
            <a:off x="9459383" y="2400300"/>
            <a:ext cx="825500" cy="742950"/>
            <a:chOff x="9459383" y="2400300"/>
            <a:chExt cx="825500" cy="742950"/>
          </a:xfrm>
        </p:grpSpPr>
        <p:sp>
          <p:nvSpPr>
            <p:cNvPr id="29" name="Freeform 28"/>
            <p:cNvSpPr/>
            <p:nvPr/>
          </p:nvSpPr>
          <p:spPr>
            <a:xfrm>
              <a:off x="9459383" y="2400300"/>
              <a:ext cx="825500" cy="742950"/>
            </a:xfrm>
            <a:custGeom>
              <a:avLst/>
              <a:gdLst/>
              <a:ahLst/>
              <a:cxnLst/>
              <a:rect l="l" t="t" r="r" b="b"/>
              <a:pathLst>
                <a:path w="825500" h="742950">
                  <a:moveTo>
                    <a:pt x="0" y="742950"/>
                  </a:moveTo>
                  <a:lnTo>
                    <a:pt x="0" y="288925"/>
                  </a:lnTo>
                  <a:lnTo>
                    <a:pt x="247650" y="429260"/>
                  </a:lnTo>
                  <a:lnTo>
                    <a:pt x="247650" y="288925"/>
                  </a:lnTo>
                  <a:lnTo>
                    <a:pt x="495300" y="429260"/>
                  </a:lnTo>
                  <a:lnTo>
                    <a:pt x="495300" y="0"/>
                  </a:lnTo>
                  <a:lnTo>
                    <a:pt x="643890" y="0"/>
                  </a:lnTo>
                  <a:lnTo>
                    <a:pt x="643890" y="288925"/>
                  </a:lnTo>
                  <a:lnTo>
                    <a:pt x="825500" y="288925"/>
                  </a:lnTo>
                  <a:lnTo>
                    <a:pt x="825500" y="742950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541933" y="2928620"/>
              <a:ext cx="11557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789583" y="2928620"/>
              <a:ext cx="11557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037233" y="2928620"/>
              <a:ext cx="115570" cy="990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9046633" y="3194050"/>
            <a:ext cx="1651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機器メーカー</a:t>
            </a:r>
          </a:p>
        </p:txBody>
      </p:sp>
      <p:grpSp>
        <p:nvGrpSpPr>
          <p:cNvPr id="34" name="icon:money"/>
          <p:cNvGrpSpPr/>
          <p:nvPr/>
        </p:nvGrpSpPr>
        <p:grpSpPr>
          <a:xfrm>
            <a:off x="5716270" y="4395470"/>
            <a:ext cx="759460" cy="759460"/>
            <a:chOff x="5716270" y="4395470"/>
            <a:chExt cx="759460" cy="759460"/>
          </a:xfrm>
        </p:grpSpPr>
        <p:sp>
          <p:nvSpPr>
            <p:cNvPr id="35" name="Oval 34"/>
            <p:cNvSpPr/>
            <p:nvPr/>
          </p:nvSpPr>
          <p:spPr>
            <a:xfrm>
              <a:off x="5716270" y="4395470"/>
              <a:ext cx="759460" cy="759460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/>
              <a:r>
                <a:rPr sz="3120" b="1">
                  <a:solidFill>
                    <a:srgbClr val="FFFFFF"/>
                  </a:solidFill>
                  <a:latin typeface="Meiryo UI"/>
                  <a:ea typeface="Meiryo UI"/>
                  <a:cs typeface="Meiryo UI"/>
                </a:rPr>
                <a:t>¥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5270500" y="5238750"/>
            <a:ext cx="1651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決済事業者</a:t>
            </a:r>
          </a:p>
        </p:txBody>
      </p:sp>
      <p:grpSp>
        <p:nvGrpSpPr>
          <p:cNvPr id="37" name="icon:phone"/>
          <p:cNvGrpSpPr/>
          <p:nvPr/>
        </p:nvGrpSpPr>
        <p:grpSpPr>
          <a:xfrm>
            <a:off x="2121746" y="4362450"/>
            <a:ext cx="396240" cy="825500"/>
            <a:chOff x="2121746" y="4362450"/>
            <a:chExt cx="396240" cy="825500"/>
          </a:xfrm>
        </p:grpSpPr>
        <p:sp>
          <p:nvSpPr>
            <p:cNvPr id="38" name="Rounded Rectangle 37"/>
            <p:cNvSpPr/>
            <p:nvPr/>
          </p:nvSpPr>
          <p:spPr>
            <a:xfrm>
              <a:off x="2121746" y="4362450"/>
              <a:ext cx="396240" cy="825500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163021" y="4445000"/>
              <a:ext cx="313690" cy="577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2278591" y="5064125"/>
              <a:ext cx="82550" cy="82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1494366" y="5238750"/>
            <a:ext cx="1651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アプリ</a:t>
            </a:r>
          </a:p>
        </p:txBody>
      </p:sp>
      <p:cxnSp>
        <p:nvCxnSpPr>
          <p:cNvPr id="42" name="arrow"/>
          <p:cNvCxnSpPr/>
          <p:nvPr/>
        </p:nvCxnSpPr>
        <p:spPr>
          <a:xfrm flipH="1">
            <a:off x="3145366" y="3016250"/>
            <a:ext cx="2125134" cy="0"/>
          </a:xfrm>
          <a:prstGeom prst="line">
            <a:avLst/>
          </a:prstGeom>
          <a:ln w="22225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eco:edge_label"/>
          <p:cNvSpPr txBox="1"/>
          <p:nvPr/>
        </p:nvSpPr>
        <p:spPr>
          <a:xfrm>
            <a:off x="3738033" y="2889250"/>
            <a:ext cx="939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充電サービス</a:t>
            </a:r>
          </a:p>
        </p:txBody>
      </p:sp>
      <p:cxnSp>
        <p:nvCxnSpPr>
          <p:cNvPr id="44" name="arrow"/>
          <p:cNvCxnSpPr/>
          <p:nvPr/>
        </p:nvCxnSpPr>
        <p:spPr>
          <a:xfrm>
            <a:off x="3145366" y="2838450"/>
            <a:ext cx="2125134" cy="0"/>
          </a:xfrm>
          <a:prstGeom prst="line">
            <a:avLst/>
          </a:prstGeom>
          <a:ln w="22225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eco:edge_label"/>
          <p:cNvSpPr txBox="1"/>
          <p:nvPr/>
        </p:nvSpPr>
        <p:spPr>
          <a:xfrm>
            <a:off x="3865033" y="2711450"/>
            <a:ext cx="685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利用料金</a:t>
            </a:r>
          </a:p>
        </p:txBody>
      </p:sp>
      <p:cxnSp>
        <p:nvCxnSpPr>
          <p:cNvPr id="46" name="arrow"/>
          <p:cNvCxnSpPr/>
          <p:nvPr/>
        </p:nvCxnSpPr>
        <p:spPr>
          <a:xfrm flipH="1">
            <a:off x="6921500" y="3016250"/>
            <a:ext cx="2125133" cy="0"/>
          </a:xfrm>
          <a:prstGeom prst="line">
            <a:avLst/>
          </a:prstGeom>
          <a:ln w="3810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eco:edge_label"/>
          <p:cNvSpPr txBox="1"/>
          <p:nvPr/>
        </p:nvSpPr>
        <p:spPr>
          <a:xfrm>
            <a:off x="7704666" y="2889250"/>
            <a:ext cx="558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充電器</a:t>
            </a:r>
          </a:p>
        </p:txBody>
      </p:sp>
      <p:cxnSp>
        <p:nvCxnSpPr>
          <p:cNvPr id="48" name="arrow"/>
          <p:cNvCxnSpPr/>
          <p:nvPr/>
        </p:nvCxnSpPr>
        <p:spPr>
          <a:xfrm>
            <a:off x="6921500" y="2838450"/>
            <a:ext cx="2125133" cy="0"/>
          </a:xfrm>
          <a:prstGeom prst="line">
            <a:avLst/>
          </a:prstGeom>
          <a:ln w="22225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eco:edge_label"/>
          <p:cNvSpPr txBox="1"/>
          <p:nvPr/>
        </p:nvSpPr>
        <p:spPr>
          <a:xfrm>
            <a:off x="7768166" y="2711450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代金</a:t>
            </a:r>
          </a:p>
        </p:txBody>
      </p:sp>
      <p:cxnSp>
        <p:nvCxnSpPr>
          <p:cNvPr id="50" name="arrow"/>
          <p:cNvCxnSpPr/>
          <p:nvPr/>
        </p:nvCxnSpPr>
        <p:spPr>
          <a:xfrm>
            <a:off x="2319866" y="3536950"/>
            <a:ext cx="0" cy="825500"/>
          </a:xfrm>
          <a:prstGeom prst="line">
            <a:avLst/>
          </a:prstGeom>
          <a:ln w="15875">
            <a:solidFill>
              <a:srgbClr val="7E7F7E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co:edge_label"/>
          <p:cNvSpPr txBox="1"/>
          <p:nvPr/>
        </p:nvSpPr>
        <p:spPr>
          <a:xfrm>
            <a:off x="2103966" y="3822700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検索</a:t>
            </a:r>
          </a:p>
        </p:txBody>
      </p:sp>
      <p:cxnSp>
        <p:nvCxnSpPr>
          <p:cNvPr id="52" name="arrow"/>
          <p:cNvCxnSpPr/>
          <p:nvPr/>
        </p:nvCxnSpPr>
        <p:spPr>
          <a:xfrm flipV="1">
            <a:off x="6096000" y="3536950"/>
            <a:ext cx="0" cy="825500"/>
          </a:xfrm>
          <a:prstGeom prst="line">
            <a:avLst/>
          </a:prstGeom>
          <a:ln w="22225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eco:edge_label"/>
          <p:cNvSpPr txBox="1"/>
          <p:nvPr/>
        </p:nvSpPr>
        <p:spPr>
          <a:xfrm>
            <a:off x="5880100" y="3822700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精算</a:t>
            </a:r>
          </a:p>
        </p:txBody>
      </p:sp>
      <p:cxnSp>
        <p:nvCxnSpPr>
          <p:cNvPr id="54" name="arrow"/>
          <p:cNvCxnSpPr/>
          <p:nvPr/>
        </p:nvCxnSpPr>
        <p:spPr>
          <a:xfrm>
            <a:off x="6172200" y="6159500"/>
            <a:ext cx="381000" cy="0"/>
          </a:xfrm>
          <a:prstGeom prst="line">
            <a:avLst/>
          </a:prstGeom>
          <a:ln w="22225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604000" y="6045200"/>
            <a:ext cx="609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サービス</a:t>
            </a:r>
          </a:p>
        </p:txBody>
      </p:sp>
      <p:cxnSp>
        <p:nvCxnSpPr>
          <p:cNvPr id="56" name="arrow"/>
          <p:cNvCxnSpPr/>
          <p:nvPr/>
        </p:nvCxnSpPr>
        <p:spPr>
          <a:xfrm>
            <a:off x="7366000" y="6159500"/>
            <a:ext cx="381000" cy="0"/>
          </a:xfrm>
          <a:prstGeom prst="line">
            <a:avLst/>
          </a:prstGeom>
          <a:ln w="22225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97800" y="6045200"/>
            <a:ext cx="355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お金</a:t>
            </a:r>
          </a:p>
        </p:txBody>
      </p:sp>
      <p:cxnSp>
        <p:nvCxnSpPr>
          <p:cNvPr id="58" name="arrow"/>
          <p:cNvCxnSpPr/>
          <p:nvPr/>
        </p:nvCxnSpPr>
        <p:spPr>
          <a:xfrm>
            <a:off x="8305800" y="6159500"/>
            <a:ext cx="381000" cy="0"/>
          </a:xfrm>
          <a:prstGeom prst="line">
            <a:avLst/>
          </a:prstGeom>
          <a:ln w="3810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737600" y="6045200"/>
            <a:ext cx="355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モノ</a:t>
            </a:r>
          </a:p>
        </p:txBody>
      </p:sp>
      <p:cxnSp>
        <p:nvCxnSpPr>
          <p:cNvPr id="60" name="arrow"/>
          <p:cNvCxnSpPr/>
          <p:nvPr/>
        </p:nvCxnSpPr>
        <p:spPr>
          <a:xfrm>
            <a:off x="9245600" y="6159500"/>
            <a:ext cx="381000" cy="0"/>
          </a:xfrm>
          <a:prstGeom prst="line">
            <a:avLst/>
          </a:prstGeom>
          <a:ln w="15875">
            <a:solidFill>
              <a:srgbClr val="7E7F7E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677400" y="6045200"/>
            <a:ext cx="3556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部品カタログ：図解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図解部品②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zone（システム概念図の領域分け） / section_tab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39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ound Same Side Corner Rectangle 7"/>
          <p:cNvSpPr/>
          <p:nvPr/>
        </p:nvSpPr>
        <p:spPr>
          <a:xfrm>
            <a:off x="431800" y="1498600"/>
            <a:ext cx="2502154" cy="3302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0" bIns="0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4.1 システムの基本構成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828800"/>
            <a:ext cx="11328400" cy="0"/>
          </a:xfrm>
          <a:prstGeom prst="line">
            <a:avLst/>
          </a:prstGeom>
          <a:ln w="19050">
            <a:solidFill>
              <a:srgbClr val="276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"/>
          <p:cNvSpPr/>
          <p:nvPr/>
        </p:nvSpPr>
        <p:spPr>
          <a:xfrm>
            <a:off x="431800" y="1930400"/>
            <a:ext cx="3649133" cy="4368800"/>
          </a:xfrm>
          <a:prstGeom prst="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3400" y="2006600"/>
            <a:ext cx="6223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利用者</a:t>
            </a:r>
          </a:p>
        </p:txBody>
      </p:sp>
      <p:grpSp>
        <p:nvGrpSpPr>
          <p:cNvPr id="12" name="icon:people"/>
          <p:cNvGrpSpPr/>
          <p:nvPr/>
        </p:nvGrpSpPr>
        <p:grpSpPr>
          <a:xfrm>
            <a:off x="1019454" y="2473187"/>
            <a:ext cx="565830" cy="690433"/>
            <a:chOff x="1019454" y="2473187"/>
            <a:chExt cx="565830" cy="690433"/>
          </a:xfrm>
        </p:grpSpPr>
        <p:sp>
          <p:nvSpPr>
            <p:cNvPr id="13" name="Oval 12"/>
            <p:cNvSpPr/>
            <p:nvPr/>
          </p:nvSpPr>
          <p:spPr>
            <a:xfrm>
              <a:off x="1327119" y="2473187"/>
              <a:ext cx="178368" cy="178368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1247322" y="2679720"/>
              <a:ext cx="337962" cy="244083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8EB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116177" y="2617419"/>
              <a:ext cx="216204" cy="216204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1019454" y="2867761"/>
              <a:ext cx="409651" cy="295859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87400" y="3213100"/>
            <a:ext cx="1016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職員</a:t>
            </a:r>
          </a:p>
        </p:txBody>
      </p:sp>
      <p:grpSp>
        <p:nvGrpSpPr>
          <p:cNvPr id="18" name="icon:phone"/>
          <p:cNvGrpSpPr/>
          <p:nvPr/>
        </p:nvGrpSpPr>
        <p:grpSpPr>
          <a:xfrm>
            <a:off x="2552192" y="2463800"/>
            <a:ext cx="280416" cy="584200"/>
            <a:chOff x="2552192" y="2463800"/>
            <a:chExt cx="280416" cy="584200"/>
          </a:xfrm>
        </p:grpSpPr>
        <p:sp>
          <p:nvSpPr>
            <p:cNvPr id="19" name="Rounded Rectangle 18"/>
            <p:cNvSpPr/>
            <p:nvPr/>
          </p:nvSpPr>
          <p:spPr>
            <a:xfrm>
              <a:off x="2552192" y="2463800"/>
              <a:ext cx="280416" cy="584200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81402" y="2522220"/>
              <a:ext cx="221996" cy="4089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2663190" y="2960370"/>
              <a:ext cx="58420" cy="584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184400" y="3086100"/>
            <a:ext cx="1016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住民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4400" y="3340100"/>
            <a:ext cx="1016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スマホ</a:t>
            </a:r>
          </a:p>
        </p:txBody>
      </p:sp>
      <p:sp>
        <p:nvSpPr>
          <p:cNvPr id="24" name="zone"/>
          <p:cNvSpPr/>
          <p:nvPr/>
        </p:nvSpPr>
        <p:spPr>
          <a:xfrm>
            <a:off x="4461933" y="1930400"/>
            <a:ext cx="7298266" cy="4368800"/>
          </a:xfrm>
          <a:prstGeom prst="rect">
            <a:avLst/>
          </a:prstGeom>
          <a:noFill/>
          <a:ln w="9525">
            <a:solidFill>
              <a:srgbClr val="7E7F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63533" y="2006600"/>
            <a:ext cx="18796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共通基盤（本事業の範囲）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7533" y="2590800"/>
            <a:ext cx="1905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申請受付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54533" y="2590800"/>
            <a:ext cx="1905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審査・決裁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6722533" y="2971800"/>
            <a:ext cx="2032000" cy="0"/>
          </a:xfrm>
          <a:prstGeom prst="line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eco:edge_label"/>
          <p:cNvSpPr txBox="1"/>
          <p:nvPr/>
        </p:nvSpPr>
        <p:spPr>
          <a:xfrm>
            <a:off x="7332133" y="2844800"/>
            <a:ext cx="812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申請データ</a:t>
            </a:r>
          </a:p>
        </p:txBody>
      </p:sp>
      <p:grpSp>
        <p:nvGrpSpPr>
          <p:cNvPr id="30" name="icon:database"/>
          <p:cNvGrpSpPr/>
          <p:nvPr/>
        </p:nvGrpSpPr>
        <p:grpSpPr>
          <a:xfrm>
            <a:off x="7863501" y="3987800"/>
            <a:ext cx="512064" cy="711200"/>
            <a:chOff x="7863501" y="3987800"/>
            <a:chExt cx="512064" cy="711200"/>
          </a:xfrm>
        </p:grpSpPr>
        <p:sp>
          <p:nvSpPr>
            <p:cNvPr id="31" name="Can 30"/>
            <p:cNvSpPr/>
            <p:nvPr/>
          </p:nvSpPr>
          <p:spPr>
            <a:xfrm>
              <a:off x="7863501" y="3987800"/>
              <a:ext cx="512064" cy="711200"/>
            </a:xfrm>
            <a:prstGeom prst="can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611533" y="4737100"/>
            <a:ext cx="1016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共通DB</a:t>
            </a:r>
          </a:p>
        </p:txBody>
      </p:sp>
      <p:cxnSp>
        <p:nvCxnSpPr>
          <p:cNvPr id="33" name="arrow"/>
          <p:cNvCxnSpPr/>
          <p:nvPr/>
        </p:nvCxnSpPr>
        <p:spPr>
          <a:xfrm flipH="1">
            <a:off x="8627533" y="3352800"/>
            <a:ext cx="713154" cy="741679"/>
          </a:xfrm>
          <a:prstGeom prst="line">
            <a:avLst/>
          </a:prstGeom>
          <a:ln w="15875">
            <a:solidFill>
              <a:srgbClr val="7E7F7E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icon:lock"/>
          <p:cNvGrpSpPr/>
          <p:nvPr/>
        </p:nvGrpSpPr>
        <p:grpSpPr>
          <a:xfrm>
            <a:off x="9975765" y="4137152"/>
            <a:ext cx="402336" cy="525272"/>
            <a:chOff x="9975765" y="4137152"/>
            <a:chExt cx="402336" cy="525272"/>
          </a:xfrm>
        </p:grpSpPr>
        <p:sp>
          <p:nvSpPr>
            <p:cNvPr id="35" name="Rounded Rectangle 34"/>
            <p:cNvSpPr/>
            <p:nvPr/>
          </p:nvSpPr>
          <p:spPr>
            <a:xfrm>
              <a:off x="10048409" y="4137152"/>
              <a:ext cx="257048" cy="346456"/>
            </a:xfrm>
            <a:prstGeom prst="roundRect">
              <a:avLst>
                <a:gd name="adj" fmla="val 50000"/>
              </a:avLst>
            </a:prstGeom>
            <a:noFill/>
            <a:ln w="50292">
              <a:solidFill>
                <a:srgbClr val="276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975765" y="4349496"/>
              <a:ext cx="402336" cy="312928"/>
            </a:xfrm>
            <a:prstGeom prst="roundRect">
              <a:avLst/>
            </a:prstGeom>
            <a:solidFill>
              <a:srgbClr val="276C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148993" y="4438904"/>
              <a:ext cx="55880" cy="1229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389533" y="4749800"/>
            <a:ext cx="15748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暗号化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部品カタログ：図解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図解部品③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flow_before_after / issue_map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40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2625436" cy="3556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これまで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343" y="1981200"/>
            <a:ext cx="2100349" cy="908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紙の申請書を郵送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1744518" y="2901950"/>
            <a:ext cx="0" cy="20320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94343" y="3117850"/>
            <a:ext cx="2100349" cy="908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窓口で受付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1744518" y="4038600"/>
            <a:ext cx="0" cy="20320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94343" y="4254500"/>
            <a:ext cx="2100349" cy="908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手入力で登録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1744518" y="5175250"/>
            <a:ext cx="0" cy="20320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4343" y="5391150"/>
            <a:ext cx="2100349" cy="908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郵送で通知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9236" y="1498600"/>
            <a:ext cx="2625436" cy="3556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これから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1779" y="1981200"/>
            <a:ext cx="2100349" cy="90805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Webで申請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4129" y="1854200"/>
            <a:ext cx="457200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変更</a:t>
            </a:r>
          </a:p>
        </p:txBody>
      </p:sp>
      <p:cxnSp>
        <p:nvCxnSpPr>
          <p:cNvPr id="19" name="arrow"/>
          <p:cNvCxnSpPr/>
          <p:nvPr/>
        </p:nvCxnSpPr>
        <p:spPr>
          <a:xfrm>
            <a:off x="5131954" y="2901950"/>
            <a:ext cx="0" cy="20320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081779" y="3117850"/>
            <a:ext cx="2100349" cy="908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自動で受付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5131954" y="4038600"/>
            <a:ext cx="0" cy="20320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081779" y="4254500"/>
            <a:ext cx="2100349" cy="90805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システムに自動登録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4129" y="4127500"/>
            <a:ext cx="457200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変更</a:t>
            </a:r>
          </a:p>
        </p:txBody>
      </p:sp>
      <p:cxnSp>
        <p:nvCxnSpPr>
          <p:cNvPr id="24" name="arrow"/>
          <p:cNvCxnSpPr/>
          <p:nvPr/>
        </p:nvCxnSpPr>
        <p:spPr>
          <a:xfrm>
            <a:off x="5131954" y="5175250"/>
            <a:ext cx="0" cy="20320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081779" y="5391150"/>
            <a:ext cx="2100349" cy="90805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メールで通知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4129" y="5264150"/>
            <a:ext cx="457200" cy="228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変更</a:t>
            </a:r>
          </a:p>
        </p:txBody>
      </p:sp>
      <p:sp>
        <p:nvSpPr>
          <p:cNvPr id="27" name="arrow"/>
          <p:cNvSpPr/>
          <p:nvPr/>
        </p:nvSpPr>
        <p:spPr>
          <a:xfrm>
            <a:off x="3260436" y="3517900"/>
            <a:ext cx="355600" cy="762000"/>
          </a:xfrm>
          <a:custGeom>
            <a:avLst/>
            <a:gdLst/>
            <a:ahLst/>
            <a:cxnLst/>
            <a:rect l="l" t="t" r="r" b="b"/>
            <a:pathLst>
              <a:path w="355600" h="762000">
                <a:moveTo>
                  <a:pt x="0" y="0"/>
                </a:moveTo>
                <a:lnTo>
                  <a:pt x="355600" y="381000"/>
                </a:lnTo>
                <a:lnTo>
                  <a:pt x="0" y="762000"/>
                </a:lnTo>
                <a:close/>
              </a:path>
            </a:pathLst>
          </a:cu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49472" y="1498600"/>
            <a:ext cx="501072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>
            <a:noAutofit/>
          </a:bodyPr>
          <a:lstStyle/>
          <a:p>
            <a:pPr algn="l"/>
            <a:r>
              <a:rPr sz="12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1. システムの価値・メリット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9472" y="2717800"/>
            <a:ext cx="5010727" cy="1143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 データの標準化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9472" y="3937000"/>
            <a:ext cx="501072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>
            <a:noAutofit/>
          </a:bodyPr>
          <a:lstStyle/>
          <a:p>
            <a:pPr algn="l"/>
            <a:r>
              <a:rPr sz="12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3. ベネフィットとリスク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9472" y="5156200"/>
            <a:ext cx="501072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>
            <a:noAutofit/>
          </a:bodyPr>
          <a:lstStyle/>
          <a:p>
            <a:pPr algn="l"/>
            <a:r>
              <a:rPr sz="12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4. 医療機器との関係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部品カタログ：テキスト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仕様書型の本文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spec_text（①見出し＋段落、i. ii. と イ) ロ) の階層、</a:t>
            </a:r>
            <a:r>
              <a:rPr sz="1600" b="0" u="sng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下線</a:t>
            </a:r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で強調） / code_block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6815015" cy="2984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① ID管理機能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97050"/>
            <a:ext cx="6611815" cy="53975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利用者ごとに一意のIDを発行し、</a:t>
            </a:r>
            <a:r>
              <a:rPr sz="1300" b="0" u="sng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複数のアプリで同じIDを利用できる</a:t>
            </a: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ことが必要となる。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2438400"/>
            <a:ext cx="6815015" cy="29845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② 同意管理機能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736850"/>
            <a:ext cx="6611815" cy="1362075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第三者へ提供する際は、本人の同意を取得すること</a:t>
            </a:r>
          </a:p>
          <a:p>
            <a:pPr marL="500380" indent="-297180">
              <a:spcBef>
                <a:spcPts val="400"/>
              </a:spcBef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i. 同意の取得方法</a:t>
            </a:r>
          </a:p>
          <a:p>
            <a:pPr marL="769620" indent="-363220">
              <a:spcBef>
                <a:spcPts val="400"/>
              </a:spcBef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イ) 画面で取得</a:t>
            </a:r>
          </a:p>
          <a:p>
            <a:pPr marL="769620" indent="-363220">
              <a:spcBef>
                <a:spcPts val="400"/>
              </a:spcBef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ロ) 書面で取得</a:t>
            </a:r>
          </a:p>
          <a:p>
            <a:pPr marL="599440" indent="-396240">
              <a:spcBef>
                <a:spcPts val="400"/>
              </a:spcBef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ii. 同意の撤回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00815" y="1498600"/>
            <a:ext cx="4259384" cy="304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データ例（JSON）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0815" y="1803400"/>
            <a:ext cx="4259384" cy="4495800"/>
          </a:xfrm>
          <a:prstGeom prst="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7015" y="1854200"/>
            <a:ext cx="4106984" cy="439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Consolas"/>
                <a:ea typeface="Meiryo UI"/>
                <a:cs typeface="Meiryo UI"/>
              </a:rPr>
              <a:t>{</a:t>
            </a:r>
          </a:p>
          <a:p>
            <a:r>
              <a:rPr sz="1100" b="0">
                <a:solidFill>
                  <a:srgbClr val="000000"/>
                </a:solidFill>
                <a:latin typeface="Consolas"/>
                <a:ea typeface="Meiryo UI"/>
                <a:cs typeface="Meiryo UI"/>
              </a:rPr>
              <a:t>  "blood_glucose": {</a:t>
            </a:r>
          </a:p>
          <a:p>
            <a:r>
              <a:rPr sz="1100" b="0">
                <a:solidFill>
                  <a:srgbClr val="000000"/>
                </a:solidFill>
                <a:latin typeface="Consolas"/>
                <a:ea typeface="Meiryo UI"/>
                <a:cs typeface="Meiryo UI"/>
              </a:rPr>
              <a:t>    "value": 95,</a:t>
            </a:r>
          </a:p>
          <a:p>
            <a:r>
              <a:rPr sz="1100" b="0">
                <a:solidFill>
                  <a:srgbClr val="000000"/>
                </a:solidFill>
                <a:latin typeface="Consolas"/>
                <a:ea typeface="Meiryo UI"/>
                <a:cs typeface="Meiryo UI"/>
              </a:rPr>
              <a:t>    "unit": "mg/dL"</a:t>
            </a:r>
          </a:p>
          <a:p>
            <a:r>
              <a:rPr sz="1100" b="0">
                <a:solidFill>
                  <a:srgbClr val="000000"/>
                </a:solidFill>
                <a:latin typeface="Consolas"/>
                <a:ea typeface="Meiryo UI"/>
                <a:cs typeface="Meiryo UI"/>
              </a:rPr>
              <a:t>  },</a:t>
            </a:r>
          </a:p>
          <a:p>
            <a:r>
              <a:rPr sz="1100" b="0">
                <a:solidFill>
                  <a:srgbClr val="000000"/>
                </a:solidFill>
                <a:latin typeface="Consolas"/>
                <a:ea typeface="Meiryo UI"/>
                <a:cs typeface="Meiryo UI"/>
              </a:rPr>
              <a:t>  "measured_at": "2026-10-20"</a:t>
            </a:r>
          </a:p>
          <a:p>
            <a:r>
              <a:rPr sz="1100" b="0">
                <a:solidFill>
                  <a:srgbClr val="000000"/>
                </a:solidFill>
                <a:latin typeface="Consolas"/>
                <a:ea typeface="Meiryo UI"/>
                <a:cs typeface="Meiryo UI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部品カタログ：表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表部品⑤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mark_matrix（列グループ・凡例付き） / bar_table（行内の横棒）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0600" y="1498600"/>
            <a:ext cx="2032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3800" y="1498600"/>
            <a:ext cx="3302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参入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1000" y="1498600"/>
            <a:ext cx="2032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1498600"/>
            <a:ext cx="3302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注力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1800" y="1778000"/>
          <a:ext cx="11328395" cy="18478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36685"/>
                <a:gridCol w="1618342"/>
                <a:gridCol w="1618342"/>
                <a:gridCol w="1618342"/>
                <a:gridCol w="1618342"/>
                <a:gridCol w="1618342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米国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中国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欧州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A社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B社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C社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D社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E社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UI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運営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機器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サービス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31800" y="3987800"/>
          <a:ext cx="11328398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97851"/>
                <a:gridCol w="5034844"/>
                <a:gridCol w="4195703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国・地域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特徴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充電器の台数（千台）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米国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民間主導で整備が進む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中国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国策で急拡大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欧州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域内で規格を統一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640696" y="4372768"/>
            <a:ext cx="323731" cy="153987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9828" y="4295775"/>
            <a:ext cx="401320" cy="3079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40696" y="4680743"/>
            <a:ext cx="3459103" cy="153987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25199" y="4603750"/>
            <a:ext cx="584200" cy="3079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1,800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40696" y="4988718"/>
            <a:ext cx="910495" cy="153987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6592" y="4911725"/>
            <a:ext cx="401320" cy="3079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部品カタログ：構造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件数の分類・絞り込み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count_tree（件数付きの分類ツリー） / reduction_bars（絞り込みの過程）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3454400"/>
            <a:ext cx="1532231" cy="889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対象手続</a:t>
            </a:r>
            <a:br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336件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1231" y="2419350"/>
            <a:ext cx="1838677" cy="558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申請</a:t>
            </a:r>
            <a:br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195件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7109" y="1819275"/>
            <a:ext cx="2145124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個人</a:t>
            </a:r>
            <a:br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120件</a:t>
            </a:r>
          </a:p>
        </p:txBody>
      </p:sp>
      <p:cxnSp>
        <p:nvCxnSpPr>
          <p:cNvPr id="11" name="arrow"/>
          <p:cNvCxnSpPr/>
          <p:nvPr/>
        </p:nvCxnSpPr>
        <p:spPr>
          <a:xfrm flipV="1">
            <a:off x="4259909" y="2098675"/>
            <a:ext cx="457200" cy="600075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717109" y="3019425"/>
            <a:ext cx="2145124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法人</a:t>
            </a:r>
            <a:br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75件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4259909" y="2698750"/>
            <a:ext cx="457200" cy="600075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row"/>
          <p:cNvCxnSpPr/>
          <p:nvPr/>
        </p:nvCxnSpPr>
        <p:spPr>
          <a:xfrm flipV="1">
            <a:off x="1964031" y="2698750"/>
            <a:ext cx="457200" cy="120015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421231" y="4219575"/>
            <a:ext cx="1838677" cy="558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届出</a:t>
            </a:r>
            <a:br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104件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1964031" y="3898900"/>
            <a:ext cx="457200" cy="600075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421231" y="5419725"/>
            <a:ext cx="1838677" cy="558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その他</a:t>
            </a:r>
            <a:br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37件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1964031" y="3898900"/>
            <a:ext cx="457200" cy="1800225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10684" y="1803400"/>
            <a:ext cx="430953" cy="41656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7033" y="1498600"/>
            <a:ext cx="71825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407件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033" y="5994400"/>
            <a:ext cx="97225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全手続</a:t>
            </a:r>
          </a:p>
        </p:txBody>
      </p:sp>
      <p:cxnSp>
        <p:nvCxnSpPr>
          <p:cNvPr id="22" name="arrow"/>
          <p:cNvCxnSpPr/>
          <p:nvPr/>
        </p:nvCxnSpPr>
        <p:spPr>
          <a:xfrm>
            <a:off x="7986888" y="4511040"/>
            <a:ext cx="1016000" cy="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59888" y="3901440"/>
            <a:ext cx="1270000" cy="5588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件数10万件未満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48140" y="2970177"/>
            <a:ext cx="430953" cy="2998822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4488" y="2665377"/>
            <a:ext cx="71825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293件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7488" y="5994400"/>
            <a:ext cx="97225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候補</a:t>
            </a:r>
          </a:p>
        </p:txBody>
      </p:sp>
      <p:cxnSp>
        <p:nvCxnSpPr>
          <p:cNvPr id="27" name="arrow"/>
          <p:cNvCxnSpPr/>
          <p:nvPr/>
        </p:nvCxnSpPr>
        <p:spPr>
          <a:xfrm>
            <a:off x="9924344" y="4511040"/>
            <a:ext cx="1016000" cy="0"/>
          </a:xfrm>
          <a:prstGeom prst="line">
            <a:avLst/>
          </a:prstGeom>
          <a:ln w="19050">
            <a:solidFill>
              <a:srgbClr val="7E7F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797344" y="3901440"/>
            <a:ext cx="1270000" cy="5588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次年度に着手可能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85595" y="5930900"/>
            <a:ext cx="430953" cy="381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1944" y="5626100"/>
            <a:ext cx="71825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4944" y="5994400"/>
            <a:ext cx="972255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対象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部品カタログ：カード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事例紹介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case_card（画像・概要・ポイント・出所）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1328400" cy="23114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8800" y="1625600"/>
            <a:ext cx="4078224" cy="2057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12" y="1625600"/>
            <a:ext cx="2743200" cy="2057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814824" y="1625600"/>
            <a:ext cx="901700" cy="254000"/>
          </a:xfrm>
          <a:prstGeom prst="round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先進事例①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4824" y="1955800"/>
            <a:ext cx="6818376" cy="355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5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会津若松市：データ活用の基本方針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4824" y="2336800"/>
            <a:ext cx="6818376" cy="2921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全体像を描いたうえで小さく始め、早く展開する方針でデータ活用を進めている。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4824" y="2705100"/>
            <a:ext cx="6818376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14824" y="2781300"/>
            <a:ext cx="6818376" cy="6731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市民のニーズを起点にアプリを開発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オープンデータを積極的に公開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4824" y="3479800"/>
            <a:ext cx="6818376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出所：会津若松市ホームページ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800" y="3987800"/>
            <a:ext cx="11328400" cy="23114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8800" y="4114800"/>
            <a:ext cx="4078224" cy="20574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画像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4824" y="4114800"/>
            <a:ext cx="901700" cy="254000"/>
          </a:xfrm>
          <a:prstGeom prst="round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先進事例②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4824" y="4445000"/>
            <a:ext cx="6818376" cy="355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5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A県：申請のオンライン化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4824" y="4826000"/>
            <a:ext cx="6818376" cy="2921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全手続の8割をオンライン化し、窓口の待ち時間を半減した。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14824" y="5194300"/>
            <a:ext cx="6818376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14824" y="5270500"/>
            <a:ext cx="6818376" cy="9017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共通基盤を県と市町村で共同利用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職員向けの研修を毎月実施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部品カタログ：会議・報告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会議・報告部品①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traffic_light / decision_log / meeting_agenda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45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351148" cy="330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1833748" y="1498600"/>
            <a:ext cx="1069658" cy="330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状況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4206" y="1498600"/>
            <a:ext cx="3490465" cy="330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コメント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" y="1879600"/>
            <a:ext cx="1351148" cy="10668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スケジュール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3748" y="1879600"/>
            <a:ext cx="1069658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60748" y="2273300"/>
            <a:ext cx="279400" cy="279400"/>
          </a:xfrm>
          <a:prstGeom prst="ellipse">
            <a:avLst/>
          </a:prstGeom>
          <a:solidFill>
            <a:srgbClr val="3C8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0948" y="1879600"/>
            <a:ext cx="587058" cy="1066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3C8D5A"/>
                </a:solidFill>
                <a:latin typeface="Meiryo UI"/>
                <a:ea typeface="Meiryo UI"/>
                <a:cs typeface="Meiryo UI"/>
              </a:rPr>
              <a:t>良好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4206" y="1879600"/>
            <a:ext cx="349046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計画どおり進行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" y="2997200"/>
            <a:ext cx="1351148" cy="10668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品質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3748" y="2997200"/>
            <a:ext cx="1069658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60748" y="3390900"/>
            <a:ext cx="279400" cy="279400"/>
          </a:xfrm>
          <a:prstGeom prst="ellipse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90948" y="2997200"/>
            <a:ext cx="587058" cy="1066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注意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54206" y="2997200"/>
            <a:ext cx="349046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テスト不具合が想定より多い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800" y="4114800"/>
            <a:ext cx="1351148" cy="10668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コスト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3748" y="4114800"/>
            <a:ext cx="1069658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60748" y="4508500"/>
            <a:ext cx="279400" cy="279400"/>
          </a:xfrm>
          <a:prstGeom prst="ellipse">
            <a:avLst/>
          </a:prstGeom>
          <a:solidFill>
            <a:srgbClr val="3C8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90948" y="4114800"/>
            <a:ext cx="587058" cy="1066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3C8D5A"/>
                </a:solidFill>
                <a:latin typeface="Meiryo UI"/>
                <a:ea typeface="Meiryo UI"/>
                <a:cs typeface="Meiryo UI"/>
              </a:rPr>
              <a:t>良好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54206" y="4114800"/>
            <a:ext cx="349046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予算内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800" y="5232400"/>
            <a:ext cx="1351148" cy="1066800"/>
          </a:xfrm>
          <a:prstGeom prst="rect">
            <a:avLst/>
          </a:prstGeom>
          <a:solidFill>
            <a:srgbClr val="F1F2F1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体制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33748" y="5232400"/>
            <a:ext cx="1069658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60748" y="5626100"/>
            <a:ext cx="279400" cy="279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90948" y="5232400"/>
            <a:ext cx="587058" cy="1066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問題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4206" y="5232400"/>
            <a:ext cx="349046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要員が1名不足。来週までに補充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49472" y="1739900"/>
            <a:ext cx="4826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決定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9872" y="1498600"/>
            <a:ext cx="4350327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SaaS 型を採用する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49472" y="2260600"/>
            <a:ext cx="5010727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49472" y="2527300"/>
            <a:ext cx="482600" cy="254000"/>
          </a:xfrm>
          <a:prstGeom prst="round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宿題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9872" y="2286000"/>
            <a:ext cx="2191327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見積りを再取得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9" y="2286000"/>
            <a:ext cx="2159000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担当：高橋 / 期限：10/31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49472" y="3048000"/>
            <a:ext cx="5010727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749472" y="3314700"/>
            <a:ext cx="482600" cy="254000"/>
          </a:xfrm>
          <a:prstGeom prst="round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9872" y="3073400"/>
            <a:ext cx="2191327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データ移行の範囲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199" y="3073400"/>
            <a:ext cx="2159000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担当：鈴木 / 期限：11/7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49472" y="3835400"/>
            <a:ext cx="5010727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749472" y="3987800"/>
            <a:ext cx="1651000" cy="7366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10:00-10:10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2872" y="3987800"/>
            <a:ext cx="1302327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前回の振り返り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5199" y="3987800"/>
            <a:ext cx="1905000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PMO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00472" y="4749800"/>
            <a:ext cx="3359727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749472" y="4775200"/>
            <a:ext cx="1651000" cy="7366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10:10-10:40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52872" y="4775200"/>
            <a:ext cx="1302327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要件の確認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5199" y="4775200"/>
            <a:ext cx="1905000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業務チーム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00472" y="5537200"/>
            <a:ext cx="3359727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49472" y="5562600"/>
            <a:ext cx="1651000" cy="7366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10:40-11:00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52872" y="5562600"/>
            <a:ext cx="1302327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今後の進め方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5199" y="5562600"/>
            <a:ext cx="1905000" cy="736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PM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00472" y="6324600"/>
            <a:ext cx="3359727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部品カタログ：会議・報告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会議・報告部品②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weekly_report / notice_box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397000" cy="508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全体状況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498600"/>
            <a:ext cx="9931400" cy="5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81200" y="1612900"/>
            <a:ext cx="279400" cy="279400"/>
          </a:xfrm>
          <a:prstGeom prst="ellipse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2200" y="1498600"/>
            <a:ext cx="675640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注意</a:t>
            </a: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　テストの遅れを来週中に回復する見込み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8600" y="1498600"/>
            <a:ext cx="254000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2026/10/13〜10/17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" y="2159000"/>
            <a:ext cx="367453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今週の実績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" y="2540000"/>
            <a:ext cx="3674533" cy="1803399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結合テストを70%完了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移行リハーサル実施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8733" y="2159000"/>
            <a:ext cx="3674533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来週の予定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8733" y="2540000"/>
            <a:ext cx="3674533" cy="1803399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結合テスト完了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ユーザー教育の準備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5666" y="2159000"/>
            <a:ext cx="3674533" cy="381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課題・リスク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5666" y="2540000"/>
            <a:ext cx="3674533" cy="1803399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不具合の修正に時間がかかっている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" y="4521200"/>
            <a:ext cx="55626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800" y="4521200"/>
            <a:ext cx="76200" cy="1778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0400" y="4673600"/>
            <a:ext cx="355600" cy="355600"/>
          </a:xfrm>
          <a:prstGeom prst="ellips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48200"/>
            <a:ext cx="4724400" cy="381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お知らせ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80000"/>
            <a:ext cx="4724400" cy="1117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11月から新しい申請画面に切り替わります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7600" y="4521200"/>
            <a:ext cx="55626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7600" y="4521200"/>
            <a:ext cx="76200" cy="177800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6" name="icon:warning"/>
          <p:cNvGrpSpPr/>
          <p:nvPr/>
        </p:nvGrpSpPr>
        <p:grpSpPr>
          <a:xfrm>
            <a:off x="6426200" y="4687824"/>
            <a:ext cx="355600" cy="320040"/>
            <a:chOff x="6426200" y="4687824"/>
            <a:chExt cx="355600" cy="320040"/>
          </a:xfrm>
        </p:grpSpPr>
        <p:sp>
          <p:nvSpPr>
            <p:cNvPr id="27" name="Isosceles Triangle 26"/>
            <p:cNvSpPr/>
            <p:nvPr/>
          </p:nvSpPr>
          <p:spPr>
            <a:xfrm>
              <a:off x="6426200" y="4687824"/>
              <a:ext cx="355600" cy="320040"/>
            </a:xfrm>
            <a:prstGeom prst="triangle">
              <a:avLst/>
            </a:prstGeom>
            <a:solidFill>
              <a:srgbClr val="E0A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eco:icon"/>
            <p:cNvSpPr txBox="1"/>
            <p:nvPr/>
          </p:nvSpPr>
          <p:spPr>
            <a:xfrm>
              <a:off x="6532880" y="4780280"/>
              <a:ext cx="142240" cy="213360"/>
            </a:xfrm>
            <a:prstGeom prst="rect">
              <a:avLst/>
            </a:prstGeom>
            <a:noFill/>
          </p:spPr>
          <p:txBody>
            <a:bodyPr wrap="square" lIns="38100" rIns="38100" tIns="25400" bIns="25400" anchor="ctr">
              <a:noAutofit/>
            </a:bodyPr>
            <a:lstStyle/>
            <a:p>
              <a:pPr algn="ctr"/>
              <a:r>
                <a:rPr sz="1260" b="1">
                  <a:solidFill>
                    <a:srgbClr val="FFFFFF"/>
                  </a:solidFill>
                  <a:latin typeface="Meiryo UI"/>
                  <a:ea typeface="Meiryo UI"/>
                  <a:cs typeface="Meiryo UI"/>
                </a:rPr>
                <a:t>!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908800" y="4648200"/>
            <a:ext cx="4724400" cy="381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注意事項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8800" y="5080000"/>
            <a:ext cx="4724400" cy="1117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旧画面からの申請は10月末で終了します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部品カタログ：会議・報告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会議・報告部品③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meeting_bodies / revision_history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11328398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45405"/>
                <a:gridCol w="1416050"/>
                <a:gridCol w="3146777"/>
                <a:gridCol w="4720166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会議体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頻度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参加者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目的・議題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ステアリングコミッティ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月1回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役員、PM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重要事項の意思決定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定例会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週1回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PM、各チームリーダー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進捗と課題の共有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分科会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随時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個別テーマの検討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1800" y="4000500"/>
          <a:ext cx="11328397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49629"/>
                <a:gridCol w="1699259"/>
                <a:gridCol w="7080250"/>
                <a:gridCol w="1699259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日付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変更内容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1.0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2026/10/01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初版作成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佐藤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1.1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2026/10/15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スケジュールを更新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鈴木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1.2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2026/10/20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体制図を追加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部品カタログ：リスク・課題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リスク・課題部品①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risk_matrix（影響度×発生可能性）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863600" y="1498600"/>
            <a:ext cx="1456266" cy="1456266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45266" y="1498600"/>
            <a:ext cx="1456266" cy="1456266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26933" y="1498600"/>
            <a:ext cx="1456266" cy="1456266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3600" y="2980266"/>
            <a:ext cx="1456266" cy="1456266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45266" y="2980266"/>
            <a:ext cx="1456266" cy="1456266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26933" y="2980266"/>
            <a:ext cx="1456266" cy="1456266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3600" y="4461933"/>
            <a:ext cx="1456266" cy="1456266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5266" y="4461933"/>
            <a:ext cx="1456266" cy="1456266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26933" y="4461933"/>
            <a:ext cx="1456266" cy="1456266"/>
          </a:xfrm>
          <a:prstGeom prst="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arrow"/>
          <p:cNvCxnSpPr/>
          <p:nvPr/>
        </p:nvCxnSpPr>
        <p:spPr>
          <a:xfrm flipV="1">
            <a:off x="787400" y="1498600"/>
            <a:ext cx="0" cy="4419600"/>
          </a:xfrm>
          <a:prstGeom prst="line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>
            <a:off x="863600" y="5994400"/>
            <a:ext cx="4419600" cy="0"/>
          </a:xfrm>
          <a:prstGeom prst="line">
            <a:avLst/>
          </a:prstGeom>
          <a:ln w="1905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800" y="1498600"/>
            <a:ext cx="304800" cy="4419600"/>
          </a:xfrm>
          <a:prstGeom prst="rect">
            <a:avLst/>
          </a:prstGeom>
          <a:noFill/>
        </p:spPr>
        <p:txBody>
          <a:bodyPr wrap="square" lIns="38100" rIns="38100" tIns="25400" bIns="25400" anchor="ctr" vert="eaVert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影響度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6045200"/>
            <a:ext cx="4419600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発生可能性</a:t>
            </a:r>
          </a:p>
        </p:txBody>
      </p:sp>
      <p:sp>
        <p:nvSpPr>
          <p:cNvPr id="21" name="Oval 20"/>
          <p:cNvSpPr/>
          <p:nvPr/>
        </p:nvSpPr>
        <p:spPr>
          <a:xfrm>
            <a:off x="2446866" y="1600200"/>
            <a:ext cx="304800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3928533" y="1600200"/>
            <a:ext cx="304800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3928533" y="3081866"/>
            <a:ext cx="304800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965200" y="1600200"/>
            <a:ext cx="304800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2446866" y="4563533"/>
            <a:ext cx="304800" cy="304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5664200" y="1780539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5200" y="1498600"/>
            <a:ext cx="5080000" cy="843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要員の不足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793239"/>
            <a:ext cx="342900" cy="25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高</a:t>
            </a:r>
          </a:p>
        </p:txBody>
      </p:sp>
      <p:sp>
        <p:nvSpPr>
          <p:cNvPr id="29" name="Oval 28"/>
          <p:cNvSpPr/>
          <p:nvPr/>
        </p:nvSpPr>
        <p:spPr>
          <a:xfrm>
            <a:off x="5664200" y="2674620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45200" y="2392680"/>
            <a:ext cx="5080000" cy="843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ベンダーの納期遅延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201400" y="2687320"/>
            <a:ext cx="342900" cy="25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高</a:t>
            </a:r>
          </a:p>
        </p:txBody>
      </p:sp>
      <p:sp>
        <p:nvSpPr>
          <p:cNvPr id="32" name="Oval 31"/>
          <p:cNvSpPr/>
          <p:nvPr/>
        </p:nvSpPr>
        <p:spPr>
          <a:xfrm>
            <a:off x="5664200" y="3568700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5200" y="3286760"/>
            <a:ext cx="5080000" cy="843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仕様変更の多発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01400" y="3581400"/>
            <a:ext cx="342900" cy="25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高</a:t>
            </a:r>
          </a:p>
        </p:txBody>
      </p:sp>
      <p:sp>
        <p:nvSpPr>
          <p:cNvPr id="35" name="Oval 34"/>
          <p:cNvSpPr/>
          <p:nvPr/>
        </p:nvSpPr>
        <p:spPr>
          <a:xfrm>
            <a:off x="5664200" y="4462780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5200" y="4180840"/>
            <a:ext cx="5080000" cy="843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データ移行の失敗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01400" y="4475480"/>
            <a:ext cx="342900" cy="254000"/>
          </a:xfrm>
          <a:prstGeom prst="round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中</a:t>
            </a:r>
          </a:p>
        </p:txBody>
      </p:sp>
      <p:sp>
        <p:nvSpPr>
          <p:cNvPr id="38" name="Oval 37"/>
          <p:cNvSpPr/>
          <p:nvPr/>
        </p:nvSpPr>
        <p:spPr>
          <a:xfrm>
            <a:off x="5664200" y="5356860"/>
            <a:ext cx="279400" cy="279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5200" y="5074920"/>
            <a:ext cx="5080000" cy="843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利用者の反発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201400" y="5369560"/>
            <a:ext cx="342900" cy="254000"/>
          </a:xfrm>
          <a:prstGeom prst="round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低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部品カタログ：リスク・課題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リスク・課題部品②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risk_table / issue_tracker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49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11328400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15310"/>
                <a:gridCol w="1132840"/>
                <a:gridCol w="1416050"/>
                <a:gridCol w="4248150"/>
                <a:gridCol w="1416050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リスク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影響度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発生可能性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対策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ベンダーの納期遅延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週次で進捗を確認する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PMO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仕様変更の多発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変更管理の手続きを定める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PM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利用者の反発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E7F7E"/>
                          </a:solidFill>
                          <a:latin typeface="Meiryo UI"/>
                          <a:ea typeface="Meiryo UI"/>
                          <a:cs typeface="Meiryo UI"/>
                        </a:rPr>
                        <a:t>低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早期に説明会を開く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業務チーム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1800" y="4000500"/>
          <a:ext cx="11328397" cy="1231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90353"/>
                <a:gridCol w="5269023"/>
                <a:gridCol w="1185530"/>
                <a:gridCol w="1448981"/>
                <a:gridCol w="1317255"/>
                <a:gridCol w="1317255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No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優先度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期限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状況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帳票レイアウトの確定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鈴木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10/24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進行中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権限設計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10/31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未着手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テストデータの準備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田中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10/20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遅延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部品カタログ：費用・効果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費用・効果部品①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cost_table（小計・合計） / roi_chart（投資回収）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50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3600" y="1498600"/>
            <a:ext cx="254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（単位：万円）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1800" y="1752600"/>
          <a:ext cx="5511800" cy="215582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55900"/>
                <a:gridCol w="1377950"/>
                <a:gridCol w="1377950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費目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2026年度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2027年度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ライセンス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300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300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構築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1,200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小計：初期・運用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1,500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500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教育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保守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150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1,600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700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48400" y="1498600"/>
            <a:ext cx="55118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投資と効果の累計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8200" y="1778000"/>
            <a:ext cx="2032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（単位：万円）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48400" y="2006600"/>
          <a:ext cx="55118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324600" y="1524000"/>
            <a:ext cx="1361439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投資回収：4年目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部品カタログ：費用・効果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費用・効果部品②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budget_actual_table（予実対比） / effect_breakdown（定量・定性効果）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200" y="1498600"/>
            <a:ext cx="254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（単位：万円）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1800" y="1752600"/>
          <a:ext cx="11328397" cy="153987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776133"/>
                <a:gridCol w="1888066"/>
                <a:gridCol w="1888066"/>
                <a:gridCol w="1888066"/>
                <a:gridCol w="1888066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計画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実績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差異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達成率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人件費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1,200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1,150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-50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96%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外注費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800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920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+120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115%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システム費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500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480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-20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96%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2,500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2,550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+50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102%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1800" y="3840125"/>
            <a:ext cx="5800876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定量効果（万円/年）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" y="4221125"/>
            <a:ext cx="5800876" cy="2078074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200" y="4348125"/>
            <a:ext cx="4099076" cy="41329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集計作業の削減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276" y="4348125"/>
            <a:ext cx="1397000" cy="41329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4200" y="4774117"/>
            <a:ext cx="5496076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4200" y="4786817"/>
            <a:ext cx="4099076" cy="41329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転記ミス対応の削減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3276" y="4786817"/>
            <a:ext cx="1397000" cy="41329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200" y="5212808"/>
            <a:ext cx="5496076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4200" y="5225508"/>
            <a:ext cx="4099076" cy="41329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紙・郵送費の削減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3276" y="5225508"/>
            <a:ext cx="1397000" cy="41329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60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4200" y="5651500"/>
            <a:ext cx="5496076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4200" y="5689600"/>
            <a:ext cx="5496076" cy="0"/>
          </a:xfrm>
          <a:prstGeom prst="line">
            <a:avLst/>
          </a:prstGeom>
          <a:ln w="19050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4200" y="5740400"/>
            <a:ext cx="3514876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合計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0676" y="5740400"/>
            <a:ext cx="18796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8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660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6676" y="3840125"/>
            <a:ext cx="5273523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定性効果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6676" y="4221125"/>
            <a:ext cx="5273523" cy="2078074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意思決定が早くなる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担当者の残業が減る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データの信頼性が上がる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部品カタログ：要件・仕様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要件・仕様部品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requirements_table（MoSCoW） / grouped_table（1列目を結合）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11328399" cy="14605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32840"/>
                <a:gridCol w="1699259"/>
                <a:gridCol w="7080250"/>
                <a:gridCol w="1416050"/>
              </a:tblGrid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ID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要件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優先度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F-01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申請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Webから申請できる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Must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F-02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申請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下書きを保存できる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Should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F-03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通知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スマホに通知できる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Could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F-04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連携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旧システムとの連携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Won't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1800" y="3891038"/>
          <a:ext cx="11328398" cy="18478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97851"/>
                <a:gridCol w="2936992"/>
                <a:gridCol w="6293555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分類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機能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概要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申請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申請入力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画面から入力する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添付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ファイルを添付する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審査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審査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担当者が内容を確認する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差戻し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修正を依頼する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通知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結果通知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メールで通知する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部品カタログ：目標管理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目標管理部品①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kpi_tree（現状 → 目標）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3454400"/>
            <a:ext cx="2892777" cy="889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営業利益</a:t>
            </a:r>
            <a:br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10億円 → </a:t>
            </a:r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12億円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1777" y="2819400"/>
            <a:ext cx="3471333" cy="558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売上高</a:t>
            </a:r>
            <a:br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100億円 → </a:t>
            </a:r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110億円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10311" y="2019300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顧客数</a:t>
            </a:r>
            <a:br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2,000社 → </a:t>
            </a:r>
            <a:r>
              <a:rPr sz="11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2,200社</a:t>
            </a:r>
          </a:p>
        </p:txBody>
      </p:sp>
      <p:cxnSp>
        <p:nvCxnSpPr>
          <p:cNvPr id="11" name="arrow"/>
          <p:cNvCxnSpPr/>
          <p:nvPr/>
        </p:nvCxnSpPr>
        <p:spPr>
          <a:xfrm flipV="1">
            <a:off x="7253111" y="2298700"/>
            <a:ext cx="457200" cy="80010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710311" y="3619500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顧客単価</a:t>
            </a:r>
            <a:br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500万円 → </a:t>
            </a:r>
            <a:r>
              <a:rPr sz="11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500万円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7253111" y="3098800"/>
            <a:ext cx="457200" cy="80010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row"/>
          <p:cNvCxnSpPr/>
          <p:nvPr/>
        </p:nvCxnSpPr>
        <p:spPr>
          <a:xfrm flipV="1">
            <a:off x="3324577" y="3098800"/>
            <a:ext cx="457200" cy="80010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781777" y="5219700"/>
            <a:ext cx="3471333" cy="558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費用</a:t>
            </a:r>
            <a:br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90億円 → </a:t>
            </a:r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98億円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0311" y="5219700"/>
            <a:ext cx="4049888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人件費</a:t>
            </a:r>
            <a:br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40億円 → </a:t>
            </a:r>
            <a:r>
              <a:rPr sz="11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42億円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7253111" y="5499100"/>
            <a:ext cx="457200" cy="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>
            <a:off x="3324577" y="3898900"/>
            <a:ext cx="457200" cy="1600200"/>
          </a:xfrm>
          <a:prstGeom prst="bentConnector3">
            <a:avLst/>
          </a:prstGeom>
          <a:ln w="12700">
            <a:solidFill>
              <a:srgbClr val="7E7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部品カタログ：目標管理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目標管理部品②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okr / target_actual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651000" cy="812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Objective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2800" y="1498600"/>
            <a:ext cx="3860800" cy="8128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50800" bIns="50800">
            <a:noAutofit/>
          </a:bodyPr>
          <a:lstStyle/>
          <a:p>
            <a:pPr algn="l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申請業務を完全にオンライン化する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2463800"/>
            <a:ext cx="2540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3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2819400"/>
            <a:ext cx="2378710" cy="11091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KR1　オンライン申請率 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12110" y="3234266"/>
            <a:ext cx="2269490" cy="27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12110" y="3234266"/>
            <a:ext cx="1634032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819400"/>
            <a:ext cx="685800" cy="11091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4004733"/>
            <a:ext cx="2378710" cy="11091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KR2　処理日数を3日以内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12110" y="4419600"/>
            <a:ext cx="2269490" cy="27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12110" y="4419600"/>
            <a:ext cx="1248219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4004733"/>
            <a:ext cx="685800" cy="11091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" y="5190066"/>
            <a:ext cx="2378710" cy="11091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KR3　満足度 4.0 以上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2110" y="5604933"/>
            <a:ext cx="2269490" cy="279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12110" y="5604933"/>
            <a:ext cx="1815592" cy="2794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5190066"/>
            <a:ext cx="685800" cy="11091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549400"/>
            <a:ext cx="127000" cy="127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6300" y="1498600"/>
            <a:ext cx="3810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目標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74300" y="1549400"/>
            <a:ext cx="127000" cy="127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39400" y="1498600"/>
            <a:ext cx="381000" cy="228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実績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1778000"/>
            <a:ext cx="1110996" cy="14562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東日本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60996" y="2341033"/>
            <a:ext cx="2292003" cy="330200"/>
          </a:xfrm>
          <a:prstGeom prst="rect">
            <a:avLst/>
          </a:prstGeom>
          <a:solidFill>
            <a:srgbClr val="D5E2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60996" y="2407073"/>
            <a:ext cx="2521204" cy="19812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9200" y="1778000"/>
            <a:ext cx="1651000" cy="14562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132/120件　</a:t>
            </a:r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00" y="3310466"/>
            <a:ext cx="1110996" cy="14562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中日本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60996" y="3873500"/>
            <a:ext cx="1910003" cy="330200"/>
          </a:xfrm>
          <a:prstGeom prst="rect">
            <a:avLst/>
          </a:prstGeom>
          <a:solidFill>
            <a:srgbClr val="D5E2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60996" y="3939540"/>
            <a:ext cx="1680802" cy="19812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9200" y="3310466"/>
            <a:ext cx="1651000" cy="14562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88/100件　</a:t>
            </a:r>
            <a:r>
              <a:rPr sz="12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88%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400" y="4842933"/>
            <a:ext cx="1110996" cy="14562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西日本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60996" y="5405966"/>
            <a:ext cx="1528002" cy="330200"/>
          </a:xfrm>
          <a:prstGeom prst="rect">
            <a:avLst/>
          </a:prstGeom>
          <a:solidFill>
            <a:srgbClr val="D5E2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0996" y="5472006"/>
            <a:ext cx="1547102" cy="19812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9200" y="4842933"/>
            <a:ext cx="1651000" cy="145626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2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81/80件　</a:t>
            </a:r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101%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部品カタログ：顧客・利用者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顧客・利用者部品①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customer_journey（行動・接点・課題＋感情の曲線）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55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Pentagon 7"/>
          <p:cNvSpPr/>
          <p:nvPr/>
        </p:nvSpPr>
        <p:spPr>
          <a:xfrm>
            <a:off x="1651000" y="1498600"/>
            <a:ext cx="2103120" cy="406400"/>
          </a:xfrm>
          <a:prstGeom prst="homePlate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認知</a:t>
            </a:r>
          </a:p>
        </p:txBody>
      </p:sp>
      <p:sp>
        <p:nvSpPr>
          <p:cNvPr id="9" name="Chevron 8"/>
          <p:cNvSpPr/>
          <p:nvPr/>
        </p:nvSpPr>
        <p:spPr>
          <a:xfrm>
            <a:off x="3683000" y="1498600"/>
            <a:ext cx="2103120" cy="4064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2240" rIns="14224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検討</a:t>
            </a:r>
          </a:p>
        </p:txBody>
      </p:sp>
      <p:sp>
        <p:nvSpPr>
          <p:cNvPr id="10" name="Chevron 9"/>
          <p:cNvSpPr/>
          <p:nvPr/>
        </p:nvSpPr>
        <p:spPr>
          <a:xfrm>
            <a:off x="5715000" y="1498600"/>
            <a:ext cx="2103120" cy="4064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2240" rIns="14224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申込</a:t>
            </a:r>
          </a:p>
        </p:txBody>
      </p:sp>
      <p:sp>
        <p:nvSpPr>
          <p:cNvPr id="11" name="Chevron 10"/>
          <p:cNvSpPr/>
          <p:nvPr/>
        </p:nvSpPr>
        <p:spPr>
          <a:xfrm>
            <a:off x="7747000" y="1498600"/>
            <a:ext cx="2103120" cy="4064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2240" rIns="14224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利用</a:t>
            </a:r>
          </a:p>
        </p:txBody>
      </p:sp>
      <p:sp>
        <p:nvSpPr>
          <p:cNvPr id="12" name="Chevron 11"/>
          <p:cNvSpPr/>
          <p:nvPr/>
        </p:nvSpPr>
        <p:spPr>
          <a:xfrm>
            <a:off x="9779000" y="1498600"/>
            <a:ext cx="1981200" cy="4064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2240" rIns="14224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継続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" y="2006600"/>
            <a:ext cx="1143000" cy="103505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行動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51000" y="20066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広告を見る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3000" y="20066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比較サイトで調べる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20066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Webで申し込む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7000" y="20066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サービスを使う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79000" y="20066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更新する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" y="3092450"/>
            <a:ext cx="1143000" cy="103505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接点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51000" y="309245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83000" y="309245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Webサイト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09245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申込フォーム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0" y="309245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アプリ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79000" y="309245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メール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800" y="4178300"/>
            <a:ext cx="1143000" cy="103505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課題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51000" y="41783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知られていない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83000" y="41783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違いが分かりにくい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41783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入力項目が多い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7000" y="41783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使い方が難しい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79000" y="4178300"/>
            <a:ext cx="1981200" cy="103505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更新を忘れる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800" y="5264150"/>
            <a:ext cx="1143000" cy="103505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感情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51000" y="5264150"/>
            <a:ext cx="10109200" cy="103505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651000" y="5781675"/>
            <a:ext cx="10109200" cy="0"/>
          </a:xfrm>
          <a:prstGeom prst="line">
            <a:avLst/>
          </a:prstGeom>
          <a:ln w="12700">
            <a:solidFill>
              <a:srgbClr val="BEBFB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641600" y="5391150"/>
            <a:ext cx="8128000" cy="781050"/>
          </a:xfrm>
          <a:custGeom>
            <a:avLst/>
            <a:gdLst/>
            <a:ahLst/>
            <a:cxnLst/>
            <a:rect l="l" t="t" r="r" b="b"/>
            <a:pathLst>
              <a:path w="8128000" h="781050">
                <a:moveTo>
                  <a:pt x="0" y="390525"/>
                </a:moveTo>
                <a:lnTo>
                  <a:pt x="2032000" y="195262"/>
                </a:lnTo>
                <a:lnTo>
                  <a:pt x="4064000" y="781050"/>
                </a:lnTo>
                <a:lnTo>
                  <a:pt x="6096000" y="195262"/>
                </a:lnTo>
                <a:lnTo>
                  <a:pt x="8128000" y="0"/>
                </a:lnTo>
              </a:path>
            </a:pathLst>
          </a:custGeom>
          <a:noFill/>
          <a:ln w="2857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65400" y="5705475"/>
            <a:ext cx="152400" cy="152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7400" y="5510212"/>
            <a:ext cx="152400" cy="152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29400" y="60960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61400" y="5510212"/>
            <a:ext cx="152400" cy="152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3400" y="5314950"/>
            <a:ext cx="152400" cy="152400"/>
          </a:xfrm>
          <a:prstGeom prst="ellips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部品カタログ：顧客・利用者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顧客・利用者部品②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likert_chart（5段階評価） / empathy_map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1800" y="1498600"/>
          <a:ext cx="6012872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749472" y="1498600"/>
            <a:ext cx="242916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言っていること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9472" y="1879600"/>
            <a:ext cx="2429163" cy="194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月末は忙しい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31036" y="1498600"/>
            <a:ext cx="2429163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考えていること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31036" y="1879600"/>
            <a:ext cx="2429163" cy="19431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ミスが怖い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9472" y="3975100"/>
            <a:ext cx="2429163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行動していること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9472" y="4356100"/>
            <a:ext cx="2429163" cy="19431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Excelで集計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31036" y="3975100"/>
            <a:ext cx="2429163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感じていること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1036" y="4356100"/>
            <a:ext cx="2429163" cy="194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もっと楽にしたい</a:t>
            </a:r>
          </a:p>
        </p:txBody>
      </p:sp>
      <p:sp>
        <p:nvSpPr>
          <p:cNvPr id="17" name="Oval 16"/>
          <p:cNvSpPr/>
          <p:nvPr/>
        </p:nvSpPr>
        <p:spPr>
          <a:xfrm>
            <a:off x="8746836" y="3390900"/>
            <a:ext cx="1016000" cy="1016000"/>
          </a:xfrm>
          <a:prstGeom prst="ellipse">
            <a:avLst/>
          </a:prstGeom>
          <a:solidFill>
            <a:srgbClr val="D5E2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経理担当</a:t>
            </a:r>
            <a:br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40代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部品カタログ：意思決定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意思決定部品①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recommendation（推奨案と理由・次のアクション）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625600"/>
            <a:ext cx="3674533" cy="1927577"/>
          </a:xfrm>
          <a:prstGeom prst="rect">
            <a:avLst/>
          </a:prstGeom>
          <a:solidFill>
            <a:srgbClr val="D5E2FF"/>
          </a:solidFill>
          <a:ln w="285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800" y="1498600"/>
            <a:ext cx="482600" cy="25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推奨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1803400"/>
            <a:ext cx="34205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A案：SaaS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2159000"/>
            <a:ext cx="3420533" cy="1317977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短期間・低コストで導入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8733" y="1625600"/>
            <a:ext cx="3674533" cy="1927577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5733" y="1803400"/>
            <a:ext cx="34205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B案：パッケージ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5733" y="2159000"/>
            <a:ext cx="3420533" cy="1317977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カスタマイズしやすい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5666" y="1625600"/>
            <a:ext cx="3674533" cy="1927577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2666" y="1803400"/>
            <a:ext cx="34205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C案：自社開発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2666" y="2159000"/>
            <a:ext cx="3420533" cy="1317977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自由度は高いが高コスト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800" y="3730977"/>
            <a:ext cx="556260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推奨する理由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" y="4111977"/>
            <a:ext cx="5562600" cy="2187222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費用が最も低い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保守期限までに導入できる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7600" y="3730977"/>
            <a:ext cx="5562600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次のアクション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7600" y="4111977"/>
            <a:ext cx="5562600" cy="2187222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役員会で承認を得る（11月）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ベンダーと契約する（12月）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部品カタログ：意思決定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意思決定部品②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assumptions / plan_cards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556260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前提条件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1879600"/>
            <a:ext cx="5562600" cy="1457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前提1</a:t>
            </a: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　対象は本社部門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前提2</a:t>
            </a: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　既存データはすべて移行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498600"/>
            <a:ext cx="5562600" cy="381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制約事項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7600" y="1879600"/>
            <a:ext cx="5562600" cy="145796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65100" indent="-165100"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制約1</a:t>
            </a: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　予算は2,000万円以内</a:t>
            </a:r>
          </a:p>
          <a:p>
            <a:pPr algn="l" marL="165100" indent="-165100">
              <a:spcBef>
                <a:spcPts val="390"/>
              </a:spcBef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制約2</a:t>
            </a:r>
            <a:r>
              <a:rPr sz="13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　2028年3月までに稼働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" y="3667760"/>
            <a:ext cx="3657600" cy="263144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800" y="3667760"/>
            <a:ext cx="3657600" cy="431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ライト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175760"/>
            <a:ext cx="3454400" cy="558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月額 5万円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4785360"/>
            <a:ext cx="33020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8800" y="4861560"/>
            <a:ext cx="3403600" cy="1336039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利用者 50名まで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メールサポート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3667760"/>
            <a:ext cx="3657600" cy="2631440"/>
          </a:xfrm>
          <a:prstGeom prst="rect">
            <a:avLst/>
          </a:prstGeom>
          <a:solidFill>
            <a:srgbClr val="FFFFFF"/>
          </a:solidFill>
          <a:ln w="2857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200" y="3667760"/>
            <a:ext cx="3657600" cy="4318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スタンダード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35800" y="3540760"/>
            <a:ext cx="711200" cy="25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おすすめ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800" y="4175760"/>
            <a:ext cx="3454400" cy="558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月額 12万円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45000" y="4785360"/>
            <a:ext cx="33020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94200" y="4861560"/>
            <a:ext cx="3403600" cy="1336039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利用者 200名まで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電話サポート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データ連携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2600" y="3667760"/>
            <a:ext cx="3657600" cy="263144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2600" y="3667760"/>
            <a:ext cx="3657600" cy="431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エンタープライズ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4200" y="4175760"/>
            <a:ext cx="3454400" cy="558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個別見積り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80400" y="4785360"/>
            <a:ext cx="33020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0" y="4861560"/>
            <a:ext cx="3403600" cy="1336039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利用者 無制限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専任担当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部品カタログ：スケジュール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スケジュール部品③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chronology（年表）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59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1892300" y="1498600"/>
            <a:ext cx="1950720" cy="3302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2022年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8420" y="1498600"/>
            <a:ext cx="1950720" cy="3302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2023年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4540" y="1498600"/>
            <a:ext cx="1950720" cy="3302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2024年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0659" y="1498600"/>
            <a:ext cx="1950720" cy="3302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2025年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96780" y="1498600"/>
            <a:ext cx="1950720" cy="3302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2026年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" y="1892300"/>
            <a:ext cx="1397000" cy="1447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0400" y="1930400"/>
            <a:ext cx="1874520" cy="1371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DX 推進指針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2640" y="1930400"/>
            <a:ext cx="1874520" cy="1371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法改正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" y="3365500"/>
            <a:ext cx="1397000" cy="1447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9600" y="3352800"/>
            <a:ext cx="98806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06520" y="3403600"/>
            <a:ext cx="1874520" cy="1371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クラウド移行が加速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8759" y="3403600"/>
            <a:ext cx="1874520" cy="1371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 marL="139700" indent="-139700"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生成AI の普及</a:t>
            </a:r>
          </a:p>
          <a:p>
            <a:pPr algn="l" marL="139700" indent="-139700">
              <a:spcBef>
                <a:spcPts val="330"/>
              </a:spcBef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人材不足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" y="4838700"/>
            <a:ext cx="1397000" cy="1447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自社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9600" y="4826000"/>
            <a:ext cx="98806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30400" y="4876800"/>
            <a:ext cx="1874520" cy="1371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DX 推進室を設置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2640" y="4876800"/>
            <a:ext cx="1874520" cy="1371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基幹システム更改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34880" y="4876800"/>
            <a:ext cx="1874520" cy="1371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全社データ基盤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55720" y="1879600"/>
            <a:ext cx="0" cy="44196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31840" y="1879600"/>
            <a:ext cx="0" cy="44196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07959" y="1879600"/>
            <a:ext cx="0" cy="44196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84080" y="1879600"/>
            <a:ext cx="0" cy="4419600"/>
          </a:xfrm>
          <a:prstGeom prst="line">
            <a:avLst/>
          </a:prstGeom>
          <a:ln w="6350">
            <a:solidFill>
              <a:srgbClr val="D8D9D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部品カタログ：フレームワーク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フレームワーク部品①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framework_grid（3c / pest / kpt / 4p / 4c）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60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1984881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Customer：市場・顧客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1879600"/>
            <a:ext cx="1984881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高齢化が進む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9081" y="1498600"/>
            <a:ext cx="1984881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Competitor：競合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9081" y="1879600"/>
            <a:ext cx="1984881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大手が参入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6362" y="1498600"/>
            <a:ext cx="1984881" cy="381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Company：自社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6362" y="1879600"/>
            <a:ext cx="1984881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地域の顧客基盤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5243" y="1498600"/>
            <a:ext cx="2331278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Politics：政治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5243" y="18796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規制緩和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28921" y="1498600"/>
            <a:ext cx="2331278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Economy：経済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28921" y="18796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景気回復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5243" y="2730500"/>
            <a:ext cx="2331278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Society：社会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5243" y="31115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人口減少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28921" y="2730500"/>
            <a:ext cx="2331278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Technology：技術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28921" y="31115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AIの普及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800" y="3987800"/>
            <a:ext cx="1984881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Keep：続けること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800" y="4368800"/>
            <a:ext cx="1984881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朝会の継続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9081" y="3987800"/>
            <a:ext cx="1984881" cy="3810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Problem：問題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9081" y="4368800"/>
            <a:ext cx="1984881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レビュー待ちが長い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6362" y="3987800"/>
            <a:ext cx="1984881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Try：次に試すこと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6362" y="4368800"/>
            <a:ext cx="1984881" cy="193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レビュー担当を2名に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5243" y="3987800"/>
            <a:ext cx="2331278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Product：製品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5243" y="43688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高品質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28921" y="3987800"/>
            <a:ext cx="2331278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Price：価格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28921" y="43688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中価格帯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5243" y="5219700"/>
            <a:ext cx="2331278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Place：流通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5243" y="56007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Web直販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28921" y="5219700"/>
            <a:ext cx="2331278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Promotion：販促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28921" y="5600700"/>
            <a:ext cx="2331278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SNS広告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部品カタログ：フレームワーク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フレームワーク部品②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five_forces / business_model_canvas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2117034" y="1498600"/>
            <a:ext cx="1444486" cy="3302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新規参入の脅威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7034" y="1828800"/>
            <a:ext cx="1444486" cy="103797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IT企業の参入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2839278" y="2866771"/>
            <a:ext cx="0" cy="312039"/>
          </a:xfrm>
          <a:prstGeom prst="line">
            <a:avLst/>
          </a:prstGeom>
          <a:ln w="381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117034" y="4931029"/>
            <a:ext cx="1444486" cy="3302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代替品の脅威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17034" y="5261229"/>
            <a:ext cx="1444486" cy="103797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無料アプリ</a:t>
            </a:r>
          </a:p>
        </p:txBody>
      </p:sp>
      <p:cxnSp>
        <p:nvCxnSpPr>
          <p:cNvPr id="13" name="arrow"/>
          <p:cNvCxnSpPr/>
          <p:nvPr/>
        </p:nvCxnSpPr>
        <p:spPr>
          <a:xfrm flipV="1">
            <a:off x="2839278" y="4618990"/>
            <a:ext cx="0" cy="312039"/>
          </a:xfrm>
          <a:prstGeom prst="line">
            <a:avLst/>
          </a:prstGeom>
          <a:ln w="381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1800" y="3178810"/>
            <a:ext cx="1372262" cy="3302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売り手の交渉力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" y="3509010"/>
            <a:ext cx="1372262" cy="110998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部品の寡占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1804062" y="3898900"/>
            <a:ext cx="312972" cy="0"/>
          </a:xfrm>
          <a:prstGeom prst="line">
            <a:avLst/>
          </a:prstGeom>
          <a:ln w="381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74493" y="3178810"/>
            <a:ext cx="1372262" cy="330200"/>
          </a:xfrm>
          <a:prstGeom prst="rect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買い手の交渉力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4493" y="3509010"/>
            <a:ext cx="1372262" cy="110998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大口顧客が強い</a:t>
            </a:r>
          </a:p>
        </p:txBody>
      </p:sp>
      <p:cxnSp>
        <p:nvCxnSpPr>
          <p:cNvPr id="19" name="arrow"/>
          <p:cNvCxnSpPr/>
          <p:nvPr/>
        </p:nvCxnSpPr>
        <p:spPr>
          <a:xfrm flipH="1">
            <a:off x="3561521" y="3898900"/>
            <a:ext cx="312972" cy="0"/>
          </a:xfrm>
          <a:prstGeom prst="line">
            <a:avLst/>
          </a:prstGeom>
          <a:ln w="38100">
            <a:solidFill>
              <a:srgbClr val="001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17034" y="3178810"/>
            <a:ext cx="1444486" cy="330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業界内の競争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17034" y="3509010"/>
            <a:ext cx="1444486" cy="110998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価格競争が激しい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0756" y="1498600"/>
            <a:ext cx="1211248" cy="3430411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1556" y="1524000"/>
            <a:ext cx="1109648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パートナー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1556" y="1778000"/>
            <a:ext cx="1109648" cy="3100211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販売代理店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805" y="1498600"/>
            <a:ext cx="1211248" cy="1689805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3605" y="1524000"/>
            <a:ext cx="1109648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主要活動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3605" y="1778000"/>
            <a:ext cx="1109648" cy="135960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開発</a:t>
            </a:r>
          </a:p>
          <a:p>
            <a:pPr algn="l" marL="127000" indent="-127000">
              <a:spcBef>
                <a:spcPts val="300"/>
              </a:spcBef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保守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2805" y="3239205"/>
            <a:ext cx="1211248" cy="1689805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3605" y="3264605"/>
            <a:ext cx="1109648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リソース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3605" y="3518605"/>
            <a:ext cx="1109648" cy="135960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技術者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4853" y="1498600"/>
            <a:ext cx="1211248" cy="3430411"/>
          </a:xfrm>
          <a:prstGeom prst="rect">
            <a:avLst/>
          </a:prstGeom>
          <a:solidFill>
            <a:srgbClr val="D5E2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5653" y="1524000"/>
            <a:ext cx="1109648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価値提案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5653" y="1778000"/>
            <a:ext cx="1109648" cy="3100211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手間なく申請できる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6902" y="1498600"/>
            <a:ext cx="1211248" cy="1689805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7702" y="1524000"/>
            <a:ext cx="1109648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顧客との関係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7702" y="1778000"/>
            <a:ext cx="1109648" cy="135960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専任担当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6902" y="3239205"/>
            <a:ext cx="1211248" cy="1689805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7702" y="3264605"/>
            <a:ext cx="1109648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チャネル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7702" y="3518605"/>
            <a:ext cx="1109648" cy="1359605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Web</a:t>
            </a:r>
          </a:p>
          <a:p>
            <a:pPr algn="l" marL="127000" indent="-127000">
              <a:spcBef>
                <a:spcPts val="300"/>
              </a:spcBef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代理店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48951" y="1498600"/>
            <a:ext cx="1211248" cy="3430411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99751" y="1524000"/>
            <a:ext cx="1109648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顧客セグメント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99751" y="1778000"/>
            <a:ext cx="1109648" cy="3100211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中小企業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00756" y="4979811"/>
            <a:ext cx="3104321" cy="1319388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1556" y="5005211"/>
            <a:ext cx="3002721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コスト構造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1556" y="5259211"/>
            <a:ext cx="3002721" cy="9891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人件費</a:t>
            </a:r>
          </a:p>
          <a:p>
            <a:pPr algn="l" marL="127000" indent="-127000">
              <a:spcBef>
                <a:spcPts val="300"/>
              </a:spcBef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サーバ費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55878" y="4979811"/>
            <a:ext cx="3104321" cy="1319388"/>
          </a:xfrm>
          <a:prstGeom prst="rect">
            <a:avLst/>
          </a:prstGeom>
          <a:solidFill>
            <a:srgbClr val="FFFFFF"/>
          </a:solidFill>
          <a:ln w="9525">
            <a:solidFill>
              <a:srgbClr val="8EB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6678" y="5005211"/>
            <a:ext cx="3002721" cy="25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収益の流れ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6678" y="5259211"/>
            <a:ext cx="3002721" cy="989188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27000" indent="-127000"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月額利用料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部品カタログ：図解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図解部品④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pipeline（データの流れ）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  <p:grpSp>
        <p:nvGrpSpPr>
          <p:cNvPr id="8" name="icon:pc"/>
          <p:cNvGrpSpPr/>
          <p:nvPr/>
        </p:nvGrpSpPr>
        <p:grpSpPr>
          <a:xfrm>
            <a:off x="1076325" y="1583944"/>
            <a:ext cx="1066800" cy="896112"/>
            <a:chOff x="1076325" y="1583944"/>
            <a:chExt cx="1066800" cy="896112"/>
          </a:xfrm>
        </p:grpSpPr>
        <p:sp>
          <p:nvSpPr>
            <p:cNvPr id="9" name="Rectangle 8"/>
            <p:cNvSpPr/>
            <p:nvPr/>
          </p:nvSpPr>
          <p:spPr>
            <a:xfrm>
              <a:off x="1076325" y="1583944"/>
              <a:ext cx="1066800" cy="661416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51001" y="1647952"/>
              <a:ext cx="917447" cy="5120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24381" y="2245360"/>
              <a:ext cx="170688" cy="149352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332357" y="2394712"/>
              <a:ext cx="554736" cy="85344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47725" y="2603500"/>
            <a:ext cx="1524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各拠点の端末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2838450" y="2032000"/>
            <a:ext cx="533400" cy="0"/>
          </a:xfrm>
          <a:prstGeom prst="line">
            <a:avLst/>
          </a:prstGeom>
          <a:ln w="2540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60650" y="1701800"/>
            <a:ext cx="889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日次で送信</a:t>
            </a:r>
          </a:p>
        </p:txBody>
      </p:sp>
      <p:grpSp>
        <p:nvGrpSpPr>
          <p:cNvPr id="16" name="icon:server"/>
          <p:cNvGrpSpPr/>
          <p:nvPr/>
        </p:nvGrpSpPr>
        <p:grpSpPr>
          <a:xfrm>
            <a:off x="4173854" y="1498600"/>
            <a:ext cx="853440" cy="1024128"/>
            <a:chOff x="4173854" y="1498600"/>
            <a:chExt cx="853440" cy="1024128"/>
          </a:xfrm>
        </p:grpSpPr>
        <p:sp>
          <p:nvSpPr>
            <p:cNvPr id="17" name="Rounded Rectangle 16"/>
            <p:cNvSpPr/>
            <p:nvPr/>
          </p:nvSpPr>
          <p:spPr>
            <a:xfrm>
              <a:off x="4173854" y="1498600"/>
              <a:ext cx="853440" cy="298704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813935" y="1605280"/>
              <a:ext cx="85344" cy="853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173854" y="1861312"/>
              <a:ext cx="853440" cy="298704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4813935" y="1967992"/>
              <a:ext cx="85344" cy="853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173854" y="2224024"/>
              <a:ext cx="853440" cy="298704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4813935" y="2330704"/>
              <a:ext cx="85344" cy="853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838575" y="2603500"/>
            <a:ext cx="1524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収集サーバ</a:t>
            </a:r>
          </a:p>
        </p:txBody>
      </p:sp>
      <p:cxnSp>
        <p:nvCxnSpPr>
          <p:cNvPr id="24" name="arrow"/>
          <p:cNvCxnSpPr/>
          <p:nvPr/>
        </p:nvCxnSpPr>
        <p:spPr>
          <a:xfrm>
            <a:off x="5829300" y="2032000"/>
            <a:ext cx="533400" cy="0"/>
          </a:xfrm>
          <a:prstGeom prst="line">
            <a:avLst/>
          </a:prstGeom>
          <a:ln w="2540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51500" y="1701800"/>
            <a:ext cx="889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整形</a:t>
            </a:r>
          </a:p>
        </p:txBody>
      </p:sp>
      <p:grpSp>
        <p:nvGrpSpPr>
          <p:cNvPr id="26" name="icon:database"/>
          <p:cNvGrpSpPr/>
          <p:nvPr/>
        </p:nvGrpSpPr>
        <p:grpSpPr>
          <a:xfrm>
            <a:off x="7207377" y="1498600"/>
            <a:ext cx="768096" cy="1066800"/>
            <a:chOff x="7207377" y="1498600"/>
            <a:chExt cx="768096" cy="1066800"/>
          </a:xfrm>
        </p:grpSpPr>
        <p:sp>
          <p:nvSpPr>
            <p:cNvPr id="27" name="Can 26"/>
            <p:cNvSpPr/>
            <p:nvPr/>
          </p:nvSpPr>
          <p:spPr>
            <a:xfrm>
              <a:off x="7207377" y="1498600"/>
              <a:ext cx="768096" cy="1066800"/>
            </a:xfrm>
            <a:prstGeom prst="can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29425" y="2603500"/>
            <a:ext cx="1524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データ基盤</a:t>
            </a:r>
          </a:p>
        </p:txBody>
      </p:sp>
      <p:cxnSp>
        <p:nvCxnSpPr>
          <p:cNvPr id="29" name="arrow"/>
          <p:cNvCxnSpPr/>
          <p:nvPr/>
        </p:nvCxnSpPr>
        <p:spPr>
          <a:xfrm>
            <a:off x="8820150" y="2032000"/>
            <a:ext cx="533400" cy="0"/>
          </a:xfrm>
          <a:prstGeom prst="line">
            <a:avLst/>
          </a:prstGeom>
          <a:ln w="2540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42350" y="1701800"/>
            <a:ext cx="889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集計</a:t>
            </a:r>
          </a:p>
        </p:txBody>
      </p:sp>
      <p:grpSp>
        <p:nvGrpSpPr>
          <p:cNvPr id="31" name="icon:chart"/>
          <p:cNvGrpSpPr/>
          <p:nvPr/>
        </p:nvGrpSpPr>
        <p:grpSpPr>
          <a:xfrm>
            <a:off x="10112883" y="1562608"/>
            <a:ext cx="960120" cy="938783"/>
            <a:chOff x="10112883" y="1562608"/>
            <a:chExt cx="960120" cy="938783"/>
          </a:xfrm>
        </p:grpSpPr>
        <p:cxnSp>
          <p:nvCxnSpPr>
            <p:cNvPr id="32" name="Connector 31"/>
            <p:cNvCxnSpPr/>
            <p:nvPr/>
          </p:nvCxnSpPr>
          <p:spPr>
            <a:xfrm>
              <a:off x="10112883" y="1562608"/>
              <a:ext cx="0" cy="938783"/>
            </a:xfrm>
            <a:prstGeom prst="line">
              <a:avLst/>
            </a:prstGeom>
            <a:ln w="53340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10112883" y="2501391"/>
              <a:ext cx="960120" cy="0"/>
            </a:xfrm>
            <a:prstGeom prst="line">
              <a:avLst/>
            </a:prstGeom>
            <a:ln w="53340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10240899" y="2085339"/>
              <a:ext cx="192024" cy="373380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528935" y="1871980"/>
              <a:ext cx="192024" cy="586740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816971" y="1605280"/>
              <a:ext cx="192024" cy="853440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820275" y="2603500"/>
            <a:ext cx="1524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ダッシュボード</a:t>
            </a:r>
          </a:p>
        </p:txBody>
      </p:sp>
      <p:grpSp>
        <p:nvGrpSpPr>
          <p:cNvPr id="38" name="icon:phone"/>
          <p:cNvGrpSpPr/>
          <p:nvPr/>
        </p:nvGrpSpPr>
        <p:grpSpPr>
          <a:xfrm>
            <a:off x="1852168" y="4025900"/>
            <a:ext cx="512064" cy="1066800"/>
            <a:chOff x="1852168" y="4025900"/>
            <a:chExt cx="512064" cy="1066800"/>
          </a:xfrm>
        </p:grpSpPr>
        <p:sp>
          <p:nvSpPr>
            <p:cNvPr id="39" name="Rounded Rectangle 38"/>
            <p:cNvSpPr/>
            <p:nvPr/>
          </p:nvSpPr>
          <p:spPr>
            <a:xfrm>
              <a:off x="1852168" y="4025900"/>
              <a:ext cx="512064" cy="1066800"/>
            </a:xfrm>
            <a:prstGeom prst="round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905508" y="4132579"/>
              <a:ext cx="405384" cy="746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2054860" y="4932680"/>
              <a:ext cx="106680" cy="1066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346200" y="5130800"/>
            <a:ext cx="1524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住民のスマホ</a:t>
            </a:r>
          </a:p>
        </p:txBody>
      </p:sp>
      <p:cxnSp>
        <p:nvCxnSpPr>
          <p:cNvPr id="43" name="arrow"/>
          <p:cNvCxnSpPr/>
          <p:nvPr/>
        </p:nvCxnSpPr>
        <p:spPr>
          <a:xfrm>
            <a:off x="3835400" y="4559300"/>
            <a:ext cx="533400" cy="0"/>
          </a:xfrm>
          <a:prstGeom prst="line">
            <a:avLst/>
          </a:prstGeom>
          <a:ln w="2540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57600" y="4229100"/>
            <a:ext cx="889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申請</a:t>
            </a:r>
          </a:p>
        </p:txBody>
      </p:sp>
      <p:grpSp>
        <p:nvGrpSpPr>
          <p:cNvPr id="45" name="icon:cloud"/>
          <p:cNvGrpSpPr/>
          <p:nvPr/>
        </p:nvGrpSpPr>
        <p:grpSpPr>
          <a:xfrm>
            <a:off x="5562600" y="4196588"/>
            <a:ext cx="1066800" cy="725424"/>
            <a:chOff x="5562600" y="4196588"/>
            <a:chExt cx="1066800" cy="725424"/>
          </a:xfrm>
        </p:grpSpPr>
        <p:sp>
          <p:nvSpPr>
            <p:cNvPr id="46" name="Cloud 45"/>
            <p:cNvSpPr/>
            <p:nvPr/>
          </p:nvSpPr>
          <p:spPr>
            <a:xfrm>
              <a:off x="5562600" y="4196588"/>
              <a:ext cx="1066800" cy="725424"/>
            </a:xfrm>
            <a:prstGeom prst="cloud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5334000" y="5130800"/>
            <a:ext cx="1524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クラウド</a:t>
            </a:r>
          </a:p>
        </p:txBody>
      </p:sp>
      <p:cxnSp>
        <p:nvCxnSpPr>
          <p:cNvPr id="48" name="arrow"/>
          <p:cNvCxnSpPr/>
          <p:nvPr/>
        </p:nvCxnSpPr>
        <p:spPr>
          <a:xfrm>
            <a:off x="7823200" y="4559300"/>
            <a:ext cx="533400" cy="0"/>
          </a:xfrm>
          <a:prstGeom prst="line">
            <a:avLst/>
          </a:prstGeom>
          <a:ln w="25400">
            <a:solidFill>
              <a:srgbClr val="276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45400" y="4229100"/>
            <a:ext cx="889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連携</a:t>
            </a:r>
          </a:p>
        </p:txBody>
      </p:sp>
      <p:grpSp>
        <p:nvGrpSpPr>
          <p:cNvPr id="50" name="icon:building"/>
          <p:cNvGrpSpPr/>
          <p:nvPr/>
        </p:nvGrpSpPr>
        <p:grpSpPr>
          <a:xfrm>
            <a:off x="9721088" y="4068572"/>
            <a:ext cx="725424" cy="1002792"/>
            <a:chOff x="9721088" y="4068572"/>
            <a:chExt cx="725424" cy="1002792"/>
          </a:xfrm>
        </p:grpSpPr>
        <p:sp>
          <p:nvSpPr>
            <p:cNvPr id="51" name="Rectangle 50"/>
            <p:cNvSpPr/>
            <p:nvPr/>
          </p:nvSpPr>
          <p:spPr>
            <a:xfrm>
              <a:off x="9721088" y="4068572"/>
              <a:ext cx="725424" cy="1002791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817100" y="417525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009124" y="417525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201148" y="417525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817100" y="438861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009124" y="438861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0201148" y="438861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9817100" y="460197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0009124" y="460197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0201148" y="4601972"/>
              <a:ext cx="128016" cy="128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998456" y="4836668"/>
              <a:ext cx="170688" cy="2346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9321800" y="5130800"/>
            <a:ext cx="1524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市役所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and"/>
          <p:cNvSpPr/>
          <p:nvPr/>
        </p:nvSpPr>
        <p:spPr>
          <a:xfrm>
            <a:off x="0" y="1905000"/>
            <a:ext cx="12192000" cy="2159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cover_title"/>
          <p:cNvSpPr txBox="1"/>
          <p:nvPr/>
        </p:nvSpPr>
        <p:spPr>
          <a:xfrm>
            <a:off x="635000" y="2095500"/>
            <a:ext cx="10922000" cy="1270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令和8年度 業務システム刷新に向けた</a:t>
            </a:r>
            <a:br/>
            <a:r>
              <a:rPr sz="2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現状調査および方針検討</a:t>
            </a:r>
          </a:p>
        </p:txBody>
      </p:sp>
      <p:sp>
        <p:nvSpPr>
          <p:cNvPr id="4" name="chrome:subtitle"/>
          <p:cNvSpPr txBox="1"/>
          <p:nvPr/>
        </p:nvSpPr>
        <p:spPr>
          <a:xfrm>
            <a:off x="635000" y="3429000"/>
            <a:ext cx="10922000" cy="457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80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検討報告書</a:t>
            </a:r>
          </a:p>
        </p:txBody>
      </p:sp>
      <p:sp>
        <p:nvSpPr>
          <p:cNvPr id="5" name="chrome:meta"/>
          <p:cNvSpPr txBox="1"/>
          <p:nvPr/>
        </p:nvSpPr>
        <p:spPr>
          <a:xfrm>
            <a:off x="635000" y="5080000"/>
            <a:ext cx="7620000" cy="762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2026年10月20日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情報システム部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panel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section_title"/>
          <p:cNvSpPr txBox="1"/>
          <p:nvPr/>
        </p:nvSpPr>
        <p:spPr>
          <a:xfrm>
            <a:off x="457200" y="2286000"/>
            <a:ext cx="3810000" cy="2032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 現状分析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0" y="1905000"/>
            <a:ext cx="6350000" cy="5757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8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2.1 課題と対応方針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07000" y="2506133"/>
            <a:ext cx="63500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07000" y="2531533"/>
            <a:ext cx="6350000" cy="5757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8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2.2 定量分析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07000" y="3132666"/>
            <a:ext cx="63500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07000" y="3158066"/>
            <a:ext cx="6350000" cy="575733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8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2.3 ヒアリング結果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7000" y="3759200"/>
            <a:ext cx="63500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63</a:t>
            </a:r>
          </a:p>
        </p:txBody>
      </p:sp>
      <p:sp>
        <p:nvSpPr>
          <p:cNvPr id="11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部品カタログ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eiryo UI"/>
        <a:ea typeface="Meiryo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 UI"/>
        <a:ea typeface="Meiryo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